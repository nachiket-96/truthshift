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audience" id="{2e4bad75-a525-145a-61e0-40525e7928bf}">
          <p14:sldIdLst>
            <p14:sldId id="256"/>
            <p14:sldId id="257"/>
            <p14:sldId id="258"/>
          </p14:sldIdLst>
        </p14:section>
        <p14:section name="Solution" id="{f726f4c8-7860-38d5-d08a-2b3a2474ed9b}">
          <p14:sldIdLst>
            <p14:sldId id="259"/>
            <p14:sldId id="260"/>
            <p14:sldId id="261"/>
            <p14:sldId id="262"/>
          </p14:sldIdLst>
        </p14:section>
        <p14:section name="Demo" id="{84d79c63-d721-4044-39d2-34d26c078129}">
          <p14:sldIdLst>
            <p14:sldId id="263"/>
          </p14:sldIdLst>
        </p14:section>
        <p14:section name="How it is built" id="{dd4b05f9-e396-625c-1fb5-f2578a27017c}">
          <p14:sldIdLst>
            <p14:sldId id="264"/>
            <p14:sldId id="265"/>
            <p14:sldId id="266"/>
          </p14:sldIdLst>
        </p14:section>
        <p14:section name="Next steps" id="{7101c3ff-4764-a6fc-c80d-7ce7e0cc02ca}">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302A"/>
                </a:solidFill>
                <a:latin typeface="+mn-lt"/>
              </a:defRPr>
            </a:pPr>
            <a:r>
              <a:rPr sz="1200" b="0" i="0" u="none" strike="noStrike">
                <a:solidFill>
                  <a:srgbClr val="14302A"/>
                </a:solidFill>
                <a:latin typeface="+mn-lt"/>
              </a:rPr>
              <a:t>Share of products with a known fact (%)</a:t>
            </a:r>
          </a:p>
        </c:rich>
      </c:tx>
      <c:layout/>
      <c:overlay val="0"/>
    </c:title>
    <c:autoTitleDeleted val="0"/>
    <c:plotArea>
      <c:layout/>
      <c:barChart>
        <c:barDir val="bar"/>
        <c:grouping val="clustered"/>
        <c:varyColors val="0"/>
        <c:ser>
          <c:idx val="0"/>
          <c:order val="0"/>
          <c:tx>
            <c:strRef>
              <c:f>Sheet1!$B$1</c:f>
              <c:strCache>
                <c:ptCount val="1"/>
                <c:pt idx="0">
                  <c:v>Demo products</c:v>
                </c:pt>
              </c:strCache>
            </c:strRef>
          </c:tx>
          <c:spPr>
            <a:solidFill>
              <a:srgbClr val="C9D0CC"/>
            </a:solidFill>
            <a:effectLst/>
          </c:spPr>
          <c:invertIfNegative val="0"/>
          <c:dLbls>
            <c:numFmt formatCode="0&quot;%&quot;" sourceLinked="0"/>
            <c:txPr>
              <a:bodyPr/>
              <a:lstStyle/>
              <a:p>
                <a:pPr>
                  <a:defRPr b="0" i="0" strike="noStrike" sz="10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Buy Canadian</c:v>
                  </c:pt>
                  <c:pt idx="1">
                    <c:v>Fair trade</c:v>
                  </c:pt>
                  <c:pt idx="2">
                    <c:v>Animal welfare</c:v>
                  </c:pt>
                  <c:pt idx="3">
                    <c:v>Environment</c:v>
                  </c:pt>
                  <c:pt idx="4">
                    <c:v>Packaging</c:v>
                  </c:pt>
                </c:lvl>
              </c:multiLvlStrCache>
            </c:multiLvlStrRef>
          </c:cat>
          <c:val>
            <c:numRef>
              <c:f>Sheet1!$B$2:$B$6</c:f>
              <c:numCache>
                <c:formatCode>General</c:formatCode>
                <c:ptCount val="5"/>
                <c:pt idx="0">
                  <c:v>89</c:v>
                </c:pt>
                <c:pt idx="1">
                  <c:v>50</c:v>
                </c:pt>
                <c:pt idx="2">
                  <c:v>73</c:v>
                </c:pt>
                <c:pt idx="3">
                  <c:v>65</c:v>
                </c:pt>
                <c:pt idx="4">
                  <c:v>100</c:v>
                </c:pt>
              </c:numCache>
            </c:numRef>
          </c:val>
        </c:ser>
        <c:ser>
          <c:idx val="1"/>
          <c:order val="1"/>
          <c:tx>
            <c:strRef>
              <c:f>Sheet1!$C$1</c:f>
              <c:strCache>
                <c:ptCount val="1"/>
                <c:pt idx="0">
                  <c:v>Real products (Open Food Facts)</c:v>
                </c:pt>
              </c:strCache>
            </c:strRef>
          </c:tx>
          <c:spPr>
            <a:solidFill>
              <a:srgbClr val="1F7A4D"/>
            </a:solidFill>
            <a:effectLst/>
          </c:spPr>
          <c:invertIfNegative val="0"/>
          <c:dLbls>
            <c:numFmt formatCode="0&quot;%&quot;" sourceLinked="0"/>
            <c:txPr>
              <a:bodyPr/>
              <a:lstStyle/>
              <a:p>
                <a:pPr>
                  <a:defRPr b="0" i="0" strike="noStrike" sz="1000" u="none">
                    <a:solidFill>
                      <a:srgbClr val="14302A"/>
                    </a:solidFill>
                    <a:latin typeface="+mn-lt"/>
                  </a:defRPr>
                </a:pPr>
              </a:p>
            </c:txPr>
            <c:showLegendKey val="0"/>
            <c:showVal val="1"/>
            <c:showCatName val="0"/>
            <c:showSerName val="0"/>
            <c:showPercent val="0"/>
            <c:showBubbleSize val="0"/>
            <c:showLeaderLines val="0"/>
          </c:dLbls>
          <c:cat>
            <c:multiLvlStrRef>
              <c:f>Sheet1!$A$2:$A$6</c:f>
              <c:multiLvlStrCache>
                <c:ptCount val="5"/>
                <c:lvl>
                  <c:pt idx="0">
                    <c:v>Buy Canadian</c:v>
                  </c:pt>
                  <c:pt idx="1">
                    <c:v>Fair trade</c:v>
                  </c:pt>
                  <c:pt idx="2">
                    <c:v>Animal welfare</c:v>
                  </c:pt>
                  <c:pt idx="3">
                    <c:v>Environment</c:v>
                  </c:pt>
                  <c:pt idx="4">
                    <c:v>Packaging</c:v>
                  </c:pt>
                </c:lvl>
              </c:multiLvlStrCache>
            </c:multiLvlStrRef>
          </c:cat>
          <c:val>
            <c:numRef>
              <c:f>Sheet1!$C$2:$C$6</c:f>
              <c:numCache>
                <c:formatCode>General</c:formatCode>
                <c:ptCount val="5"/>
                <c:pt idx="0">
                  <c:v>6</c:v>
                </c:pt>
                <c:pt idx="1">
                  <c:v>0</c:v>
                </c:pt>
                <c:pt idx="2">
                  <c:v>8</c:v>
                </c:pt>
                <c:pt idx="3">
                  <c:v>85</c:v>
                </c:pt>
                <c:pt idx="4">
                  <c:v>3</c:v>
                </c:pt>
              </c:numCache>
            </c:numRef>
          </c:val>
        </c:ser>
        <c:dLbls>
          <c:numFmt formatCode="0&quot;%&quot;" sourceLinked="0"/>
          <c:txPr>
            <a:bodyPr/>
            <a:lstStyle/>
            <a:p>
              <a:pPr>
                <a:defRPr b="0" i="0" strike="noStrike" sz="1000" u="none">
                  <a:solidFill>
                    <a:srgbClr val="1430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A52"/>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A5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 Our project is TruthShift, our answer to the RODS challenge. In one line: you tell the app what matters to you, scan a product, and it tells you how well that product fits your values, and how sure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Shoppers care about buying Canadian, supporting local business, fair labour, animal welfare and waste. But the information is scattered, and a label can be misleading. Made in Canada can mean imported ingredients. And missing information is not the same as bad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RODS serves newcomers, so we designed for them: their language, their budget, and their new city. For example, red lentils are a staple for many newcomer families, and Saskatchewan grows a large share of the world’s lentils. The app shows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screens. Set your priorities once, then scan, compare, ask, or find a store. Every screen uses the same scoring engine, so the numbers always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of the challenge we took most seriously: communicate uncertainty and do not mislead. Each fact is labelled verified, claimed or unknown. A chocolate bar with no information about labour is not marked unfair. It is marked unknown, and its confidence goes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challenge sheet itself says a product made in Canada does not mean all its parts are Canadian. So instead of one Canadian checkmark we show which tier applies, with a one-line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 is simple on purpose, so we can explain any score. Your weight times how much we trust the fact. Verified counts fully, claimed counts 60 percent, unknown is left out. The peanut butter example is a Regina-made product: 76 out of 100, medium confidence, because we could not confirm fair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script. 1: Priorities tab, Buy Canadian preset, language Gujarati. 2: Scan tab, search peanut, open Prairie Creamy Peanut Butter, 76, medium confidence, point to the evidence badges and the Made in Canada tier. 3: open ChocoMax Milk Bar, low confidence, unknowns are not counted. 4: Ask tab, first example question. 5: Show on map from the product, then type the real barcode 3017620422003 for a live Open Food Facts lookup. Backup if the internet fails: everything except steps 4 and 5 runs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frontend never scores anything itself; it asks the backend. The backend has the scoring rules, the dataset, and calls Open Food Facts and Claude. Map tiles load straight into the browser. FastAPI gives us interactive docs for free, which we can show at localhost:8000/docs.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two kinds of data. 46 synthetic products with fictional brands, which the challenge allows, so we could show every kind of evidence. And 72 real products from Open Food Facts. The real data proved our main design choice: 94 percent of real products do not list where they are made. If missing data counted as zero, nearly everything would look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free and open source except the optional Claude API. The app still works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upfront about the limits. The scores demonstrate the method on synthetic data; they do not judge real brands. With real label photos and certification checks, the same app works on real Regina shelves.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or let you try it on your own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302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65760"/>
          </a:xfrm>
          <a:prstGeom prst="rect">
            <a:avLst/>
          </a:prstGeom>
          <a:noFill/>
          <a:ln/>
        </p:spPr>
        <p:txBody>
          <a:bodyPr wrap="square" rtlCol="0"/>
          <a:lstStyle>
            <a:lvl1pPr indent="0" marL="0">
              <a:buNone/>
              <a:defRPr lang="en-US" sz="1300" b="1" spc="200" kern="0" dirty="0">
                <a:solidFill>
                  <a:srgbClr val="8FD4AE"/>
                </a:solidFill>
              </a:defRPr>
            </a:lvl1pPr>
          </a:lstStyle>
          <a:p>
            <a:pPr indent="0" marL="0">
              <a:buNone/>
            </a:pPr>
            <a:endParaRPr lang="en-US" sz="1300" dirty="0"/>
          </a:p>
        </p:txBody>
      </p:sp>
      <p:sp>
        <p:nvSpPr>
          <p:cNvPr id="3" name="Text 0"/>
          <p:cNvSpPr/>
          <p:nvPr>
            <p:ph idx="101" type="title" hasCustomPrompt="1"/>
          </p:nvPr>
        </p:nvSpPr>
        <p:spPr>
          <a:xfrm>
            <a:off x="548640" y="1234440"/>
            <a:ext cx="8046720" cy="1737360"/>
          </a:xfrm>
          <a:prstGeom prst="rect">
            <a:avLst/>
          </a:prstGeom>
          <a:noFill/>
          <a:ln/>
        </p:spPr>
        <p:txBody>
          <a:bodyPr wrap="square" rtlCol="0"/>
          <a:lstStyle>
            <a:lvl1pPr algn="l" indent="0" marL="0">
              <a:buNone/>
              <a:defRPr lang="en-US" sz="4800" b="1" dirty="0">
                <a:solidFill>
                  <a:srgbClr val="F6F7F2"/>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4" name="Text 0"/>
          <p:cNvSpPr/>
          <p:nvPr>
            <p:ph idx="102" type="body" hasCustomPrompt="1"/>
          </p:nvPr>
        </p:nvSpPr>
        <p:spPr>
          <a:xfrm>
            <a:off x="548640" y="3017520"/>
            <a:ext cx="7132320" cy="822960"/>
          </a:xfrm>
          <a:prstGeom prst="rect">
            <a:avLst/>
          </a:prstGeom>
          <a:noFill/>
          <a:ln/>
        </p:spPr>
        <p:txBody>
          <a:bodyPr wrap="square" rtlCol="0"/>
          <a:lstStyle>
            <a:lvl1pPr indent="0" marL="0">
              <a:buNone/>
              <a:defRPr lang="en-US" sz="1800" dirty="0">
                <a:solidFill>
                  <a:srgbClr val="C9DDD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rtlCol="0"/>
          <a:lstStyle>
            <a:lvl1pPr indent="0" marL="0">
              <a:buNone/>
              <a:defRPr lang="en-US" sz="1100" b="1" spc="200" kern="0" dirty="0">
                <a:solidFill>
                  <a:srgbClr val="1F7A4D"/>
                </a:solidFill>
              </a:defRPr>
            </a:lvl1pPr>
          </a:lstStyle>
          <a:p>
            <a:pPr indent="0" marL="0">
              <a:buNone/>
            </a:pP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rtlCol="0"/>
          <a:lstStyle>
            <a:lvl1pPr algn="l" indent="0" marL="0">
              <a:buNone/>
              <a:defRPr lang="en-US" sz="2600" b="1" dirty="0">
                <a:solidFill>
                  <a:srgbClr val="14302A"/>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4" name="Text 0"/>
          <p:cNvSpPr txBox="1"/>
          <p:nvPr/>
        </p:nvSpPr>
        <p:spPr>
          <a:xfrm>
            <a:off x="457200" y="4754880"/>
            <a:ext cx="6400800" cy="274320"/>
          </a:xfrm>
          <a:prstGeom prst="rect">
            <a:avLst/>
          </a:prstGeom>
          <a:noFill/>
          <a:ln/>
        </p:spPr>
        <p:txBody>
          <a:bodyPr wrap="square" rtlCol="0" anchor="ctr"/>
          <a:lstStyle/>
          <a:p>
            <a:pPr indent="0" marL="0">
              <a:buNone/>
            </a:pPr>
            <a:r>
              <a:rPr lang="en-US" sz="1000" dirty="0">
                <a:solidFill>
                  <a:srgbClr val="6B7A72"/>
                </a:solidFill>
              </a:rPr>
              <a:t>TruthShift · RODS Tech Skills Showcase 2026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INT">
    <p:bg>
      <p:bgPr>
        <a:solidFill>
          <a:srgbClr val="E7EFE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rtlCol="0"/>
          <a:lstStyle>
            <a:lvl1pPr indent="0" marL="0">
              <a:buNone/>
              <a:defRPr lang="en-US" sz="1100" b="1" spc="200" kern="0" dirty="0">
                <a:solidFill>
                  <a:srgbClr val="1F7A4D"/>
                </a:solidFill>
              </a:defRPr>
            </a:lvl1pPr>
          </a:lstStyle>
          <a:p>
            <a:pPr indent="0" marL="0">
              <a:buNone/>
            </a:pP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rtlCol="0"/>
          <a:lstStyle>
            <a:lvl1pPr algn="l" indent="0" marL="0">
              <a:buNone/>
              <a:defRPr lang="en-US" sz="2600" b="1" dirty="0">
                <a:solidFill>
                  <a:srgbClr val="14302A"/>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4" name="Text 0"/>
          <p:cNvSpPr txBox="1"/>
          <p:nvPr/>
        </p:nvSpPr>
        <p:spPr>
          <a:xfrm>
            <a:off x="457200" y="4754880"/>
            <a:ext cx="6400800" cy="274320"/>
          </a:xfrm>
          <a:prstGeom prst="rect">
            <a:avLst/>
          </a:prstGeom>
          <a:noFill/>
          <a:ln/>
        </p:spPr>
        <p:txBody>
          <a:bodyPr wrap="square" rtlCol="0" anchor="ctr"/>
          <a:lstStyle/>
          <a:p>
            <a:pPr indent="0" marL="0">
              <a:buNone/>
            </a:pPr>
            <a:r>
              <a:rPr lang="en-US" sz="1000" dirty="0">
                <a:solidFill>
                  <a:srgbClr val="6B7A72"/>
                </a:solidFill>
              </a:rPr>
              <a:t>TruthShift · RODS Tech Skills Showcase 2026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302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rtlCol="0"/>
          <a:lstStyle>
            <a:lvl1pPr indent="0" marL="0">
              <a:buNone/>
              <a:defRPr lang="en-US" sz="1100" b="1" spc="200" kern="0" dirty="0">
                <a:solidFill>
                  <a:srgbClr val="8FD4AE"/>
                </a:solidFill>
              </a:defRPr>
            </a:lvl1pPr>
          </a:lstStyle>
          <a:p>
            <a:pPr indent="0" marL="0">
              <a:buNone/>
            </a:pP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rtlCol="0"/>
          <a:lstStyle>
            <a:lvl1pPr algn="l" indent="0" marL="0">
              <a:buNone/>
              <a:defRPr lang="en-US" sz="2600" b="1" dirty="0">
                <a:solidFill>
                  <a:srgbClr val="F6F7F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4" name="Text 0"/>
          <p:cNvSpPr txBox="1"/>
          <p:nvPr/>
        </p:nvSpPr>
        <p:spPr>
          <a:xfrm>
            <a:off x="457200" y="4754880"/>
            <a:ext cx="6400800" cy="274320"/>
          </a:xfrm>
          <a:prstGeom prst="rect">
            <a:avLst/>
          </a:prstGeom>
          <a:noFill/>
          <a:ln/>
        </p:spPr>
        <p:txBody>
          <a:bodyPr wrap="square" rtlCol="0" anchor="ctr"/>
          <a:lstStyle/>
          <a:p>
            <a:pPr indent="0" marL="0">
              <a:buNone/>
            </a:pPr>
            <a:r>
              <a:rPr lang="en-US" sz="1000" dirty="0">
                <a:solidFill>
                  <a:srgbClr val="8FA89B"/>
                </a:solidFill>
              </a:rPr>
              <a:t>TruthShift · RODS Tech Skills Showcase 2026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65760"/>
          </a:xfrm>
          <a:prstGeom prst="rect">
            <a:avLst/>
          </a:prstGeom>
          <a:noFill/>
          <a:ln/>
        </p:spPr>
        <p:txBody>
          <a:bodyPr wrap="square" rtlCol="0"/>
          <a:lstStyle/>
          <a:p>
            <a:pPr indent="0" marL="0">
              <a:buNone/>
            </a:pPr>
            <a:r>
              <a:rPr lang="en-US" sz="1300" b="1" spc="200" kern="0" dirty="0">
                <a:solidFill>
                  <a:srgbClr val="8FD4AE"/>
                </a:solidFill>
              </a:rPr>
              <a:t>RODS TECH SKILLS SHOWCASE 2026</a:t>
            </a:r>
            <a:endParaRPr lang="en-US" sz="1300" dirty="0"/>
          </a:p>
        </p:txBody>
      </p:sp>
      <p:sp>
        <p:nvSpPr>
          <p:cNvPr id="3" name="Text 0"/>
          <p:cNvSpPr/>
          <p:nvPr>
            <p:ph idx="101" type="title" hasCustomPrompt="1"/>
          </p:nvPr>
        </p:nvSpPr>
        <p:spPr>
          <a:xfrm>
            <a:off x="548640" y="1234440"/>
            <a:ext cx="8046720" cy="1737360"/>
          </a:xfrm>
          <a:prstGeom prst="rect">
            <a:avLst/>
          </a:prstGeom>
          <a:noFill/>
          <a:ln/>
        </p:spPr>
        <p:txBody>
          <a:bodyPr wrap="square" rtlCol="0" anchor="t"/>
          <a:lstStyle/>
          <a:p>
            <a:pPr algn="l" indent="0" marL="0">
              <a:buNone/>
            </a:pPr>
            <a:r>
              <a:rPr lang="en-US" sz="4800" b="1" dirty="0">
                <a:solidFill>
                  <a:srgbClr val="F6F7F2"/>
                </a:solidFill>
                <a:latin typeface="Cambria" pitchFamily="34" charset="0"/>
                <a:ea typeface="Cambria" pitchFamily="34" charset="-122"/>
                <a:cs typeface="Cambria" pitchFamily="34" charset="-120"/>
              </a:rPr>
              <a:t>TruthShift</a:t>
            </a:r>
            <a:endParaRPr lang="en-US" sz="4800" dirty="0"/>
          </a:p>
        </p:txBody>
      </p:sp>
      <p:sp>
        <p:nvSpPr>
          <p:cNvPr id="4" name="Text 0"/>
          <p:cNvSpPr/>
          <p:nvPr>
            <p:ph idx="102" type="body" hasCustomPrompt="1"/>
          </p:nvPr>
        </p:nvSpPr>
        <p:spPr>
          <a:xfrm>
            <a:off x="548640" y="3017520"/>
            <a:ext cx="7132320" cy="822960"/>
          </a:xfrm>
          <a:prstGeom prst="rect">
            <a:avLst/>
          </a:prstGeom>
          <a:noFill/>
          <a:ln/>
        </p:spPr>
        <p:txBody>
          <a:bodyPr wrap="square" rtlCol="0" anchor="t"/>
          <a:lstStyle/>
          <a:p>
            <a:pPr indent="0" marL="0">
              <a:buNone/>
            </a:pPr>
            <a:r>
              <a:rPr lang="en-US" sz="1800" dirty="0">
                <a:solidFill>
                  <a:srgbClr val="C9DDD2"/>
                </a:solidFill>
              </a:rPr>
              <a:t>Shop by your own values, and see exactly how sure we are about every fact.</a:t>
            </a:r>
            <a:endParaRPr lang="en-US" sz="1800" dirty="0"/>
          </a:p>
        </p:txBody>
      </p:sp>
      <p:sp>
        <p:nvSpPr>
          <p:cNvPr id="5" name="Text 3"/>
          <p:cNvSpPr txBox="1"/>
          <p:nvPr/>
        </p:nvSpPr>
        <p:spPr>
          <a:xfrm>
            <a:off x="548640" y="4343400"/>
            <a:ext cx="8046720" cy="320040"/>
          </a:xfrm>
          <a:prstGeom prst="rect">
            <a:avLst/>
          </a:prstGeom>
          <a:noFill/>
          <a:ln/>
        </p:spPr>
        <p:txBody>
          <a:bodyPr wrap="square" lIns="0" tIns="0" rIns="0" bIns="0" rtlCol="0" anchor="t"/>
          <a:lstStyle/>
          <a:p>
            <a:pPr indent="0" marL="0">
              <a:buNone/>
            </a:pPr>
            <a:r>
              <a:rPr lang="en-US" sz="1300" dirty="0">
                <a:solidFill>
                  <a:srgbClr val="C9DDD2"/>
                </a:solidFill>
              </a:rPr>
              <a:t>[Team name] · [Member 1], [Member 2], [Member 3], [Member 4], [Member 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THE PROBLEM</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People want to shop ethically, but the facts are scattered and hard to trust</a:t>
            </a:r>
            <a:endParaRPr lang="en-US" sz="2600" dirty="0"/>
          </a:p>
        </p:txBody>
      </p:sp>
      <p:sp>
        <p:nvSpPr>
          <p:cNvPr id="5" name="problem-card-1"/>
          <p:cNvSpPr/>
          <p:nvPr/>
        </p:nvSpPr>
        <p:spPr>
          <a:xfrm>
            <a:off x="457200" y="1645920"/>
            <a:ext cx="4023360" cy="1280160"/>
          </a:xfrm>
          <a:prstGeom prst="roundRect">
            <a:avLst>
              <a:gd name="adj" fmla="val 5714"/>
            </a:avLst>
          </a:prstGeom>
          <a:solidFill>
            <a:srgbClr val="FFFFFF"/>
          </a:solidFill>
          <a:ln w="9525">
            <a:solidFill>
              <a:srgbClr val="D9E0DA"/>
            </a:solidFill>
            <a:prstDash val="solid"/>
          </a:ln>
        </p:spPr>
      </p:sp>
      <p:sp>
        <p:nvSpPr>
          <p:cNvPr id="6" name="problem-icon-1"/>
          <p:cNvSpPr/>
          <p:nvPr/>
        </p:nvSpPr>
        <p:spPr>
          <a:xfrm>
            <a:off x="685800" y="1920240"/>
            <a:ext cx="457200" cy="457200"/>
          </a:xfrm>
          <a:prstGeom prst="ellipse">
            <a:avLst/>
          </a:prstGeom>
          <a:solidFill>
            <a:srgbClr val="E7EFE9"/>
          </a:solidFill>
          <a:ln w="12700">
            <a:solidFill>
              <a:srgbClr val="E7EFE9"/>
            </a:solidFill>
            <a:prstDash val="solid"/>
          </a:ln>
        </p:spPr>
      </p:sp>
      <p:sp>
        <p:nvSpPr>
          <p:cNvPr id="7" name="Text 4"/>
          <p:cNvSpPr txBox="1"/>
          <p:nvPr/>
        </p:nvSpPr>
        <p:spPr>
          <a:xfrm>
            <a:off x="685800" y="1920240"/>
            <a:ext cx="457200" cy="457200"/>
          </a:xfrm>
          <a:prstGeom prst="rect">
            <a:avLst/>
          </a:prstGeom>
          <a:noFill/>
          <a:ln/>
        </p:spPr>
        <p:txBody>
          <a:bodyPr wrap="square" lIns="0" tIns="0" rIns="0" bIns="0" rtlCol="0" anchor="ctr"/>
          <a:lstStyle/>
          <a:p>
            <a:pPr algn="ctr" indent="0" marL="0">
              <a:buNone/>
            </a:pPr>
            <a:r>
              <a:rPr lang="en-US" sz="1800" b="1" dirty="0">
                <a:solidFill>
                  <a:srgbClr val="1F7A4D"/>
                </a:solidFill>
              </a:rPr>
              <a:t>?</a:t>
            </a:r>
            <a:endParaRPr lang="en-US" sz="1800" dirty="0"/>
          </a:p>
        </p:txBody>
      </p:sp>
      <p:sp>
        <p:nvSpPr>
          <p:cNvPr id="8" name="Text 5"/>
          <p:cNvSpPr txBox="1"/>
          <p:nvPr/>
        </p:nvSpPr>
        <p:spPr>
          <a:xfrm>
            <a:off x="1325880" y="1874520"/>
            <a:ext cx="2971800" cy="320040"/>
          </a:xfrm>
          <a:prstGeom prst="rect">
            <a:avLst/>
          </a:prstGeom>
          <a:noFill/>
          <a:ln/>
        </p:spPr>
        <p:txBody>
          <a:bodyPr wrap="square" lIns="0" tIns="0" rIns="0" bIns="0" rtlCol="0" anchor="t"/>
          <a:lstStyle/>
          <a:p>
            <a:pPr indent="0" marL="0">
              <a:buNone/>
            </a:pPr>
            <a:r>
              <a:rPr lang="en-US" sz="1500" b="1" dirty="0">
                <a:solidFill>
                  <a:srgbClr val="14302A"/>
                </a:solidFill>
              </a:rPr>
              <a:t>Where is it made?</a:t>
            </a:r>
            <a:endParaRPr lang="en-US" sz="1500" dirty="0"/>
          </a:p>
        </p:txBody>
      </p:sp>
      <p:sp>
        <p:nvSpPr>
          <p:cNvPr id="9" name="Text 6"/>
          <p:cNvSpPr txBox="1"/>
          <p:nvPr/>
        </p:nvSpPr>
        <p:spPr>
          <a:xfrm>
            <a:off x="1325880" y="2240280"/>
            <a:ext cx="2971800" cy="594360"/>
          </a:xfrm>
          <a:prstGeom prst="rect">
            <a:avLst/>
          </a:prstGeom>
          <a:noFill/>
          <a:ln/>
        </p:spPr>
        <p:txBody>
          <a:bodyPr wrap="square" lIns="0" tIns="0" rIns="0" bIns="0" rtlCol="0" anchor="t"/>
          <a:lstStyle/>
          <a:p>
            <a:pPr indent="0" marL="0">
              <a:buNone/>
            </a:pPr>
            <a:r>
              <a:rPr lang="en-US" sz="1300" dirty="0">
                <a:solidFill>
                  <a:srgbClr val="4A5A52"/>
                </a:solidFill>
              </a:rPr>
              <a:t>“Made in Canada” can still mean imported ingredients.</a:t>
            </a:r>
            <a:endParaRPr lang="en-US" sz="1300" dirty="0"/>
          </a:p>
        </p:txBody>
      </p:sp>
      <p:sp>
        <p:nvSpPr>
          <p:cNvPr id="10" name="problem-card-2"/>
          <p:cNvSpPr/>
          <p:nvPr/>
        </p:nvSpPr>
        <p:spPr>
          <a:xfrm>
            <a:off x="4663440" y="1645920"/>
            <a:ext cx="4023360" cy="1280160"/>
          </a:xfrm>
          <a:prstGeom prst="roundRect">
            <a:avLst>
              <a:gd name="adj" fmla="val 5714"/>
            </a:avLst>
          </a:prstGeom>
          <a:solidFill>
            <a:srgbClr val="FFFFFF"/>
          </a:solidFill>
          <a:ln w="9525">
            <a:solidFill>
              <a:srgbClr val="D9E0DA"/>
            </a:solidFill>
            <a:prstDash val="solid"/>
          </a:ln>
        </p:spPr>
      </p:sp>
      <p:sp>
        <p:nvSpPr>
          <p:cNvPr id="11" name="problem-icon-2"/>
          <p:cNvSpPr/>
          <p:nvPr/>
        </p:nvSpPr>
        <p:spPr>
          <a:xfrm>
            <a:off x="4892040" y="1920240"/>
            <a:ext cx="457200" cy="457200"/>
          </a:xfrm>
          <a:prstGeom prst="ellipse">
            <a:avLst/>
          </a:prstGeom>
          <a:solidFill>
            <a:srgbClr val="E7EFE9"/>
          </a:solidFill>
          <a:ln w="12700">
            <a:solidFill>
              <a:srgbClr val="E7EFE9"/>
            </a:solidFill>
            <a:prstDash val="solid"/>
          </a:ln>
        </p:spPr>
      </p:sp>
      <p:sp>
        <p:nvSpPr>
          <p:cNvPr id="12" name="Text 9"/>
          <p:cNvSpPr txBox="1"/>
          <p:nvPr/>
        </p:nvSpPr>
        <p:spPr>
          <a:xfrm>
            <a:off x="4892040" y="1920240"/>
            <a:ext cx="457200" cy="457200"/>
          </a:xfrm>
          <a:prstGeom prst="rect">
            <a:avLst/>
          </a:prstGeom>
          <a:noFill/>
          <a:ln/>
        </p:spPr>
        <p:txBody>
          <a:bodyPr wrap="square" lIns="0" tIns="0" rIns="0" bIns="0" rtlCol="0" anchor="ctr"/>
          <a:lstStyle/>
          <a:p>
            <a:pPr algn="ctr" indent="0" marL="0">
              <a:buNone/>
            </a:pPr>
            <a:r>
              <a:rPr lang="en-US" sz="1800" b="1" dirty="0">
                <a:solidFill>
                  <a:srgbClr val="1F7A4D"/>
                </a:solidFill>
              </a:rPr>
              <a:t>?</a:t>
            </a:r>
            <a:endParaRPr lang="en-US" sz="1800" dirty="0"/>
          </a:p>
        </p:txBody>
      </p:sp>
      <p:sp>
        <p:nvSpPr>
          <p:cNvPr id="13" name="Text 10"/>
          <p:cNvSpPr txBox="1"/>
          <p:nvPr/>
        </p:nvSpPr>
        <p:spPr>
          <a:xfrm>
            <a:off x="5532120" y="1874520"/>
            <a:ext cx="2971800" cy="320040"/>
          </a:xfrm>
          <a:prstGeom prst="rect">
            <a:avLst/>
          </a:prstGeom>
          <a:noFill/>
          <a:ln/>
        </p:spPr>
        <p:txBody>
          <a:bodyPr wrap="square" lIns="0" tIns="0" rIns="0" bIns="0" rtlCol="0" anchor="t"/>
          <a:lstStyle/>
          <a:p>
            <a:pPr indent="0" marL="0">
              <a:buNone/>
            </a:pPr>
            <a:r>
              <a:rPr lang="en-US" sz="1500" b="1" dirty="0">
                <a:solidFill>
                  <a:srgbClr val="14302A"/>
                </a:solidFill>
              </a:rPr>
              <a:t>Who owns the company?</a:t>
            </a:r>
            <a:endParaRPr lang="en-US" sz="1500" dirty="0"/>
          </a:p>
        </p:txBody>
      </p:sp>
      <p:sp>
        <p:nvSpPr>
          <p:cNvPr id="14" name="Text 11"/>
          <p:cNvSpPr txBox="1"/>
          <p:nvPr/>
        </p:nvSpPr>
        <p:spPr>
          <a:xfrm>
            <a:off x="5532120" y="2240280"/>
            <a:ext cx="2971800" cy="594360"/>
          </a:xfrm>
          <a:prstGeom prst="rect">
            <a:avLst/>
          </a:prstGeom>
          <a:noFill/>
          <a:ln/>
        </p:spPr>
        <p:txBody>
          <a:bodyPr wrap="square" lIns="0" tIns="0" rIns="0" bIns="0" rtlCol="0" anchor="t"/>
          <a:lstStyle/>
          <a:p>
            <a:pPr indent="0" marL="0">
              <a:buNone/>
            </a:pPr>
            <a:r>
              <a:rPr lang="en-US" sz="1300" dirty="0">
                <a:solidFill>
                  <a:srgbClr val="4A5A52"/>
                </a:solidFill>
              </a:rPr>
              <a:t>A familiar Canadian brand may have a foreign parent company.</a:t>
            </a:r>
            <a:endParaRPr lang="en-US" sz="1300" dirty="0"/>
          </a:p>
        </p:txBody>
      </p:sp>
      <p:sp>
        <p:nvSpPr>
          <p:cNvPr id="15" name="problem-card-3"/>
          <p:cNvSpPr/>
          <p:nvPr/>
        </p:nvSpPr>
        <p:spPr>
          <a:xfrm>
            <a:off x="457200" y="3108960"/>
            <a:ext cx="4023360" cy="1280160"/>
          </a:xfrm>
          <a:prstGeom prst="roundRect">
            <a:avLst>
              <a:gd name="adj" fmla="val 5714"/>
            </a:avLst>
          </a:prstGeom>
          <a:solidFill>
            <a:srgbClr val="FFFFFF"/>
          </a:solidFill>
          <a:ln w="9525">
            <a:solidFill>
              <a:srgbClr val="D9E0DA"/>
            </a:solidFill>
            <a:prstDash val="solid"/>
          </a:ln>
        </p:spPr>
      </p:sp>
      <p:sp>
        <p:nvSpPr>
          <p:cNvPr id="16" name="problem-icon-3"/>
          <p:cNvSpPr/>
          <p:nvPr/>
        </p:nvSpPr>
        <p:spPr>
          <a:xfrm>
            <a:off x="685800" y="3383280"/>
            <a:ext cx="457200" cy="457200"/>
          </a:xfrm>
          <a:prstGeom prst="ellipse">
            <a:avLst/>
          </a:prstGeom>
          <a:solidFill>
            <a:srgbClr val="E7EFE9"/>
          </a:solidFill>
          <a:ln w="12700">
            <a:solidFill>
              <a:srgbClr val="E7EFE9"/>
            </a:solidFill>
            <a:prstDash val="solid"/>
          </a:ln>
        </p:spPr>
      </p:sp>
      <p:sp>
        <p:nvSpPr>
          <p:cNvPr id="17" name="Text 14"/>
          <p:cNvSpPr txBox="1"/>
          <p:nvPr/>
        </p:nvSpPr>
        <p:spPr>
          <a:xfrm>
            <a:off x="685800" y="3383280"/>
            <a:ext cx="457200" cy="457200"/>
          </a:xfrm>
          <a:prstGeom prst="rect">
            <a:avLst/>
          </a:prstGeom>
          <a:noFill/>
          <a:ln/>
        </p:spPr>
        <p:txBody>
          <a:bodyPr wrap="square" lIns="0" tIns="0" rIns="0" bIns="0" rtlCol="0" anchor="ctr"/>
          <a:lstStyle/>
          <a:p>
            <a:pPr algn="ctr" indent="0" marL="0">
              <a:buNone/>
            </a:pPr>
            <a:r>
              <a:rPr lang="en-US" sz="1800" b="1" dirty="0">
                <a:solidFill>
                  <a:srgbClr val="1F7A4D"/>
                </a:solidFill>
              </a:rPr>
              <a:t>?</a:t>
            </a:r>
            <a:endParaRPr lang="en-US" sz="1800" dirty="0"/>
          </a:p>
        </p:txBody>
      </p:sp>
      <p:sp>
        <p:nvSpPr>
          <p:cNvPr id="18" name="Text 15"/>
          <p:cNvSpPr txBox="1"/>
          <p:nvPr/>
        </p:nvSpPr>
        <p:spPr>
          <a:xfrm>
            <a:off x="1325880" y="3337560"/>
            <a:ext cx="2971800" cy="320040"/>
          </a:xfrm>
          <a:prstGeom prst="rect">
            <a:avLst/>
          </a:prstGeom>
          <a:noFill/>
          <a:ln/>
        </p:spPr>
        <p:txBody>
          <a:bodyPr wrap="square" lIns="0" tIns="0" rIns="0" bIns="0" rtlCol="0" anchor="t"/>
          <a:lstStyle/>
          <a:p>
            <a:pPr indent="0" marL="0">
              <a:buNone/>
            </a:pPr>
            <a:r>
              <a:rPr lang="en-US" sz="1500" b="1" dirty="0">
                <a:solidFill>
                  <a:srgbClr val="14302A"/>
                </a:solidFill>
              </a:rPr>
              <a:t>Fair to workers and animals?</a:t>
            </a:r>
            <a:endParaRPr lang="en-US" sz="1500" dirty="0"/>
          </a:p>
        </p:txBody>
      </p:sp>
      <p:sp>
        <p:nvSpPr>
          <p:cNvPr id="19" name="Text 16"/>
          <p:cNvSpPr txBox="1"/>
          <p:nvPr/>
        </p:nvSpPr>
        <p:spPr>
          <a:xfrm>
            <a:off x="1325880" y="3703320"/>
            <a:ext cx="2971800" cy="594360"/>
          </a:xfrm>
          <a:prstGeom prst="rect">
            <a:avLst/>
          </a:prstGeom>
          <a:noFill/>
          <a:ln/>
        </p:spPr>
        <p:txBody>
          <a:bodyPr wrap="square" lIns="0" tIns="0" rIns="0" bIns="0" rtlCol="0" anchor="t"/>
          <a:lstStyle/>
          <a:p>
            <a:pPr indent="0" marL="0">
              <a:buNone/>
            </a:pPr>
            <a:r>
              <a:rPr lang="en-US" sz="1300" dirty="0">
                <a:solidFill>
                  <a:srgbClr val="4A5A52"/>
                </a:solidFill>
              </a:rPr>
              <a:t>Certifications, company claims and silence all look alike on a shelf.</a:t>
            </a:r>
            <a:endParaRPr lang="en-US" sz="1300" dirty="0"/>
          </a:p>
        </p:txBody>
      </p:sp>
      <p:sp>
        <p:nvSpPr>
          <p:cNvPr id="20" name="problem-card-4"/>
          <p:cNvSpPr/>
          <p:nvPr/>
        </p:nvSpPr>
        <p:spPr>
          <a:xfrm>
            <a:off x="4663440" y="3108960"/>
            <a:ext cx="4023360" cy="1280160"/>
          </a:xfrm>
          <a:prstGeom prst="roundRect">
            <a:avLst>
              <a:gd name="adj" fmla="val 5714"/>
            </a:avLst>
          </a:prstGeom>
          <a:solidFill>
            <a:srgbClr val="FFFFFF"/>
          </a:solidFill>
          <a:ln w="9525">
            <a:solidFill>
              <a:srgbClr val="D9E0DA"/>
            </a:solidFill>
            <a:prstDash val="solid"/>
          </a:ln>
        </p:spPr>
      </p:sp>
      <p:sp>
        <p:nvSpPr>
          <p:cNvPr id="21" name="problem-icon-4"/>
          <p:cNvSpPr/>
          <p:nvPr/>
        </p:nvSpPr>
        <p:spPr>
          <a:xfrm>
            <a:off x="4892040" y="3383280"/>
            <a:ext cx="457200" cy="457200"/>
          </a:xfrm>
          <a:prstGeom prst="ellipse">
            <a:avLst/>
          </a:prstGeom>
          <a:solidFill>
            <a:srgbClr val="E7EFE9"/>
          </a:solidFill>
          <a:ln w="12700">
            <a:solidFill>
              <a:srgbClr val="E7EFE9"/>
            </a:solidFill>
            <a:prstDash val="solid"/>
          </a:ln>
        </p:spPr>
      </p:sp>
      <p:sp>
        <p:nvSpPr>
          <p:cNvPr id="22" name="Text 19"/>
          <p:cNvSpPr txBox="1"/>
          <p:nvPr/>
        </p:nvSpPr>
        <p:spPr>
          <a:xfrm>
            <a:off x="4892040" y="3383280"/>
            <a:ext cx="457200" cy="457200"/>
          </a:xfrm>
          <a:prstGeom prst="rect">
            <a:avLst/>
          </a:prstGeom>
          <a:noFill/>
          <a:ln/>
        </p:spPr>
        <p:txBody>
          <a:bodyPr wrap="square" lIns="0" tIns="0" rIns="0" bIns="0" rtlCol="0" anchor="ctr"/>
          <a:lstStyle/>
          <a:p>
            <a:pPr algn="ctr" indent="0" marL="0">
              <a:buNone/>
            </a:pPr>
            <a:r>
              <a:rPr lang="en-US" sz="1800" b="1" dirty="0">
                <a:solidFill>
                  <a:srgbClr val="1F7A4D"/>
                </a:solidFill>
              </a:rPr>
              <a:t>?</a:t>
            </a:r>
            <a:endParaRPr lang="en-US" sz="1800" dirty="0"/>
          </a:p>
        </p:txBody>
      </p:sp>
      <p:sp>
        <p:nvSpPr>
          <p:cNvPr id="23" name="Text 20"/>
          <p:cNvSpPr txBox="1"/>
          <p:nvPr/>
        </p:nvSpPr>
        <p:spPr>
          <a:xfrm>
            <a:off x="5532120" y="3337560"/>
            <a:ext cx="2971800" cy="320040"/>
          </a:xfrm>
          <a:prstGeom prst="rect">
            <a:avLst/>
          </a:prstGeom>
          <a:noFill/>
          <a:ln/>
        </p:spPr>
        <p:txBody>
          <a:bodyPr wrap="square" lIns="0" tIns="0" rIns="0" bIns="0" rtlCol="0" anchor="t"/>
          <a:lstStyle/>
          <a:p>
            <a:pPr indent="0" marL="0">
              <a:buNone/>
            </a:pPr>
            <a:r>
              <a:rPr lang="en-US" sz="1500" b="1" dirty="0">
                <a:solidFill>
                  <a:srgbClr val="14302A"/>
                </a:solidFill>
              </a:rPr>
              <a:t>What happens to the packaging?</a:t>
            </a:r>
            <a:endParaRPr lang="en-US" sz="1500" dirty="0"/>
          </a:p>
        </p:txBody>
      </p:sp>
      <p:sp>
        <p:nvSpPr>
          <p:cNvPr id="24" name="Text 21"/>
          <p:cNvSpPr txBox="1"/>
          <p:nvPr/>
        </p:nvSpPr>
        <p:spPr>
          <a:xfrm>
            <a:off x="5532120" y="3703320"/>
            <a:ext cx="2971800" cy="594360"/>
          </a:xfrm>
          <a:prstGeom prst="rect">
            <a:avLst/>
          </a:prstGeom>
          <a:noFill/>
          <a:ln/>
        </p:spPr>
        <p:txBody>
          <a:bodyPr wrap="square" lIns="0" tIns="0" rIns="0" bIns="0" rtlCol="0" anchor="t"/>
          <a:lstStyle/>
          <a:p>
            <a:pPr indent="0" marL="0">
              <a:buNone/>
            </a:pPr>
            <a:r>
              <a:rPr lang="en-US" sz="1300" dirty="0">
                <a:solidFill>
                  <a:srgbClr val="4A5A52"/>
                </a:solidFill>
              </a:rPr>
              <a:t>Recycling rules differ by city, and Regina has its own.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WHO WE BUILT IT FOR</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Newcomers to Regina, shopping in a new country on a real budget</a:t>
            </a:r>
            <a:endParaRPr lang="en-US" sz="2600" dirty="0"/>
          </a:p>
        </p:txBody>
      </p:sp>
      <p:sp>
        <p:nvSpPr>
          <p:cNvPr id="5" name="audience-card-1"/>
          <p:cNvSpPr/>
          <p:nvPr/>
        </p:nvSpPr>
        <p:spPr>
          <a:xfrm>
            <a:off x="457200" y="1691640"/>
            <a:ext cx="2615184" cy="2697480"/>
          </a:xfrm>
          <a:prstGeom prst="roundRect">
            <a:avLst>
              <a:gd name="adj" fmla="val 2797"/>
            </a:avLst>
          </a:prstGeom>
          <a:solidFill>
            <a:srgbClr val="FFFFFF"/>
          </a:solidFill>
          <a:ln w="9525">
            <a:solidFill>
              <a:srgbClr val="D9E0DA"/>
            </a:solidFill>
            <a:prstDash val="solid"/>
          </a:ln>
        </p:spPr>
      </p:sp>
      <p:sp>
        <p:nvSpPr>
          <p:cNvPr id="6" name="audience-icon-1"/>
          <p:cNvSpPr/>
          <p:nvPr/>
        </p:nvSpPr>
        <p:spPr>
          <a:xfrm>
            <a:off x="731520" y="1920240"/>
            <a:ext cx="640080" cy="640080"/>
          </a:xfrm>
          <a:prstGeom prst="ellipse">
            <a:avLst/>
          </a:prstGeom>
          <a:solidFill>
            <a:srgbClr val="1F7A4D"/>
          </a:solidFill>
          <a:ln w="12700">
            <a:solidFill>
              <a:srgbClr val="1F7A4D"/>
            </a:solidFill>
            <a:prstDash val="solid"/>
          </a:ln>
        </p:spPr>
      </p:sp>
      <p:sp>
        <p:nvSpPr>
          <p:cNvPr id="7" name="Text 4"/>
          <p:cNvSpPr txBox="1"/>
          <p:nvPr/>
        </p:nvSpPr>
        <p:spPr>
          <a:xfrm>
            <a:off x="731520" y="19202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Aa</a:t>
            </a:r>
            <a:endParaRPr lang="en-US" sz="2000" dirty="0"/>
          </a:p>
        </p:txBody>
      </p:sp>
      <p:sp>
        <p:nvSpPr>
          <p:cNvPr id="8" name="Text 5"/>
          <p:cNvSpPr txBox="1"/>
          <p:nvPr/>
        </p:nvSpPr>
        <p:spPr>
          <a:xfrm>
            <a:off x="731520" y="2743200"/>
            <a:ext cx="2103120" cy="365760"/>
          </a:xfrm>
          <a:prstGeom prst="rect">
            <a:avLst/>
          </a:prstGeom>
          <a:noFill/>
          <a:ln/>
        </p:spPr>
        <p:txBody>
          <a:bodyPr wrap="square" lIns="0" tIns="0" rIns="0" bIns="0" rtlCol="0" anchor="t"/>
          <a:lstStyle/>
          <a:p>
            <a:pPr indent="0" marL="0">
              <a:buNone/>
            </a:pPr>
            <a:r>
              <a:rPr lang="en-US" sz="1700" b="1" dirty="0">
                <a:solidFill>
                  <a:srgbClr val="14302A"/>
                </a:solidFill>
              </a:rPr>
              <a:t>Their language</a:t>
            </a:r>
            <a:endParaRPr lang="en-US" sz="1700" dirty="0"/>
          </a:p>
        </p:txBody>
      </p:sp>
      <p:sp>
        <p:nvSpPr>
          <p:cNvPr id="9" name="Text 6"/>
          <p:cNvSpPr txBox="1"/>
          <p:nvPr/>
        </p:nvSpPr>
        <p:spPr>
          <a:xfrm>
            <a:off x="731520" y="3154680"/>
            <a:ext cx="2103120" cy="1097280"/>
          </a:xfrm>
          <a:prstGeom prst="rect">
            <a:avLst/>
          </a:prstGeom>
          <a:noFill/>
          <a:ln/>
        </p:spPr>
        <p:txBody>
          <a:bodyPr wrap="square" lIns="0" tIns="0" rIns="0" bIns="0" rtlCol="0" anchor="t"/>
          <a:lstStyle/>
          <a:p>
            <a:pPr indent="0" marL="0">
              <a:buNone/>
            </a:pPr>
            <a:r>
              <a:rPr lang="en-US" sz="1300" dirty="0">
                <a:solidFill>
                  <a:srgbClr val="4A5A52"/>
                </a:solidFill>
              </a:rPr>
              <a:t>English, French and Gujarati screens. Claude answers questions in the chosen language.</a:t>
            </a:r>
            <a:endParaRPr lang="en-US" sz="1300" dirty="0"/>
          </a:p>
        </p:txBody>
      </p:sp>
      <p:sp>
        <p:nvSpPr>
          <p:cNvPr id="10" name="audience-card-2"/>
          <p:cNvSpPr/>
          <p:nvPr/>
        </p:nvSpPr>
        <p:spPr>
          <a:xfrm>
            <a:off x="3264408" y="1691640"/>
            <a:ext cx="2615184" cy="2697480"/>
          </a:xfrm>
          <a:prstGeom prst="roundRect">
            <a:avLst>
              <a:gd name="adj" fmla="val 2797"/>
            </a:avLst>
          </a:prstGeom>
          <a:solidFill>
            <a:srgbClr val="FFFFFF"/>
          </a:solidFill>
          <a:ln w="9525">
            <a:solidFill>
              <a:srgbClr val="D9E0DA"/>
            </a:solidFill>
            <a:prstDash val="solid"/>
          </a:ln>
        </p:spPr>
      </p:sp>
      <p:sp>
        <p:nvSpPr>
          <p:cNvPr id="11" name="audience-icon-2"/>
          <p:cNvSpPr/>
          <p:nvPr/>
        </p:nvSpPr>
        <p:spPr>
          <a:xfrm>
            <a:off x="3538728" y="1920240"/>
            <a:ext cx="640080" cy="640080"/>
          </a:xfrm>
          <a:prstGeom prst="ellipse">
            <a:avLst/>
          </a:prstGeom>
          <a:solidFill>
            <a:srgbClr val="1F7A4D"/>
          </a:solidFill>
          <a:ln w="12700">
            <a:solidFill>
              <a:srgbClr val="1F7A4D"/>
            </a:solidFill>
            <a:prstDash val="solid"/>
          </a:ln>
        </p:spPr>
      </p:sp>
      <p:sp>
        <p:nvSpPr>
          <p:cNvPr id="12" name="Text 9"/>
          <p:cNvSpPr txBox="1"/>
          <p:nvPr/>
        </p:nvSpPr>
        <p:spPr>
          <a:xfrm>
            <a:off x="3538728" y="19202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a:t>
            </a:r>
            <a:endParaRPr lang="en-US" sz="2000" dirty="0"/>
          </a:p>
        </p:txBody>
      </p:sp>
      <p:sp>
        <p:nvSpPr>
          <p:cNvPr id="13" name="Text 10"/>
          <p:cNvSpPr txBox="1"/>
          <p:nvPr/>
        </p:nvSpPr>
        <p:spPr>
          <a:xfrm>
            <a:off x="3538728" y="2743200"/>
            <a:ext cx="2103120" cy="365760"/>
          </a:xfrm>
          <a:prstGeom prst="rect">
            <a:avLst/>
          </a:prstGeom>
          <a:noFill/>
          <a:ln/>
        </p:spPr>
        <p:txBody>
          <a:bodyPr wrap="square" lIns="0" tIns="0" rIns="0" bIns="0" rtlCol="0" anchor="t"/>
          <a:lstStyle/>
          <a:p>
            <a:pPr indent="0" marL="0">
              <a:buNone/>
            </a:pPr>
            <a:r>
              <a:rPr lang="en-US" sz="1700" b="1" dirty="0">
                <a:solidFill>
                  <a:srgbClr val="14302A"/>
                </a:solidFill>
              </a:rPr>
              <a:t>Their budget</a:t>
            </a:r>
            <a:endParaRPr lang="en-US" sz="1700" dirty="0"/>
          </a:p>
        </p:txBody>
      </p:sp>
      <p:sp>
        <p:nvSpPr>
          <p:cNvPr id="14" name="Text 11"/>
          <p:cNvSpPr txBox="1"/>
          <p:nvPr/>
        </p:nvSpPr>
        <p:spPr>
          <a:xfrm>
            <a:off x="3538728" y="3154680"/>
            <a:ext cx="2103120" cy="1097280"/>
          </a:xfrm>
          <a:prstGeom prst="rect">
            <a:avLst/>
          </a:prstGeom>
          <a:noFill/>
          <a:ln/>
        </p:spPr>
        <p:txBody>
          <a:bodyPr wrap="square" lIns="0" tIns="0" rIns="0" bIns="0" rtlCol="0" anchor="t"/>
          <a:lstStyle/>
          <a:p>
            <a:pPr indent="0" marL="0">
              <a:buNone/>
            </a:pPr>
            <a:r>
              <a:rPr lang="en-US" sz="1300" dirty="0">
                <a:solidFill>
                  <a:srgbClr val="4A5A52"/>
                </a:solidFill>
              </a:rPr>
              <a:t>Affordability is a priority like any other, and every alternative shows the price difference.</a:t>
            </a:r>
            <a:endParaRPr lang="en-US" sz="1300" dirty="0"/>
          </a:p>
        </p:txBody>
      </p:sp>
      <p:sp>
        <p:nvSpPr>
          <p:cNvPr id="15" name="audience-card-3"/>
          <p:cNvSpPr/>
          <p:nvPr/>
        </p:nvSpPr>
        <p:spPr>
          <a:xfrm>
            <a:off x="6071616" y="1691640"/>
            <a:ext cx="2615184" cy="2697480"/>
          </a:xfrm>
          <a:prstGeom prst="roundRect">
            <a:avLst>
              <a:gd name="adj" fmla="val 2797"/>
            </a:avLst>
          </a:prstGeom>
          <a:solidFill>
            <a:srgbClr val="FFFFFF"/>
          </a:solidFill>
          <a:ln w="9525">
            <a:solidFill>
              <a:srgbClr val="D9E0DA"/>
            </a:solidFill>
            <a:prstDash val="solid"/>
          </a:ln>
        </p:spPr>
      </p:sp>
      <p:sp>
        <p:nvSpPr>
          <p:cNvPr id="16" name="audience-icon-3"/>
          <p:cNvSpPr/>
          <p:nvPr/>
        </p:nvSpPr>
        <p:spPr>
          <a:xfrm>
            <a:off x="6345936" y="1920240"/>
            <a:ext cx="640080" cy="640080"/>
          </a:xfrm>
          <a:prstGeom prst="ellipse">
            <a:avLst/>
          </a:prstGeom>
          <a:solidFill>
            <a:srgbClr val="1F7A4D"/>
          </a:solidFill>
          <a:ln w="12700">
            <a:solidFill>
              <a:srgbClr val="1F7A4D"/>
            </a:solidFill>
            <a:prstDash val="solid"/>
          </a:ln>
        </p:spPr>
      </p:sp>
      <p:sp>
        <p:nvSpPr>
          <p:cNvPr id="17" name="Text 14"/>
          <p:cNvSpPr txBox="1"/>
          <p:nvPr/>
        </p:nvSpPr>
        <p:spPr>
          <a:xfrm>
            <a:off x="6345936" y="192024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R</a:t>
            </a:r>
            <a:endParaRPr lang="en-US" sz="2000" dirty="0"/>
          </a:p>
        </p:txBody>
      </p:sp>
      <p:sp>
        <p:nvSpPr>
          <p:cNvPr id="18" name="Text 15"/>
          <p:cNvSpPr txBox="1"/>
          <p:nvPr/>
        </p:nvSpPr>
        <p:spPr>
          <a:xfrm>
            <a:off x="6345936" y="2743200"/>
            <a:ext cx="2103120" cy="365760"/>
          </a:xfrm>
          <a:prstGeom prst="rect">
            <a:avLst/>
          </a:prstGeom>
          <a:noFill/>
          <a:ln/>
        </p:spPr>
        <p:txBody>
          <a:bodyPr wrap="square" lIns="0" tIns="0" rIns="0" bIns="0" rtlCol="0" anchor="t"/>
          <a:lstStyle/>
          <a:p>
            <a:pPr indent="0" marL="0">
              <a:buNone/>
            </a:pPr>
            <a:r>
              <a:rPr lang="en-US" sz="1700" b="1" dirty="0">
                <a:solidFill>
                  <a:srgbClr val="14302A"/>
                </a:solidFill>
              </a:rPr>
              <a:t>Their city</a:t>
            </a:r>
            <a:endParaRPr lang="en-US" sz="1700" dirty="0"/>
          </a:p>
        </p:txBody>
      </p:sp>
      <p:sp>
        <p:nvSpPr>
          <p:cNvPr id="19" name="Text 16"/>
          <p:cNvSpPr txBox="1"/>
          <p:nvPr/>
        </p:nvSpPr>
        <p:spPr>
          <a:xfrm>
            <a:off x="6345936" y="3154680"/>
            <a:ext cx="2103120" cy="1097280"/>
          </a:xfrm>
          <a:prstGeom prst="rect">
            <a:avLst/>
          </a:prstGeom>
          <a:noFill/>
          <a:ln/>
        </p:spPr>
        <p:txBody>
          <a:bodyPr wrap="square" lIns="0" tIns="0" rIns="0" bIns="0" rtlCol="0" anchor="t"/>
          <a:lstStyle/>
          <a:p>
            <a:pPr indent="0" marL="0">
              <a:buNone/>
            </a:pPr>
            <a:r>
              <a:rPr lang="en-US" sz="1300" dirty="0">
                <a:solidFill>
                  <a:srgbClr val="4A5A52"/>
                </a:solidFill>
              </a:rPr>
              <a:t>Regina stores on a map, local businesses, and Regina’s blue- and green-cart rules.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OUR SOLUTION</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One app, five screens</a:t>
            </a:r>
            <a:endParaRPr lang="en-US" sz="2600" dirty="0"/>
          </a:p>
        </p:txBody>
      </p:sp>
      <p:sp>
        <p:nvSpPr>
          <p:cNvPr id="5" name="screen-card-1"/>
          <p:cNvSpPr/>
          <p:nvPr/>
        </p:nvSpPr>
        <p:spPr>
          <a:xfrm>
            <a:off x="457200" y="1691640"/>
            <a:ext cx="1554480" cy="2697480"/>
          </a:xfrm>
          <a:prstGeom prst="roundRect">
            <a:avLst>
              <a:gd name="adj" fmla="val 4706"/>
            </a:avLst>
          </a:prstGeom>
          <a:solidFill>
            <a:srgbClr val="FFFFFF"/>
          </a:solidFill>
          <a:ln w="9525">
            <a:solidFill>
              <a:srgbClr val="D9E0DA"/>
            </a:solidFill>
            <a:prstDash val="solid"/>
          </a:ln>
        </p:spPr>
      </p:sp>
      <p:sp>
        <p:nvSpPr>
          <p:cNvPr id="6" name="screen-number-1"/>
          <p:cNvSpPr/>
          <p:nvPr/>
        </p:nvSpPr>
        <p:spPr>
          <a:xfrm>
            <a:off x="658368" y="1920240"/>
            <a:ext cx="502920" cy="502920"/>
          </a:xfrm>
          <a:prstGeom prst="ellipse">
            <a:avLst/>
          </a:prstGeom>
          <a:solidFill>
            <a:srgbClr val="1F7A4D"/>
          </a:solidFill>
          <a:ln w="12700">
            <a:solidFill>
              <a:srgbClr val="1F7A4D"/>
            </a:solidFill>
            <a:prstDash val="solid"/>
          </a:ln>
        </p:spPr>
      </p:sp>
      <p:sp>
        <p:nvSpPr>
          <p:cNvPr id="7" name="Text 4"/>
          <p:cNvSpPr txBox="1"/>
          <p:nvPr/>
        </p:nvSpPr>
        <p:spPr>
          <a:xfrm>
            <a:off x="658368"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658368" y="2606040"/>
            <a:ext cx="1188720" cy="365760"/>
          </a:xfrm>
          <a:prstGeom prst="rect">
            <a:avLst/>
          </a:prstGeom>
          <a:noFill/>
          <a:ln/>
        </p:spPr>
        <p:txBody>
          <a:bodyPr wrap="square" lIns="0" tIns="0" rIns="0" bIns="0" rtlCol="0" anchor="t"/>
          <a:lstStyle/>
          <a:p>
            <a:pPr indent="0" marL="0">
              <a:buNone/>
            </a:pPr>
            <a:r>
              <a:rPr lang="en-US" sz="1600" b="1" dirty="0">
                <a:solidFill>
                  <a:srgbClr val="14302A"/>
                </a:solidFill>
              </a:rPr>
              <a:t>Priorities</a:t>
            </a:r>
            <a:endParaRPr lang="en-US" sz="1600" dirty="0"/>
          </a:p>
        </p:txBody>
      </p:sp>
      <p:sp>
        <p:nvSpPr>
          <p:cNvPr id="9" name="Text 6"/>
          <p:cNvSpPr txBox="1"/>
          <p:nvPr/>
        </p:nvSpPr>
        <p:spPr>
          <a:xfrm>
            <a:off x="658368" y="3017520"/>
            <a:ext cx="1188720" cy="1280160"/>
          </a:xfrm>
          <a:prstGeom prst="rect">
            <a:avLst/>
          </a:prstGeom>
          <a:noFill/>
          <a:ln/>
        </p:spPr>
        <p:txBody>
          <a:bodyPr wrap="square" lIns="0" tIns="0" rIns="0" bIns="0" rtlCol="0" anchor="t"/>
          <a:lstStyle/>
          <a:p>
            <a:pPr indent="0" marL="0">
              <a:buNone/>
            </a:pPr>
            <a:r>
              <a:rPr lang="en-US" sz="1200" dirty="0">
                <a:solidFill>
                  <a:srgbClr val="4A5A52"/>
                </a:solidFill>
              </a:rPr>
              <a:t>7 sliders or a preset set what “ethical” means to you.</a:t>
            </a:r>
            <a:endParaRPr lang="en-US" sz="1200" dirty="0"/>
          </a:p>
        </p:txBody>
      </p:sp>
      <p:sp>
        <p:nvSpPr>
          <p:cNvPr id="10" name="screen-card-2"/>
          <p:cNvSpPr/>
          <p:nvPr/>
        </p:nvSpPr>
        <p:spPr>
          <a:xfrm>
            <a:off x="2121408" y="1691640"/>
            <a:ext cx="1554480" cy="2697480"/>
          </a:xfrm>
          <a:prstGeom prst="roundRect">
            <a:avLst>
              <a:gd name="adj" fmla="val 4706"/>
            </a:avLst>
          </a:prstGeom>
          <a:solidFill>
            <a:srgbClr val="FFFFFF"/>
          </a:solidFill>
          <a:ln w="9525">
            <a:solidFill>
              <a:srgbClr val="D9E0DA"/>
            </a:solidFill>
            <a:prstDash val="solid"/>
          </a:ln>
        </p:spPr>
      </p:sp>
      <p:sp>
        <p:nvSpPr>
          <p:cNvPr id="11" name="screen-number-2"/>
          <p:cNvSpPr/>
          <p:nvPr/>
        </p:nvSpPr>
        <p:spPr>
          <a:xfrm>
            <a:off x="2322576" y="1920240"/>
            <a:ext cx="502920" cy="502920"/>
          </a:xfrm>
          <a:prstGeom prst="ellipse">
            <a:avLst/>
          </a:prstGeom>
          <a:solidFill>
            <a:srgbClr val="1F7A4D"/>
          </a:solidFill>
          <a:ln w="12700">
            <a:solidFill>
              <a:srgbClr val="1F7A4D"/>
            </a:solidFill>
            <a:prstDash val="solid"/>
          </a:ln>
        </p:spPr>
      </p:sp>
      <p:sp>
        <p:nvSpPr>
          <p:cNvPr id="12" name="Text 9"/>
          <p:cNvSpPr txBox="1"/>
          <p:nvPr/>
        </p:nvSpPr>
        <p:spPr>
          <a:xfrm>
            <a:off x="2322576"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0"/>
          <p:cNvSpPr txBox="1"/>
          <p:nvPr/>
        </p:nvSpPr>
        <p:spPr>
          <a:xfrm>
            <a:off x="2322576" y="2606040"/>
            <a:ext cx="1188720" cy="365760"/>
          </a:xfrm>
          <a:prstGeom prst="rect">
            <a:avLst/>
          </a:prstGeom>
          <a:noFill/>
          <a:ln/>
        </p:spPr>
        <p:txBody>
          <a:bodyPr wrap="square" lIns="0" tIns="0" rIns="0" bIns="0" rtlCol="0" anchor="t"/>
          <a:lstStyle/>
          <a:p>
            <a:pPr indent="0" marL="0">
              <a:buNone/>
            </a:pPr>
            <a:r>
              <a:rPr lang="en-US" sz="1600" b="1" dirty="0">
                <a:solidFill>
                  <a:srgbClr val="14302A"/>
                </a:solidFill>
              </a:rPr>
              <a:t>Scan</a:t>
            </a:r>
            <a:endParaRPr lang="en-US" sz="1600" dirty="0"/>
          </a:p>
        </p:txBody>
      </p:sp>
      <p:sp>
        <p:nvSpPr>
          <p:cNvPr id="14" name="Text 11"/>
          <p:cNvSpPr txBox="1"/>
          <p:nvPr/>
        </p:nvSpPr>
        <p:spPr>
          <a:xfrm>
            <a:off x="2322576" y="3017520"/>
            <a:ext cx="1188720" cy="1280160"/>
          </a:xfrm>
          <a:prstGeom prst="rect">
            <a:avLst/>
          </a:prstGeom>
          <a:noFill/>
          <a:ln/>
        </p:spPr>
        <p:txBody>
          <a:bodyPr wrap="square" lIns="0" tIns="0" rIns="0" bIns="0" rtlCol="0" anchor="t"/>
          <a:lstStyle/>
          <a:p>
            <a:pPr indent="0" marL="0">
              <a:buNone/>
            </a:pPr>
            <a:r>
              <a:rPr lang="en-US" sz="1200" dirty="0">
                <a:solidFill>
                  <a:srgbClr val="4A5A52"/>
                </a:solidFill>
              </a:rPr>
              <a:t>Barcode, photo or search. Score, evidence and better options.</a:t>
            </a:r>
            <a:endParaRPr lang="en-US" sz="1200" dirty="0"/>
          </a:p>
        </p:txBody>
      </p:sp>
      <p:sp>
        <p:nvSpPr>
          <p:cNvPr id="15" name="screen-card-3"/>
          <p:cNvSpPr/>
          <p:nvPr/>
        </p:nvSpPr>
        <p:spPr>
          <a:xfrm>
            <a:off x="3785616" y="1691640"/>
            <a:ext cx="1554480" cy="2697480"/>
          </a:xfrm>
          <a:prstGeom prst="roundRect">
            <a:avLst>
              <a:gd name="adj" fmla="val 4706"/>
            </a:avLst>
          </a:prstGeom>
          <a:solidFill>
            <a:srgbClr val="FFFFFF"/>
          </a:solidFill>
          <a:ln w="9525">
            <a:solidFill>
              <a:srgbClr val="D9E0DA"/>
            </a:solidFill>
            <a:prstDash val="solid"/>
          </a:ln>
        </p:spPr>
      </p:sp>
      <p:sp>
        <p:nvSpPr>
          <p:cNvPr id="16" name="screen-number-3"/>
          <p:cNvSpPr/>
          <p:nvPr/>
        </p:nvSpPr>
        <p:spPr>
          <a:xfrm>
            <a:off x="3986784" y="1920240"/>
            <a:ext cx="502920" cy="502920"/>
          </a:xfrm>
          <a:prstGeom prst="ellipse">
            <a:avLst/>
          </a:prstGeom>
          <a:solidFill>
            <a:srgbClr val="1F7A4D"/>
          </a:solidFill>
          <a:ln w="12700">
            <a:solidFill>
              <a:srgbClr val="1F7A4D"/>
            </a:solidFill>
            <a:prstDash val="solid"/>
          </a:ln>
        </p:spPr>
      </p:sp>
      <p:sp>
        <p:nvSpPr>
          <p:cNvPr id="17" name="Text 14"/>
          <p:cNvSpPr txBox="1"/>
          <p:nvPr/>
        </p:nvSpPr>
        <p:spPr>
          <a:xfrm>
            <a:off x="3986784"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5"/>
          <p:cNvSpPr txBox="1"/>
          <p:nvPr/>
        </p:nvSpPr>
        <p:spPr>
          <a:xfrm>
            <a:off x="3986784" y="2606040"/>
            <a:ext cx="1188720" cy="365760"/>
          </a:xfrm>
          <a:prstGeom prst="rect">
            <a:avLst/>
          </a:prstGeom>
          <a:noFill/>
          <a:ln/>
        </p:spPr>
        <p:txBody>
          <a:bodyPr wrap="square" lIns="0" tIns="0" rIns="0" bIns="0" rtlCol="0" anchor="t"/>
          <a:lstStyle/>
          <a:p>
            <a:pPr indent="0" marL="0">
              <a:buNone/>
            </a:pPr>
            <a:r>
              <a:rPr lang="en-US" sz="1600" b="1" dirty="0">
                <a:solidFill>
                  <a:srgbClr val="14302A"/>
                </a:solidFill>
              </a:rPr>
              <a:t>Compare</a:t>
            </a:r>
            <a:endParaRPr lang="en-US" sz="1600" dirty="0"/>
          </a:p>
        </p:txBody>
      </p:sp>
      <p:sp>
        <p:nvSpPr>
          <p:cNvPr id="19" name="Text 16"/>
          <p:cNvSpPr txBox="1"/>
          <p:nvPr/>
        </p:nvSpPr>
        <p:spPr>
          <a:xfrm>
            <a:off x="3986784" y="3017520"/>
            <a:ext cx="1188720" cy="1280160"/>
          </a:xfrm>
          <a:prstGeom prst="rect">
            <a:avLst/>
          </a:prstGeom>
          <a:noFill/>
          <a:ln/>
        </p:spPr>
        <p:txBody>
          <a:bodyPr wrap="square" lIns="0" tIns="0" rIns="0" bIns="0" rtlCol="0" anchor="t"/>
          <a:lstStyle/>
          <a:p>
            <a:pPr indent="0" marL="0">
              <a:buNone/>
            </a:pPr>
            <a:r>
              <a:rPr lang="en-US" sz="1200" dirty="0">
                <a:solidFill>
                  <a:srgbClr val="4A5A52"/>
                </a:solidFill>
              </a:rPr>
              <a:t>A whole category side by side, sorted by your score.</a:t>
            </a:r>
            <a:endParaRPr lang="en-US" sz="1200" dirty="0"/>
          </a:p>
        </p:txBody>
      </p:sp>
      <p:sp>
        <p:nvSpPr>
          <p:cNvPr id="20" name="screen-card-4"/>
          <p:cNvSpPr/>
          <p:nvPr/>
        </p:nvSpPr>
        <p:spPr>
          <a:xfrm>
            <a:off x="5449824" y="1691640"/>
            <a:ext cx="1554480" cy="2697480"/>
          </a:xfrm>
          <a:prstGeom prst="roundRect">
            <a:avLst>
              <a:gd name="adj" fmla="val 4706"/>
            </a:avLst>
          </a:prstGeom>
          <a:solidFill>
            <a:srgbClr val="FFFFFF"/>
          </a:solidFill>
          <a:ln w="9525">
            <a:solidFill>
              <a:srgbClr val="D9E0DA"/>
            </a:solidFill>
            <a:prstDash val="solid"/>
          </a:ln>
        </p:spPr>
      </p:sp>
      <p:sp>
        <p:nvSpPr>
          <p:cNvPr id="21" name="screen-number-4"/>
          <p:cNvSpPr/>
          <p:nvPr/>
        </p:nvSpPr>
        <p:spPr>
          <a:xfrm>
            <a:off x="5650992" y="1920240"/>
            <a:ext cx="502920" cy="502920"/>
          </a:xfrm>
          <a:prstGeom prst="ellipse">
            <a:avLst/>
          </a:prstGeom>
          <a:solidFill>
            <a:srgbClr val="1F7A4D"/>
          </a:solidFill>
          <a:ln w="12700">
            <a:solidFill>
              <a:srgbClr val="1F7A4D"/>
            </a:solidFill>
            <a:prstDash val="solid"/>
          </a:ln>
        </p:spPr>
      </p:sp>
      <p:sp>
        <p:nvSpPr>
          <p:cNvPr id="22" name="Text 19"/>
          <p:cNvSpPr txBox="1"/>
          <p:nvPr/>
        </p:nvSpPr>
        <p:spPr>
          <a:xfrm>
            <a:off x="5650992"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Text 20"/>
          <p:cNvSpPr txBox="1"/>
          <p:nvPr/>
        </p:nvSpPr>
        <p:spPr>
          <a:xfrm>
            <a:off x="5650992" y="2606040"/>
            <a:ext cx="1188720" cy="365760"/>
          </a:xfrm>
          <a:prstGeom prst="rect">
            <a:avLst/>
          </a:prstGeom>
          <a:noFill/>
          <a:ln/>
        </p:spPr>
        <p:txBody>
          <a:bodyPr wrap="square" lIns="0" tIns="0" rIns="0" bIns="0" rtlCol="0" anchor="t"/>
          <a:lstStyle/>
          <a:p>
            <a:pPr indent="0" marL="0">
              <a:buNone/>
            </a:pPr>
            <a:r>
              <a:rPr lang="en-US" sz="1600" b="1" dirty="0">
                <a:solidFill>
                  <a:srgbClr val="14302A"/>
                </a:solidFill>
              </a:rPr>
              <a:t>Ask</a:t>
            </a:r>
            <a:endParaRPr lang="en-US" sz="1600" dirty="0"/>
          </a:p>
        </p:txBody>
      </p:sp>
      <p:sp>
        <p:nvSpPr>
          <p:cNvPr id="24" name="Text 21"/>
          <p:cNvSpPr txBox="1"/>
          <p:nvPr/>
        </p:nvSpPr>
        <p:spPr>
          <a:xfrm>
            <a:off x="5650992" y="3017520"/>
            <a:ext cx="1188720" cy="1280160"/>
          </a:xfrm>
          <a:prstGeom prst="rect">
            <a:avLst/>
          </a:prstGeom>
          <a:noFill/>
          <a:ln/>
        </p:spPr>
        <p:txBody>
          <a:bodyPr wrap="square" lIns="0" tIns="0" rIns="0" bIns="0" rtlCol="0" anchor="t"/>
          <a:lstStyle/>
          <a:p>
            <a:pPr indent="0" marL="0">
              <a:buNone/>
            </a:pPr>
            <a:r>
              <a:rPr lang="en-US" sz="1200" dirty="0">
                <a:solidFill>
                  <a:srgbClr val="4A5A52"/>
                </a:solidFill>
              </a:rPr>
              <a:t>Plain-language questions, answered from our data only.</a:t>
            </a:r>
            <a:endParaRPr lang="en-US" sz="1200" dirty="0"/>
          </a:p>
        </p:txBody>
      </p:sp>
      <p:sp>
        <p:nvSpPr>
          <p:cNvPr id="25" name="screen-card-5"/>
          <p:cNvSpPr/>
          <p:nvPr/>
        </p:nvSpPr>
        <p:spPr>
          <a:xfrm>
            <a:off x="7114032" y="1691640"/>
            <a:ext cx="1554480" cy="2697480"/>
          </a:xfrm>
          <a:prstGeom prst="roundRect">
            <a:avLst>
              <a:gd name="adj" fmla="val 4706"/>
            </a:avLst>
          </a:prstGeom>
          <a:solidFill>
            <a:srgbClr val="FFFFFF"/>
          </a:solidFill>
          <a:ln w="9525">
            <a:solidFill>
              <a:srgbClr val="D9E0DA"/>
            </a:solidFill>
            <a:prstDash val="solid"/>
          </a:ln>
        </p:spPr>
      </p:sp>
      <p:sp>
        <p:nvSpPr>
          <p:cNvPr id="26" name="screen-number-5"/>
          <p:cNvSpPr/>
          <p:nvPr/>
        </p:nvSpPr>
        <p:spPr>
          <a:xfrm>
            <a:off x="7315200" y="1920240"/>
            <a:ext cx="502920" cy="502920"/>
          </a:xfrm>
          <a:prstGeom prst="ellipse">
            <a:avLst/>
          </a:prstGeom>
          <a:solidFill>
            <a:srgbClr val="1F7A4D"/>
          </a:solidFill>
          <a:ln w="12700">
            <a:solidFill>
              <a:srgbClr val="1F7A4D"/>
            </a:solidFill>
            <a:prstDash val="solid"/>
          </a:ln>
        </p:spPr>
      </p:sp>
      <p:sp>
        <p:nvSpPr>
          <p:cNvPr id="27" name="Text 24"/>
          <p:cNvSpPr txBox="1"/>
          <p:nvPr/>
        </p:nvSpPr>
        <p:spPr>
          <a:xfrm>
            <a:off x="731520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Text 25"/>
          <p:cNvSpPr txBox="1"/>
          <p:nvPr/>
        </p:nvSpPr>
        <p:spPr>
          <a:xfrm>
            <a:off x="7315200" y="2606040"/>
            <a:ext cx="1188720" cy="365760"/>
          </a:xfrm>
          <a:prstGeom prst="rect">
            <a:avLst/>
          </a:prstGeom>
          <a:noFill/>
          <a:ln/>
        </p:spPr>
        <p:txBody>
          <a:bodyPr wrap="square" lIns="0" tIns="0" rIns="0" bIns="0" rtlCol="0" anchor="t"/>
          <a:lstStyle/>
          <a:p>
            <a:pPr indent="0" marL="0">
              <a:buNone/>
            </a:pPr>
            <a:r>
              <a:rPr lang="en-US" sz="1600" b="1" dirty="0">
                <a:solidFill>
                  <a:srgbClr val="14302A"/>
                </a:solidFill>
              </a:rPr>
              <a:t>Nearby</a:t>
            </a:r>
            <a:endParaRPr lang="en-US" sz="1600" dirty="0"/>
          </a:p>
        </p:txBody>
      </p:sp>
      <p:sp>
        <p:nvSpPr>
          <p:cNvPr id="29" name="Text 26"/>
          <p:cNvSpPr txBox="1"/>
          <p:nvPr/>
        </p:nvSpPr>
        <p:spPr>
          <a:xfrm>
            <a:off x="7315200" y="3017520"/>
            <a:ext cx="1188720" cy="1280160"/>
          </a:xfrm>
          <a:prstGeom prst="rect">
            <a:avLst/>
          </a:prstGeom>
          <a:noFill/>
          <a:ln/>
        </p:spPr>
        <p:txBody>
          <a:bodyPr wrap="square" lIns="0" tIns="0" rIns="0" bIns="0" rtlCol="0" anchor="t"/>
          <a:lstStyle/>
          <a:p>
            <a:pPr indent="0" marL="0">
              <a:buNone/>
            </a:pPr>
            <a:r>
              <a:rPr lang="en-US" sz="1200" dirty="0">
                <a:solidFill>
                  <a:srgbClr val="4A5A52"/>
                </a:solidFill>
              </a:rPr>
              <a:t>Regina stores, distances and the best picks at each.</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8FD4AE"/>
                </a:solidFill>
              </a:rPr>
              <a:t>HOW WE STAY HONEST</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F6F7F2"/>
                </a:solidFill>
                <a:latin typeface="Cambria" pitchFamily="34" charset="0"/>
                <a:ea typeface="Cambria" pitchFamily="34" charset="-122"/>
                <a:cs typeface="Cambria" pitchFamily="34" charset="-120"/>
              </a:rPr>
              <a:t>Every fact shows its evidence, and unknown never counts as bad</a:t>
            </a:r>
            <a:endParaRPr lang="en-US" sz="2600" dirty="0"/>
          </a:p>
        </p:txBody>
      </p:sp>
      <p:sp>
        <p:nvSpPr>
          <p:cNvPr id="5" name="evidence-card-1"/>
          <p:cNvSpPr/>
          <p:nvPr/>
        </p:nvSpPr>
        <p:spPr>
          <a:xfrm>
            <a:off x="457200" y="1691640"/>
            <a:ext cx="2615184" cy="2011680"/>
          </a:xfrm>
          <a:prstGeom prst="roundRect">
            <a:avLst>
              <a:gd name="adj" fmla="val 3636"/>
            </a:avLst>
          </a:prstGeom>
          <a:solidFill>
            <a:srgbClr val="1D4038"/>
          </a:solidFill>
          <a:ln w="9525">
            <a:solidFill>
              <a:srgbClr val="1D4038"/>
            </a:solidFill>
            <a:prstDash val="solid"/>
          </a:ln>
        </p:spPr>
      </p:sp>
      <p:sp>
        <p:nvSpPr>
          <p:cNvPr id="6" name="evidence-pill-1"/>
          <p:cNvSpPr/>
          <p:nvPr/>
        </p:nvSpPr>
        <p:spPr>
          <a:xfrm>
            <a:off x="731520" y="1965960"/>
            <a:ext cx="1325880" cy="411480"/>
          </a:xfrm>
          <a:prstGeom prst="roundRect">
            <a:avLst>
              <a:gd name="adj" fmla="val 48889"/>
            </a:avLst>
          </a:prstGeom>
          <a:solidFill>
            <a:srgbClr val="8FD4AE"/>
          </a:solidFill>
          <a:ln w="12700">
            <a:solidFill>
              <a:srgbClr val="8FD4AE"/>
            </a:solidFill>
            <a:prstDash val="solid"/>
          </a:ln>
        </p:spPr>
      </p:sp>
      <p:sp>
        <p:nvSpPr>
          <p:cNvPr id="7" name="Text 4"/>
          <p:cNvSpPr txBox="1"/>
          <p:nvPr/>
        </p:nvSpPr>
        <p:spPr>
          <a:xfrm>
            <a:off x="731520" y="1965960"/>
            <a:ext cx="1325880" cy="411480"/>
          </a:xfrm>
          <a:prstGeom prst="rect">
            <a:avLst/>
          </a:prstGeom>
          <a:noFill/>
          <a:ln/>
        </p:spPr>
        <p:txBody>
          <a:bodyPr wrap="square" lIns="0" tIns="0" rIns="0" bIns="0" rtlCol="0" anchor="ctr"/>
          <a:lstStyle/>
          <a:p>
            <a:pPr algn="ctr" indent="0" marL="0">
              <a:buNone/>
            </a:pPr>
            <a:r>
              <a:rPr lang="en-US" sz="1400" b="1" dirty="0">
                <a:solidFill>
                  <a:srgbClr val="14302A"/>
                </a:solidFill>
              </a:rPr>
              <a:t>Verified</a:t>
            </a:r>
            <a:endParaRPr lang="en-US" sz="1400" dirty="0"/>
          </a:p>
        </p:txBody>
      </p:sp>
      <p:sp>
        <p:nvSpPr>
          <p:cNvPr id="8" name="Text 5"/>
          <p:cNvSpPr txBox="1"/>
          <p:nvPr/>
        </p:nvSpPr>
        <p:spPr>
          <a:xfrm>
            <a:off x="731520" y="2560320"/>
            <a:ext cx="2103120" cy="1005840"/>
          </a:xfrm>
          <a:prstGeom prst="rect">
            <a:avLst/>
          </a:prstGeom>
          <a:noFill/>
          <a:ln/>
        </p:spPr>
        <p:txBody>
          <a:bodyPr wrap="square" lIns="0" tIns="0" rIns="0" bIns="0" rtlCol="0" anchor="t"/>
          <a:lstStyle/>
          <a:p>
            <a:pPr indent="0" marL="0">
              <a:buNone/>
            </a:pPr>
            <a:r>
              <a:rPr lang="en-US" sz="1400" dirty="0">
                <a:solidFill>
                  <a:srgbClr val="C9DDD2"/>
                </a:solidFill>
              </a:rPr>
              <a:t>Confirmed by a certifier, government or registry. Counts fully.</a:t>
            </a:r>
            <a:endParaRPr lang="en-US" sz="1400" dirty="0"/>
          </a:p>
        </p:txBody>
      </p:sp>
      <p:sp>
        <p:nvSpPr>
          <p:cNvPr id="9" name="evidence-card-2"/>
          <p:cNvSpPr/>
          <p:nvPr/>
        </p:nvSpPr>
        <p:spPr>
          <a:xfrm>
            <a:off x="3264408" y="1691640"/>
            <a:ext cx="2615184" cy="2011680"/>
          </a:xfrm>
          <a:prstGeom prst="roundRect">
            <a:avLst>
              <a:gd name="adj" fmla="val 3636"/>
            </a:avLst>
          </a:prstGeom>
          <a:solidFill>
            <a:srgbClr val="1D4038"/>
          </a:solidFill>
          <a:ln w="9525">
            <a:solidFill>
              <a:srgbClr val="1D4038"/>
            </a:solidFill>
            <a:prstDash val="solid"/>
          </a:ln>
        </p:spPr>
      </p:sp>
      <p:sp>
        <p:nvSpPr>
          <p:cNvPr id="10" name="evidence-pill-2"/>
          <p:cNvSpPr/>
          <p:nvPr/>
        </p:nvSpPr>
        <p:spPr>
          <a:xfrm>
            <a:off x="3538728" y="1965960"/>
            <a:ext cx="1325880" cy="411480"/>
          </a:xfrm>
          <a:prstGeom prst="roundRect">
            <a:avLst>
              <a:gd name="adj" fmla="val 48889"/>
            </a:avLst>
          </a:prstGeom>
          <a:solidFill>
            <a:srgbClr val="F2C27B"/>
          </a:solidFill>
          <a:ln w="12700">
            <a:solidFill>
              <a:srgbClr val="F2C27B"/>
            </a:solidFill>
            <a:prstDash val="solid"/>
          </a:ln>
        </p:spPr>
      </p:sp>
      <p:sp>
        <p:nvSpPr>
          <p:cNvPr id="11" name="Text 8"/>
          <p:cNvSpPr txBox="1"/>
          <p:nvPr/>
        </p:nvSpPr>
        <p:spPr>
          <a:xfrm>
            <a:off x="3538728" y="1965960"/>
            <a:ext cx="1325880" cy="411480"/>
          </a:xfrm>
          <a:prstGeom prst="rect">
            <a:avLst/>
          </a:prstGeom>
          <a:noFill/>
          <a:ln/>
        </p:spPr>
        <p:txBody>
          <a:bodyPr wrap="square" lIns="0" tIns="0" rIns="0" bIns="0" rtlCol="0" anchor="ctr"/>
          <a:lstStyle/>
          <a:p>
            <a:pPr algn="ctr" indent="0" marL="0">
              <a:buNone/>
            </a:pPr>
            <a:r>
              <a:rPr lang="en-US" sz="1400" b="1" dirty="0">
                <a:solidFill>
                  <a:srgbClr val="14302A"/>
                </a:solidFill>
              </a:rPr>
              <a:t>Claimed</a:t>
            </a:r>
            <a:endParaRPr lang="en-US" sz="1400" dirty="0"/>
          </a:p>
        </p:txBody>
      </p:sp>
      <p:sp>
        <p:nvSpPr>
          <p:cNvPr id="12" name="Text 9"/>
          <p:cNvSpPr txBox="1"/>
          <p:nvPr/>
        </p:nvSpPr>
        <p:spPr>
          <a:xfrm>
            <a:off x="3538728" y="2560320"/>
            <a:ext cx="2103120" cy="1005840"/>
          </a:xfrm>
          <a:prstGeom prst="rect">
            <a:avLst/>
          </a:prstGeom>
          <a:noFill/>
          <a:ln/>
        </p:spPr>
        <p:txBody>
          <a:bodyPr wrap="square" lIns="0" tIns="0" rIns="0" bIns="0" rtlCol="0" anchor="t"/>
          <a:lstStyle/>
          <a:p>
            <a:pPr indent="0" marL="0">
              <a:buNone/>
            </a:pPr>
            <a:r>
              <a:rPr lang="en-US" sz="1400" dirty="0">
                <a:solidFill>
                  <a:srgbClr val="C9DDD2"/>
                </a:solidFill>
              </a:rPr>
              <a:t>Said by the company or a community database. Counts at 60%.</a:t>
            </a:r>
            <a:endParaRPr lang="en-US" sz="1400" dirty="0"/>
          </a:p>
        </p:txBody>
      </p:sp>
      <p:sp>
        <p:nvSpPr>
          <p:cNvPr id="13" name="evidence-card-3"/>
          <p:cNvSpPr/>
          <p:nvPr/>
        </p:nvSpPr>
        <p:spPr>
          <a:xfrm>
            <a:off x="6071616" y="1691640"/>
            <a:ext cx="2615184" cy="2011680"/>
          </a:xfrm>
          <a:prstGeom prst="roundRect">
            <a:avLst>
              <a:gd name="adj" fmla="val 3636"/>
            </a:avLst>
          </a:prstGeom>
          <a:solidFill>
            <a:srgbClr val="1D4038"/>
          </a:solidFill>
          <a:ln w="9525">
            <a:solidFill>
              <a:srgbClr val="1D4038"/>
            </a:solidFill>
            <a:prstDash val="solid"/>
          </a:ln>
        </p:spPr>
      </p:sp>
      <p:sp>
        <p:nvSpPr>
          <p:cNvPr id="14" name="evidence-pill-3"/>
          <p:cNvSpPr/>
          <p:nvPr/>
        </p:nvSpPr>
        <p:spPr>
          <a:xfrm>
            <a:off x="6345936" y="1965960"/>
            <a:ext cx="1325880" cy="411480"/>
          </a:xfrm>
          <a:prstGeom prst="roundRect">
            <a:avLst>
              <a:gd name="adj" fmla="val 48889"/>
            </a:avLst>
          </a:prstGeom>
          <a:solidFill>
            <a:srgbClr val="C9D0CC"/>
          </a:solidFill>
          <a:ln w="12700">
            <a:solidFill>
              <a:srgbClr val="C9D0CC"/>
            </a:solidFill>
            <a:prstDash val="solid"/>
          </a:ln>
        </p:spPr>
      </p:sp>
      <p:sp>
        <p:nvSpPr>
          <p:cNvPr id="15" name="Text 12"/>
          <p:cNvSpPr txBox="1"/>
          <p:nvPr/>
        </p:nvSpPr>
        <p:spPr>
          <a:xfrm>
            <a:off x="6345936" y="1965960"/>
            <a:ext cx="1325880" cy="411480"/>
          </a:xfrm>
          <a:prstGeom prst="rect">
            <a:avLst/>
          </a:prstGeom>
          <a:noFill/>
          <a:ln/>
        </p:spPr>
        <p:txBody>
          <a:bodyPr wrap="square" lIns="0" tIns="0" rIns="0" bIns="0" rtlCol="0" anchor="ctr"/>
          <a:lstStyle/>
          <a:p>
            <a:pPr algn="ctr" indent="0" marL="0">
              <a:buNone/>
            </a:pPr>
            <a:r>
              <a:rPr lang="en-US" sz="1400" b="1" dirty="0">
                <a:solidFill>
                  <a:srgbClr val="14302A"/>
                </a:solidFill>
              </a:rPr>
              <a:t>Unknown</a:t>
            </a:r>
            <a:endParaRPr lang="en-US" sz="1400" dirty="0"/>
          </a:p>
        </p:txBody>
      </p:sp>
      <p:sp>
        <p:nvSpPr>
          <p:cNvPr id="16" name="Text 13"/>
          <p:cNvSpPr txBox="1"/>
          <p:nvPr/>
        </p:nvSpPr>
        <p:spPr>
          <a:xfrm>
            <a:off x="6345936" y="2560320"/>
            <a:ext cx="2103120" cy="1005840"/>
          </a:xfrm>
          <a:prstGeom prst="rect">
            <a:avLst/>
          </a:prstGeom>
          <a:noFill/>
          <a:ln/>
        </p:spPr>
        <p:txBody>
          <a:bodyPr wrap="square" lIns="0" tIns="0" rIns="0" bIns="0" rtlCol="0" anchor="t"/>
          <a:lstStyle/>
          <a:p>
            <a:pPr indent="0" marL="0">
              <a:buNone/>
            </a:pPr>
            <a:r>
              <a:rPr lang="en-US" sz="1400" dirty="0">
                <a:solidFill>
                  <a:srgbClr val="C9DDD2"/>
                </a:solidFill>
              </a:rPr>
              <a:t>Left out of the score. Lowers the confidence meter instead.</a:t>
            </a:r>
            <a:endParaRPr lang="en-US" sz="1400" dirty="0"/>
          </a:p>
        </p:txBody>
      </p:sp>
      <p:sp>
        <p:nvSpPr>
          <p:cNvPr id="17" name="Text 14"/>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600" dirty="0">
                <a:solidFill>
                  <a:srgbClr val="F6F7F2"/>
                </a:solidFill>
              </a:rPr>
              <a:t>Every product gets a score </a:t>
            </a:r>
            <a:pPr indent="0" marL="0">
              <a:buNone/>
            </a:pPr>
            <a:r>
              <a:rPr lang="en-US" sz="1600" b="1" dirty="0">
                <a:solidFill>
                  <a:srgbClr val="F6F7F2"/>
                </a:solidFill>
              </a:rPr>
              <a:t>and</a:t>
            </a:r>
            <a:pPr indent="0" marL="0">
              <a:buNone/>
            </a:pPr>
            <a:r>
              <a:rPr lang="en-US" sz="1600" dirty="0">
                <a:solidFill>
                  <a:srgbClr val="F6F7F2"/>
                </a:solidFill>
              </a:rPr>
              <a:t> a confidence level. Below 40% known, it is flagged “Limited data”.</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89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BUY CANADIAN, PRECISELY</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“Canadian” is four different things, so we show four tiers</a:t>
            </a:r>
            <a:endParaRPr lang="en-US" sz="2600" dirty="0"/>
          </a:p>
        </p:txBody>
      </p:sp>
      <p:graphicFrame>
        <p:nvGraphicFramePr>
          <p:cNvPr id="7" name="tiers-table"/>
          <p:cNvGraphicFramePr>
            <a:graphicFrameLocks noGrp="1"/>
          </p:cNvGraphicFramePr>
          <p:nvPr>
            <p:extLst>
              <p:ext uri="{D42A27DB-BD31-4B8C-83A1-F6EECF244321}">
                <p14:modId xmlns:p14="http://schemas.microsoft.com/office/powerpoint/2010/main" val="1579011935"/>
              </p:ext>
            </p:extLst>
          </p:nvPr>
        </p:nvGraphicFramePr>
        <p:xfrm>
          <a:off x="457200" y="1645920"/>
          <a:ext cx="8229600" cy="914400"/>
        </p:xfrm>
        <a:graphic>
          <a:graphicData uri="http://schemas.openxmlformats.org/drawingml/2006/table">
            <a:tbl>
              <a:tblPr/>
              <a:tblGrid>
                <a:gridCol w="2377440"/>
                <a:gridCol w="5852160"/>
              </a:tblGrid>
              <a:tr h="384048">
                <a:tc>
                  <a:txBody>
                    <a:bodyPr/>
                    <a:lstStyle/>
                    <a:p>
                      <a:pPr indent="0" marL="0">
                        <a:buNone/>
                      </a:pPr>
                      <a:r>
                        <a:rPr lang="en-US" sz="1400" b="1" dirty="0">
                          <a:solidFill>
                            <a:srgbClr val="FFFFFF"/>
                          </a:solidFill>
                        </a:rPr>
                        <a:t>Tier</a:t>
                      </a:r>
                      <a:endParaRPr lang="en-US" sz="14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14302A"/>
                    </a:solidFill>
                  </a:tcPr>
                </a:tc>
                <a:tc>
                  <a:txBody>
                    <a:bodyPr/>
                    <a:lstStyle/>
                    <a:p>
                      <a:pPr indent="0" marL="0">
                        <a:buNone/>
                      </a:pPr>
                      <a:r>
                        <a:rPr lang="en-US" sz="1400" b="1" dirty="0">
                          <a:solidFill>
                            <a:srgbClr val="FFFFFF"/>
                          </a:solidFill>
                        </a:rPr>
                        <a:t>What it means</a:t>
                      </a:r>
                      <a:endParaRPr lang="en-US" sz="14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14302A"/>
                    </a:solidFill>
                  </a:tcPr>
                </a:tc>
              </a:tr>
              <a:tr h="384048">
                <a:tc>
                  <a:txBody>
                    <a:bodyPr/>
                    <a:lstStyle/>
                    <a:p>
                      <a:pPr indent="0" marL="0">
                        <a:buNone/>
                      </a:pPr>
                      <a:r>
                        <a:rPr lang="en-US" sz="1300" b="1" dirty="0">
                          <a:solidFill>
                            <a:srgbClr val="14302A"/>
                          </a:solidFill>
                        </a:rPr>
                        <a:t>Product of Canada</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c>
                  <a:txBody>
                    <a:bodyPr/>
                    <a:lstStyle/>
                    <a:p>
                      <a:pPr indent="0" marL="0">
                        <a:buNone/>
                      </a:pPr>
                      <a:r>
                        <a:rPr lang="en-US" sz="1300" dirty="0">
                          <a:solidFill>
                            <a:srgbClr val="14302A"/>
                          </a:solidFill>
                        </a:rPr>
                        <a:t>Nearly all ingredients, processing and labour are Canadian</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4302A"/>
                          </a:solidFill>
                        </a:rPr>
                        <a:t>Made in Canada</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300" dirty="0">
                          <a:solidFill>
                            <a:srgbClr val="14302A"/>
                          </a:solidFill>
                        </a:rPr>
                        <a:t>Made here, but some ingredients are imported (peanuts, cocoa, coffee)</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300" b="1" dirty="0">
                          <a:solidFill>
                            <a:srgbClr val="14302A"/>
                          </a:solidFill>
                        </a:rPr>
                        <a:t>Canadian-owned</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c>
                  <a:txBody>
                    <a:bodyPr/>
                    <a:lstStyle/>
                    <a:p>
                      <a:pPr indent="0" marL="0">
                        <a:buNone/>
                      </a:pPr>
                      <a:r>
                        <a:rPr lang="en-US" sz="1300" dirty="0">
                          <a:solidFill>
                            <a:srgbClr val="14302A"/>
                          </a:solidFill>
                        </a:rPr>
                        <a:t>A Canadian company, possibly making the product elsewhere</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rgbClr val="14302A"/>
                          </a:solidFill>
                        </a:rPr>
                        <a:t>Imported</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300" dirty="0">
                          <a:solidFill>
                            <a:srgbClr val="14302A"/>
                          </a:solidFill>
                        </a:rPr>
                        <a:t>Made outside Canada by a non-Canadian company</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r>
            </a:tbl>
          </a:graphicData>
        </a:graphic>
      </p:graphicFrame>
      <p:sp>
        <p:nvSpPr>
          <p:cNvPr id="6" name="tiers-example"/>
          <p:cNvSpPr/>
          <p:nvPr/>
        </p:nvSpPr>
        <p:spPr>
          <a:xfrm>
            <a:off x="457200" y="3794760"/>
            <a:ext cx="8229600" cy="685800"/>
          </a:xfrm>
          <a:prstGeom prst="roundRect">
            <a:avLst>
              <a:gd name="adj" fmla="val 10667"/>
            </a:avLst>
          </a:prstGeom>
          <a:solidFill>
            <a:srgbClr val="E7EFE9"/>
          </a:solidFill>
          <a:ln w="9525">
            <a:solidFill>
              <a:srgbClr val="E7EFE9"/>
            </a:solidFill>
            <a:prstDash val="solid"/>
          </a:ln>
        </p:spPr>
      </p:sp>
      <p:sp>
        <p:nvSpPr>
          <p:cNvPr id="7" name="Text 3"/>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1400" dirty="0">
                <a:solidFill>
                  <a:srgbClr val="14302A"/>
                </a:solidFill>
              </a:rPr>
              <a:t>Example from our data: a honey labelled “Blend of Canada and Argentina” scores 30 on Buy Canadian, not 100.</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THE SCORING ENGINE</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Your weights × how much we trust each fact</a:t>
            </a:r>
            <a:endParaRPr lang="en-US" sz="2600" dirty="0"/>
          </a:p>
        </p:txBody>
      </p:sp>
      <p:sp>
        <p:nvSpPr>
          <p:cNvPr id="5" name="formula-box"/>
          <p:cNvSpPr/>
          <p:nvPr/>
        </p:nvSpPr>
        <p:spPr>
          <a:xfrm>
            <a:off x="457200" y="1645920"/>
            <a:ext cx="4846320" cy="685800"/>
          </a:xfrm>
          <a:prstGeom prst="roundRect">
            <a:avLst>
              <a:gd name="adj" fmla="val 10667"/>
            </a:avLst>
          </a:prstGeom>
          <a:solidFill>
            <a:srgbClr val="FFFFFF"/>
          </a:solidFill>
          <a:ln w="9525">
            <a:solidFill>
              <a:srgbClr val="D9E0DA"/>
            </a:solidFill>
            <a:prstDash val="solid"/>
          </a:ln>
        </p:spPr>
      </p:sp>
      <p:sp>
        <p:nvSpPr>
          <p:cNvPr id="6" name="Text 3"/>
          <p:cNvSpPr txBox="1"/>
          <p:nvPr/>
        </p:nvSpPr>
        <p:spPr>
          <a:xfrm>
            <a:off x="640080" y="1645920"/>
            <a:ext cx="4572000" cy="685800"/>
          </a:xfrm>
          <a:prstGeom prst="rect">
            <a:avLst/>
          </a:prstGeom>
          <a:noFill/>
          <a:ln/>
        </p:spPr>
        <p:txBody>
          <a:bodyPr wrap="square" lIns="0" tIns="0" rIns="0" bIns="0" rtlCol="0" anchor="ctr"/>
          <a:lstStyle/>
          <a:p>
            <a:pPr indent="0" marL="0">
              <a:buNone/>
            </a:pPr>
            <a:r>
              <a:rPr lang="en-US" sz="1500" b="1" dirty="0">
                <a:solidFill>
                  <a:srgbClr val="14302A"/>
                </a:solidFill>
              </a:rPr>
              <a:t>score = Σ(weight × trust × fact) ÷ Σ(weight × trust)</a:t>
            </a:r>
            <a:endParaRPr lang="en-US" sz="1500" dirty="0"/>
          </a:p>
        </p:txBody>
      </p:sp>
      <p:sp>
        <p:nvSpPr>
          <p:cNvPr id="7" name="Text 4"/>
          <p:cNvSpPr txBox="1"/>
          <p:nvPr/>
        </p:nvSpPr>
        <p:spPr>
          <a:xfrm>
            <a:off x="457200" y="2560320"/>
            <a:ext cx="484632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A5A52"/>
                </a:solidFill>
              </a:rPr>
              <a:t>Weight: 0 to 5, set by you</a:t>
            </a:r>
            <a:endParaRPr lang="en-US" sz="1400" dirty="0"/>
          </a:p>
          <a:p>
            <a:pPr marL="342900" indent="-342900">
              <a:spcAft>
                <a:spcPts val="600"/>
              </a:spcAft>
              <a:buSzPct val="100000"/>
              <a:buChar char="•"/>
            </a:pPr>
            <a:r>
              <a:rPr lang="en-US" sz="1400" dirty="0">
                <a:solidFill>
                  <a:srgbClr val="4A5A52"/>
                </a:solidFill>
              </a:rPr>
              <a:t>Trust: verified 1.0, claimed 0.6, unknown left out</a:t>
            </a:r>
            <a:endParaRPr lang="en-US" sz="1400" dirty="0"/>
          </a:p>
          <a:p>
            <a:pPr marL="342900" indent="-342900">
              <a:spcAft>
                <a:spcPts val="600"/>
              </a:spcAft>
              <a:buSzPct val="100000"/>
              <a:buChar char="•"/>
            </a:pPr>
            <a:r>
              <a:rPr lang="en-US" sz="1400" dirty="0">
                <a:solidFill>
                  <a:srgbClr val="4A5A52"/>
                </a:solidFill>
              </a:rPr>
              <a:t>Affordability: cheapest in its category = 100</a:t>
            </a:r>
            <a:endParaRPr lang="en-US" sz="1400" dirty="0"/>
          </a:p>
          <a:p>
            <a:pPr marL="342900" indent="-342900">
              <a:spcAft>
                <a:spcPts val="600"/>
              </a:spcAft>
              <a:buSzPct val="100000"/>
              <a:buChar char="•"/>
            </a:pPr>
            <a:r>
              <a:rPr lang="en-US" sz="1400" dirty="0">
                <a:solidFill>
                  <a:srgbClr val="4A5A52"/>
                </a:solidFill>
              </a:rPr>
              <a:t>Rankings favour products we know more about</a:t>
            </a:r>
            <a:endParaRPr lang="en-US" sz="1400" dirty="0"/>
          </a:p>
        </p:txBody>
      </p:sp>
      <p:sp>
        <p:nvSpPr>
          <p:cNvPr id="8" name="example-card"/>
          <p:cNvSpPr/>
          <p:nvPr/>
        </p:nvSpPr>
        <p:spPr>
          <a:xfrm>
            <a:off x="5577840" y="1645920"/>
            <a:ext cx="3108960" cy="2743200"/>
          </a:xfrm>
          <a:prstGeom prst="roundRect">
            <a:avLst>
              <a:gd name="adj" fmla="val 2667"/>
            </a:avLst>
          </a:prstGeom>
          <a:solidFill>
            <a:srgbClr val="FFFFFF"/>
          </a:solidFill>
          <a:ln w="9525">
            <a:solidFill>
              <a:srgbClr val="D9E0DA"/>
            </a:solidFill>
            <a:prstDash val="solid"/>
          </a:ln>
        </p:spPr>
      </p:sp>
      <p:sp>
        <p:nvSpPr>
          <p:cNvPr id="9" name="Text 6"/>
          <p:cNvSpPr txBox="1"/>
          <p:nvPr/>
        </p:nvSpPr>
        <p:spPr>
          <a:xfrm>
            <a:off x="5806440" y="1828800"/>
            <a:ext cx="2743200" cy="274320"/>
          </a:xfrm>
          <a:prstGeom prst="rect">
            <a:avLst/>
          </a:prstGeom>
          <a:noFill/>
          <a:ln/>
        </p:spPr>
        <p:txBody>
          <a:bodyPr wrap="square" lIns="0" tIns="0" rIns="0" bIns="0" rtlCol="0" anchor="t"/>
          <a:lstStyle/>
          <a:p>
            <a:pPr indent="0" marL="0">
              <a:buNone/>
            </a:pPr>
            <a:r>
              <a:rPr lang="en-US" sz="1000" b="1" spc="200" kern="0" dirty="0">
                <a:solidFill>
                  <a:srgbClr val="1F7A4D"/>
                </a:solidFill>
              </a:rPr>
              <a:t>DEFAULT PRIORITIES</a:t>
            </a:r>
            <a:endParaRPr lang="en-US" sz="1000" dirty="0"/>
          </a:p>
        </p:txBody>
      </p:sp>
      <p:sp>
        <p:nvSpPr>
          <p:cNvPr id="10" name="Text 7"/>
          <p:cNvSpPr txBox="1"/>
          <p:nvPr/>
        </p:nvSpPr>
        <p:spPr>
          <a:xfrm>
            <a:off x="5806440" y="2103120"/>
            <a:ext cx="2743200" cy="548640"/>
          </a:xfrm>
          <a:prstGeom prst="rect">
            <a:avLst/>
          </a:prstGeom>
          <a:noFill/>
          <a:ln/>
        </p:spPr>
        <p:txBody>
          <a:bodyPr wrap="square" lIns="0" tIns="0" rIns="0" bIns="0" rtlCol="0" anchor="t"/>
          <a:lstStyle/>
          <a:p>
            <a:pPr indent="0" marL="0">
              <a:buNone/>
            </a:pPr>
            <a:r>
              <a:rPr lang="en-US" sz="1500" b="1" dirty="0">
                <a:solidFill>
                  <a:srgbClr val="14302A"/>
                </a:solidFill>
              </a:rPr>
              <a:t>Prairie Creamy Peanut Butter</a:t>
            </a:r>
            <a:endParaRPr lang="en-US" sz="1500" dirty="0"/>
          </a:p>
        </p:txBody>
      </p:sp>
      <p:sp>
        <p:nvSpPr>
          <p:cNvPr id="11" name="Text 8"/>
          <p:cNvSpPr txBox="1"/>
          <p:nvPr/>
        </p:nvSpPr>
        <p:spPr>
          <a:xfrm>
            <a:off x="5806440" y="2606040"/>
            <a:ext cx="2743200" cy="822960"/>
          </a:xfrm>
          <a:prstGeom prst="rect">
            <a:avLst/>
          </a:prstGeom>
          <a:noFill/>
          <a:ln/>
        </p:spPr>
        <p:txBody>
          <a:bodyPr wrap="square" lIns="0" tIns="0" rIns="0" bIns="0" rtlCol="0" anchor="t"/>
          <a:lstStyle/>
          <a:p>
            <a:pPr indent="0" marL="0">
              <a:buNone/>
            </a:pPr>
            <a:r>
              <a:rPr lang="en-US" sz="6000" b="1" dirty="0">
                <a:solidFill>
                  <a:srgbClr val="1F7A4D"/>
                </a:solidFill>
                <a:latin typeface="Cambria" pitchFamily="34" charset="0"/>
                <a:ea typeface="Cambria" pitchFamily="34" charset="-122"/>
                <a:cs typeface="Cambria" pitchFamily="34" charset="-120"/>
              </a:rPr>
              <a:t>76</a:t>
            </a:r>
            <a:endParaRPr lang="en-US" sz="6000" dirty="0"/>
          </a:p>
        </p:txBody>
      </p:sp>
      <p:sp>
        <p:nvSpPr>
          <p:cNvPr id="12" name="Text 9"/>
          <p:cNvSpPr txBox="1"/>
          <p:nvPr/>
        </p:nvSpPr>
        <p:spPr>
          <a:xfrm>
            <a:off x="5806440" y="3429000"/>
            <a:ext cx="2743200" cy="868680"/>
          </a:xfrm>
          <a:prstGeom prst="rect">
            <a:avLst/>
          </a:prstGeom>
          <a:noFill/>
          <a:ln/>
        </p:spPr>
        <p:txBody>
          <a:bodyPr wrap="square" lIns="0" tIns="0" rIns="0" bIns="0" rtlCol="0" anchor="t"/>
          <a:lstStyle/>
          <a:p>
            <a:pPr indent="0" marL="0">
              <a:buNone/>
            </a:pPr>
            <a:r>
              <a:rPr lang="en-US" sz="1200" dirty="0">
                <a:solidFill>
                  <a:srgbClr val="4A5A52"/>
                </a:solidFill>
              </a:rPr>
              <a:t>Medium confidence. Strong on Support Regina and Buy Canadian. Fair trade is unknown, so it is not counted.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LIVE DEMO</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Three minutes with a newcomer family shopping at Superstore</a:t>
            </a:r>
            <a:endParaRPr lang="en-US" sz="2600" dirty="0"/>
          </a:p>
        </p:txBody>
      </p:sp>
      <p:sp>
        <p:nvSpPr>
          <p:cNvPr id="5" name="demo-step-1"/>
          <p:cNvSpPr/>
          <p:nvPr/>
        </p:nvSpPr>
        <p:spPr>
          <a:xfrm>
            <a:off x="457200" y="1645920"/>
            <a:ext cx="411480" cy="411480"/>
          </a:xfrm>
          <a:prstGeom prst="ellipse">
            <a:avLst/>
          </a:prstGeom>
          <a:solidFill>
            <a:srgbClr val="1F7A4D"/>
          </a:solidFill>
          <a:ln w="12700">
            <a:solidFill>
              <a:srgbClr val="1F7A4D"/>
            </a:solidFill>
            <a:prstDash val="solid"/>
          </a:ln>
        </p:spPr>
      </p:sp>
      <p:sp>
        <p:nvSpPr>
          <p:cNvPr id="6" name="Text 3"/>
          <p:cNvSpPr txBox="1"/>
          <p:nvPr/>
        </p:nvSpPr>
        <p:spPr>
          <a:xfrm>
            <a:off x="457200" y="16459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1051560" y="1645920"/>
            <a:ext cx="7589520" cy="411480"/>
          </a:xfrm>
          <a:prstGeom prst="rect">
            <a:avLst/>
          </a:prstGeom>
          <a:noFill/>
          <a:ln/>
        </p:spPr>
        <p:txBody>
          <a:bodyPr wrap="square" lIns="0" tIns="0" rIns="0" bIns="0" rtlCol="0" anchor="ctr"/>
          <a:lstStyle/>
          <a:p>
            <a:pPr indent="0" marL="0">
              <a:buNone/>
            </a:pPr>
            <a:r>
              <a:rPr lang="en-US" sz="1500" dirty="0">
                <a:solidFill>
                  <a:srgbClr val="14302A"/>
                </a:solidFill>
              </a:rPr>
              <a:t>Choose the “Buy Canadian” preset and switch the language to Gujarati</a:t>
            </a:r>
            <a:endParaRPr lang="en-US" sz="1500" dirty="0"/>
          </a:p>
        </p:txBody>
      </p:sp>
      <p:sp>
        <p:nvSpPr>
          <p:cNvPr id="8" name="demo-step-2"/>
          <p:cNvSpPr/>
          <p:nvPr/>
        </p:nvSpPr>
        <p:spPr>
          <a:xfrm>
            <a:off x="457200" y="2212848"/>
            <a:ext cx="411480" cy="411480"/>
          </a:xfrm>
          <a:prstGeom prst="ellipse">
            <a:avLst/>
          </a:prstGeom>
          <a:solidFill>
            <a:srgbClr val="1F7A4D"/>
          </a:solidFill>
          <a:ln w="12700">
            <a:solidFill>
              <a:srgbClr val="1F7A4D"/>
            </a:solidFill>
            <a:prstDash val="solid"/>
          </a:ln>
        </p:spPr>
      </p:sp>
      <p:sp>
        <p:nvSpPr>
          <p:cNvPr id="9" name="Text 6"/>
          <p:cNvSpPr txBox="1"/>
          <p:nvPr/>
        </p:nvSpPr>
        <p:spPr>
          <a:xfrm>
            <a:off x="457200" y="22128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1051560" y="2212848"/>
            <a:ext cx="7589520" cy="411480"/>
          </a:xfrm>
          <a:prstGeom prst="rect">
            <a:avLst/>
          </a:prstGeom>
          <a:noFill/>
          <a:ln/>
        </p:spPr>
        <p:txBody>
          <a:bodyPr wrap="square" lIns="0" tIns="0" rIns="0" bIns="0" rtlCol="0" anchor="ctr"/>
          <a:lstStyle/>
          <a:p>
            <a:pPr indent="0" marL="0">
              <a:buNone/>
            </a:pPr>
            <a:r>
              <a:rPr lang="en-US" sz="1500" dirty="0">
                <a:solidFill>
                  <a:srgbClr val="14302A"/>
                </a:solidFill>
              </a:rPr>
              <a:t>Scan peanut butter: see the score, the evidence and a better local option</a:t>
            </a:r>
            <a:endParaRPr lang="en-US" sz="1500" dirty="0"/>
          </a:p>
        </p:txBody>
      </p:sp>
      <p:sp>
        <p:nvSpPr>
          <p:cNvPr id="11" name="demo-step-3"/>
          <p:cNvSpPr/>
          <p:nvPr/>
        </p:nvSpPr>
        <p:spPr>
          <a:xfrm>
            <a:off x="457200" y="2779776"/>
            <a:ext cx="411480" cy="411480"/>
          </a:xfrm>
          <a:prstGeom prst="ellipse">
            <a:avLst/>
          </a:prstGeom>
          <a:solidFill>
            <a:srgbClr val="1F7A4D"/>
          </a:solidFill>
          <a:ln w="12700">
            <a:solidFill>
              <a:srgbClr val="1F7A4D"/>
            </a:solidFill>
            <a:prstDash val="solid"/>
          </a:ln>
        </p:spPr>
      </p:sp>
      <p:sp>
        <p:nvSpPr>
          <p:cNvPr id="12" name="Text 9"/>
          <p:cNvSpPr txBox="1"/>
          <p:nvPr/>
        </p:nvSpPr>
        <p:spPr>
          <a:xfrm>
            <a:off x="457200" y="277977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0"/>
          <p:cNvSpPr txBox="1"/>
          <p:nvPr/>
        </p:nvSpPr>
        <p:spPr>
          <a:xfrm>
            <a:off x="1051560" y="2779776"/>
            <a:ext cx="7589520" cy="411480"/>
          </a:xfrm>
          <a:prstGeom prst="rect">
            <a:avLst/>
          </a:prstGeom>
          <a:noFill/>
          <a:ln/>
        </p:spPr>
        <p:txBody>
          <a:bodyPr wrap="square" lIns="0" tIns="0" rIns="0" bIns="0" rtlCol="0" anchor="ctr"/>
          <a:lstStyle/>
          <a:p>
            <a:pPr indent="0" marL="0">
              <a:buNone/>
            </a:pPr>
            <a:r>
              <a:rPr lang="en-US" sz="1500" dirty="0">
                <a:solidFill>
                  <a:srgbClr val="14302A"/>
                </a:solidFill>
              </a:rPr>
              <a:t>Open a chocolate bar with little information: Low confidence, nothing punished</a:t>
            </a:r>
            <a:endParaRPr lang="en-US" sz="1500" dirty="0"/>
          </a:p>
        </p:txBody>
      </p:sp>
      <p:sp>
        <p:nvSpPr>
          <p:cNvPr id="14" name="demo-step-4"/>
          <p:cNvSpPr/>
          <p:nvPr/>
        </p:nvSpPr>
        <p:spPr>
          <a:xfrm>
            <a:off x="457200" y="3346704"/>
            <a:ext cx="411480" cy="411480"/>
          </a:xfrm>
          <a:prstGeom prst="ellipse">
            <a:avLst/>
          </a:prstGeom>
          <a:solidFill>
            <a:srgbClr val="1F7A4D"/>
          </a:solidFill>
          <a:ln w="12700">
            <a:solidFill>
              <a:srgbClr val="1F7A4D"/>
            </a:solidFill>
            <a:prstDash val="solid"/>
          </a:ln>
        </p:spPr>
      </p:sp>
      <p:sp>
        <p:nvSpPr>
          <p:cNvPr id="15" name="Text 12"/>
          <p:cNvSpPr txBox="1"/>
          <p:nvPr/>
        </p:nvSpPr>
        <p:spPr>
          <a:xfrm>
            <a:off x="457200" y="334670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3"/>
          <p:cNvSpPr txBox="1"/>
          <p:nvPr/>
        </p:nvSpPr>
        <p:spPr>
          <a:xfrm>
            <a:off x="1051560" y="3346704"/>
            <a:ext cx="7589520" cy="411480"/>
          </a:xfrm>
          <a:prstGeom prst="rect">
            <a:avLst/>
          </a:prstGeom>
          <a:noFill/>
          <a:ln/>
        </p:spPr>
        <p:txBody>
          <a:bodyPr wrap="square" lIns="0" tIns="0" rIns="0" bIns="0" rtlCol="0" anchor="ctr"/>
          <a:lstStyle/>
          <a:p>
            <a:pPr indent="0" marL="0">
              <a:buNone/>
            </a:pPr>
            <a:r>
              <a:rPr lang="en-US" sz="1500" dirty="0">
                <a:solidFill>
                  <a:srgbClr val="14302A"/>
                </a:solidFill>
              </a:rPr>
              <a:t>Ask: “Canadian, no plastic, fair labour. Which coffee?”</a:t>
            </a:r>
            <a:endParaRPr lang="en-US" sz="1500" dirty="0"/>
          </a:p>
        </p:txBody>
      </p:sp>
      <p:sp>
        <p:nvSpPr>
          <p:cNvPr id="17" name="demo-step-5"/>
          <p:cNvSpPr/>
          <p:nvPr/>
        </p:nvSpPr>
        <p:spPr>
          <a:xfrm>
            <a:off x="457200" y="3913632"/>
            <a:ext cx="411480" cy="411480"/>
          </a:xfrm>
          <a:prstGeom prst="ellipse">
            <a:avLst/>
          </a:prstGeom>
          <a:solidFill>
            <a:srgbClr val="1F7A4D"/>
          </a:solidFill>
          <a:ln w="12700">
            <a:solidFill>
              <a:srgbClr val="1F7A4D"/>
            </a:solidFill>
            <a:prstDash val="solid"/>
          </a:ln>
        </p:spPr>
      </p:sp>
      <p:sp>
        <p:nvSpPr>
          <p:cNvPr id="18" name="Text 15"/>
          <p:cNvSpPr txBox="1"/>
          <p:nvPr/>
        </p:nvSpPr>
        <p:spPr>
          <a:xfrm>
            <a:off x="457200" y="391363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9" name="Text 16"/>
          <p:cNvSpPr txBox="1"/>
          <p:nvPr/>
        </p:nvSpPr>
        <p:spPr>
          <a:xfrm>
            <a:off x="1051560" y="3913632"/>
            <a:ext cx="7589520" cy="411480"/>
          </a:xfrm>
          <a:prstGeom prst="rect">
            <a:avLst/>
          </a:prstGeom>
          <a:noFill/>
          <a:ln/>
        </p:spPr>
        <p:txBody>
          <a:bodyPr wrap="square" lIns="0" tIns="0" rIns="0" bIns="0" rtlCol="0" anchor="ctr"/>
          <a:lstStyle/>
          <a:p>
            <a:pPr indent="0" marL="0">
              <a:buNone/>
            </a:pPr>
            <a:r>
              <a:rPr lang="en-US" sz="1500" dirty="0">
                <a:solidFill>
                  <a:srgbClr val="14302A"/>
                </a:solidFill>
              </a:rPr>
              <a:t>Show which nearby stores carry the best pick, then scan a real product live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HOW IT IS BUILT</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A React app talks to one FastAPI backend that owns the data and rules</a:t>
            </a:r>
            <a:endParaRPr lang="en-US" sz="2600" dirty="0"/>
          </a:p>
        </p:txBody>
      </p:sp>
      <p:sp>
        <p:nvSpPr>
          <p:cNvPr id="5" name="arch-frontend"/>
          <p:cNvSpPr/>
          <p:nvPr/>
        </p:nvSpPr>
        <p:spPr>
          <a:xfrm>
            <a:off x="457200" y="1737360"/>
            <a:ext cx="2377440" cy="1554480"/>
          </a:xfrm>
          <a:prstGeom prst="roundRect">
            <a:avLst>
              <a:gd name="adj" fmla="val 4706"/>
            </a:avLst>
          </a:prstGeom>
          <a:solidFill>
            <a:srgbClr val="FFFFFF"/>
          </a:solidFill>
          <a:ln w="9525">
            <a:solidFill>
              <a:srgbClr val="D9E0DA"/>
            </a:solidFill>
            <a:prstDash val="solid"/>
          </a:ln>
        </p:spPr>
      </p:sp>
      <p:sp>
        <p:nvSpPr>
          <p:cNvPr id="6" name="Text 3"/>
          <p:cNvSpPr txBox="1"/>
          <p:nvPr/>
        </p:nvSpPr>
        <p:spPr>
          <a:xfrm>
            <a:off x="640080" y="1874520"/>
            <a:ext cx="2011680" cy="320040"/>
          </a:xfrm>
          <a:prstGeom prst="rect">
            <a:avLst/>
          </a:prstGeom>
          <a:noFill/>
          <a:ln/>
        </p:spPr>
        <p:txBody>
          <a:bodyPr wrap="square" lIns="0" tIns="0" rIns="0" bIns="0" rtlCol="0" anchor="t"/>
          <a:lstStyle/>
          <a:p>
            <a:pPr indent="0" marL="0">
              <a:buNone/>
            </a:pPr>
            <a:r>
              <a:rPr lang="en-US" sz="1500" b="1" dirty="0">
                <a:solidFill>
                  <a:srgbClr val="14302A"/>
                </a:solidFill>
              </a:rPr>
              <a:t>React frontend</a:t>
            </a:r>
            <a:endParaRPr lang="en-US" sz="1500" dirty="0"/>
          </a:p>
        </p:txBody>
      </p:sp>
      <p:sp>
        <p:nvSpPr>
          <p:cNvPr id="7" name="Text 4"/>
          <p:cNvSpPr txBox="1"/>
          <p:nvPr/>
        </p:nvSpPr>
        <p:spPr>
          <a:xfrm>
            <a:off x="640080" y="2240280"/>
            <a:ext cx="2011680" cy="914400"/>
          </a:xfrm>
          <a:prstGeom prst="rect">
            <a:avLst/>
          </a:prstGeom>
          <a:noFill/>
          <a:ln/>
        </p:spPr>
        <p:txBody>
          <a:bodyPr wrap="square" lIns="0" tIns="0" rIns="0" bIns="0" rtlCol="0" anchor="t"/>
          <a:lstStyle/>
          <a:p>
            <a:pPr indent="0" marL="0">
              <a:buNone/>
            </a:pPr>
            <a:r>
              <a:rPr lang="en-US" sz="1200" dirty="0">
                <a:solidFill>
                  <a:srgbClr val="4A5A52"/>
                </a:solidFill>
              </a:rPr>
              <a:t>5 screens · barcode scanner · Leaflet map · 3 languages</a:t>
            </a:r>
            <a:endParaRPr lang="en-US" sz="1200" dirty="0"/>
          </a:p>
        </p:txBody>
      </p:sp>
      <p:sp>
        <p:nvSpPr>
          <p:cNvPr id="8" name="arrow-fe-be"/>
          <p:cNvSpPr/>
          <p:nvPr/>
        </p:nvSpPr>
        <p:spPr>
          <a:xfrm>
            <a:off x="2880360" y="2514600"/>
            <a:ext cx="457200" cy="0"/>
          </a:xfrm>
          <a:prstGeom prst="line">
            <a:avLst/>
          </a:prstGeom>
          <a:noFill/>
          <a:ln w="25400">
            <a:solidFill>
              <a:srgbClr val="1F7A4D"/>
            </a:solidFill>
            <a:prstDash val="solid"/>
            <a:tailEnd type="triangle"/>
          </a:ln>
        </p:spPr>
      </p:sp>
      <p:sp>
        <p:nvSpPr>
          <p:cNvPr id="9" name="arch-backend"/>
          <p:cNvSpPr/>
          <p:nvPr/>
        </p:nvSpPr>
        <p:spPr>
          <a:xfrm>
            <a:off x="3383280" y="1737360"/>
            <a:ext cx="2468880" cy="1554480"/>
          </a:xfrm>
          <a:prstGeom prst="roundRect">
            <a:avLst>
              <a:gd name="adj" fmla="val 4706"/>
            </a:avLst>
          </a:prstGeom>
          <a:solidFill>
            <a:srgbClr val="14302A"/>
          </a:solidFill>
          <a:ln w="9525">
            <a:solidFill>
              <a:srgbClr val="14302A"/>
            </a:solidFill>
            <a:prstDash val="solid"/>
          </a:ln>
        </p:spPr>
      </p:sp>
      <p:sp>
        <p:nvSpPr>
          <p:cNvPr id="10" name="Text 7"/>
          <p:cNvSpPr txBox="1"/>
          <p:nvPr/>
        </p:nvSpPr>
        <p:spPr>
          <a:xfrm>
            <a:off x="3566160" y="1874520"/>
            <a:ext cx="2103120" cy="320040"/>
          </a:xfrm>
          <a:prstGeom prst="rect">
            <a:avLst/>
          </a:prstGeom>
          <a:noFill/>
          <a:ln/>
        </p:spPr>
        <p:txBody>
          <a:bodyPr wrap="square" lIns="0" tIns="0" rIns="0" bIns="0" rtlCol="0" anchor="t"/>
          <a:lstStyle/>
          <a:p>
            <a:pPr indent="0" marL="0">
              <a:buNone/>
            </a:pPr>
            <a:r>
              <a:rPr lang="en-US" sz="1500" b="1" dirty="0">
                <a:solidFill>
                  <a:srgbClr val="F6F7F2"/>
                </a:solidFill>
              </a:rPr>
              <a:t>FastAPI backend</a:t>
            </a:r>
            <a:endParaRPr lang="en-US" sz="1500" dirty="0"/>
          </a:p>
        </p:txBody>
      </p:sp>
      <p:sp>
        <p:nvSpPr>
          <p:cNvPr id="11" name="Text 8"/>
          <p:cNvSpPr txBox="1"/>
          <p:nvPr/>
        </p:nvSpPr>
        <p:spPr>
          <a:xfrm>
            <a:off x="3566160" y="2240280"/>
            <a:ext cx="2103120" cy="914400"/>
          </a:xfrm>
          <a:prstGeom prst="rect">
            <a:avLst/>
          </a:prstGeom>
          <a:noFill/>
          <a:ln/>
        </p:spPr>
        <p:txBody>
          <a:bodyPr wrap="square" lIns="0" tIns="0" rIns="0" bIns="0" rtlCol="0" anchor="t"/>
          <a:lstStyle/>
          <a:p>
            <a:pPr indent="0" marL="0">
              <a:buNone/>
            </a:pPr>
            <a:r>
              <a:rPr lang="en-US" sz="1200" dirty="0">
                <a:solidFill>
                  <a:srgbClr val="C9DDD2"/>
                </a:solidFill>
              </a:rPr>
              <a:t>Scoring engine · Ask TruthShift · barcode lookup</a:t>
            </a:r>
            <a:endParaRPr lang="en-US" sz="1200" dirty="0"/>
          </a:p>
        </p:txBody>
      </p:sp>
      <p:sp>
        <p:nvSpPr>
          <p:cNvPr id="12" name="arrow-be-data"/>
          <p:cNvSpPr/>
          <p:nvPr/>
        </p:nvSpPr>
        <p:spPr>
          <a:xfrm>
            <a:off x="4617720" y="3291840"/>
            <a:ext cx="0" cy="411480"/>
          </a:xfrm>
          <a:prstGeom prst="line">
            <a:avLst/>
          </a:prstGeom>
          <a:noFill/>
          <a:ln w="25400">
            <a:solidFill>
              <a:srgbClr val="1F7A4D"/>
            </a:solidFill>
            <a:prstDash val="solid"/>
            <a:tailEnd type="triangle"/>
          </a:ln>
        </p:spPr>
      </p:sp>
      <p:sp>
        <p:nvSpPr>
          <p:cNvPr id="13" name="arch-data"/>
          <p:cNvSpPr/>
          <p:nvPr/>
        </p:nvSpPr>
        <p:spPr>
          <a:xfrm>
            <a:off x="3383280" y="3749040"/>
            <a:ext cx="2468880" cy="685800"/>
          </a:xfrm>
          <a:prstGeom prst="roundRect">
            <a:avLst>
              <a:gd name="adj" fmla="val 10667"/>
            </a:avLst>
          </a:prstGeom>
          <a:solidFill>
            <a:srgbClr val="FFFFFF"/>
          </a:solidFill>
          <a:ln w="9525">
            <a:solidFill>
              <a:srgbClr val="D9E0DA"/>
            </a:solidFill>
            <a:prstDash val="solid"/>
          </a:ln>
        </p:spPr>
      </p:sp>
      <p:sp>
        <p:nvSpPr>
          <p:cNvPr id="14" name="Text 11"/>
          <p:cNvSpPr txBox="1"/>
          <p:nvPr/>
        </p:nvSpPr>
        <p:spPr>
          <a:xfrm>
            <a:off x="3520440" y="3749040"/>
            <a:ext cx="2194560" cy="685800"/>
          </a:xfrm>
          <a:prstGeom prst="rect">
            <a:avLst/>
          </a:prstGeom>
          <a:noFill/>
          <a:ln/>
        </p:spPr>
        <p:txBody>
          <a:bodyPr wrap="square" lIns="0" tIns="0" rIns="0" bIns="0" rtlCol="0" anchor="ctr"/>
          <a:lstStyle/>
          <a:p>
            <a:pPr indent="0" marL="0">
              <a:buNone/>
            </a:pPr>
            <a:r>
              <a:rPr lang="en-US" sz="1200" dirty="0">
                <a:solidFill>
                  <a:srgbClr val="14302A"/>
                </a:solidFill>
              </a:rPr>
              <a:t>JSON dataset: products, stores, reference</a:t>
            </a:r>
            <a:endParaRPr lang="en-US" sz="1200" dirty="0"/>
          </a:p>
        </p:txBody>
      </p:sp>
      <p:sp>
        <p:nvSpPr>
          <p:cNvPr id="15" name="arrow-be-ext-1"/>
          <p:cNvSpPr/>
          <p:nvPr/>
        </p:nvSpPr>
        <p:spPr>
          <a:xfrm>
            <a:off x="5897880" y="1965960"/>
            <a:ext cx="457200" cy="0"/>
          </a:xfrm>
          <a:prstGeom prst="line">
            <a:avLst/>
          </a:prstGeom>
          <a:noFill/>
          <a:ln w="25400">
            <a:solidFill>
              <a:srgbClr val="1F7A4D"/>
            </a:solidFill>
            <a:prstDash val="solid"/>
            <a:tailEnd type="triangle"/>
          </a:ln>
        </p:spPr>
      </p:sp>
      <p:sp>
        <p:nvSpPr>
          <p:cNvPr id="16" name="arch-ext-1"/>
          <p:cNvSpPr/>
          <p:nvPr/>
        </p:nvSpPr>
        <p:spPr>
          <a:xfrm>
            <a:off x="6400800" y="1737360"/>
            <a:ext cx="2286000" cy="457200"/>
          </a:xfrm>
          <a:prstGeom prst="roundRect">
            <a:avLst>
              <a:gd name="adj" fmla="val 16000"/>
            </a:avLst>
          </a:prstGeom>
          <a:solidFill>
            <a:srgbClr val="FFFFFF"/>
          </a:solidFill>
          <a:ln w="9525">
            <a:solidFill>
              <a:srgbClr val="D9E0DA"/>
            </a:solidFill>
            <a:prstDash val="solid"/>
          </a:ln>
        </p:spPr>
      </p:sp>
      <p:sp>
        <p:nvSpPr>
          <p:cNvPr id="17" name="Text 14"/>
          <p:cNvSpPr txBox="1"/>
          <p:nvPr/>
        </p:nvSpPr>
        <p:spPr>
          <a:xfrm>
            <a:off x="6537960" y="1737360"/>
            <a:ext cx="2103120" cy="457200"/>
          </a:xfrm>
          <a:prstGeom prst="rect">
            <a:avLst/>
          </a:prstGeom>
          <a:noFill/>
          <a:ln/>
        </p:spPr>
        <p:txBody>
          <a:bodyPr wrap="square" lIns="0" tIns="0" rIns="0" bIns="0" rtlCol="0" anchor="ctr"/>
          <a:lstStyle/>
          <a:p>
            <a:pPr indent="0" marL="0">
              <a:buNone/>
            </a:pPr>
            <a:r>
              <a:rPr lang="en-US" sz="1200" b="1" dirty="0">
                <a:solidFill>
                  <a:srgbClr val="14302A"/>
                </a:solidFill>
              </a:rPr>
              <a:t>Open Food Facts  </a:t>
            </a:r>
            <a:pPr indent="0" marL="0">
              <a:buNone/>
            </a:pPr>
            <a:r>
              <a:rPr lang="en-US" sz="1200" dirty="0">
                <a:solidFill>
                  <a:srgbClr val="4A5A52"/>
                </a:solidFill>
              </a:rPr>
              <a:t>real products</a:t>
            </a:r>
            <a:endParaRPr lang="en-US" sz="1200" dirty="0"/>
          </a:p>
        </p:txBody>
      </p:sp>
      <p:sp>
        <p:nvSpPr>
          <p:cNvPr id="18" name="arrow-be-ext-2"/>
          <p:cNvSpPr/>
          <p:nvPr/>
        </p:nvSpPr>
        <p:spPr>
          <a:xfrm>
            <a:off x="5897880" y="2514600"/>
            <a:ext cx="457200" cy="0"/>
          </a:xfrm>
          <a:prstGeom prst="line">
            <a:avLst/>
          </a:prstGeom>
          <a:noFill/>
          <a:ln w="25400">
            <a:solidFill>
              <a:srgbClr val="1F7A4D"/>
            </a:solidFill>
            <a:prstDash val="solid"/>
            <a:tailEnd type="triangle"/>
          </a:ln>
        </p:spPr>
      </p:sp>
      <p:sp>
        <p:nvSpPr>
          <p:cNvPr id="19" name="arch-ext-2"/>
          <p:cNvSpPr/>
          <p:nvPr/>
        </p:nvSpPr>
        <p:spPr>
          <a:xfrm>
            <a:off x="6400800" y="2286000"/>
            <a:ext cx="2286000" cy="457200"/>
          </a:xfrm>
          <a:prstGeom prst="roundRect">
            <a:avLst>
              <a:gd name="adj" fmla="val 16000"/>
            </a:avLst>
          </a:prstGeom>
          <a:solidFill>
            <a:srgbClr val="FFFFFF"/>
          </a:solidFill>
          <a:ln w="9525">
            <a:solidFill>
              <a:srgbClr val="D9E0DA"/>
            </a:solidFill>
            <a:prstDash val="solid"/>
          </a:ln>
        </p:spPr>
      </p:sp>
      <p:sp>
        <p:nvSpPr>
          <p:cNvPr id="20" name="Text 17"/>
          <p:cNvSpPr txBox="1"/>
          <p:nvPr/>
        </p:nvSpPr>
        <p:spPr>
          <a:xfrm>
            <a:off x="6537960" y="2286000"/>
            <a:ext cx="2103120" cy="457200"/>
          </a:xfrm>
          <a:prstGeom prst="rect">
            <a:avLst/>
          </a:prstGeom>
          <a:noFill/>
          <a:ln/>
        </p:spPr>
        <p:txBody>
          <a:bodyPr wrap="square" lIns="0" tIns="0" rIns="0" bIns="0" rtlCol="0" anchor="ctr"/>
          <a:lstStyle/>
          <a:p>
            <a:pPr indent="0" marL="0">
              <a:buNone/>
            </a:pPr>
            <a:r>
              <a:rPr lang="en-US" sz="1200" b="1" dirty="0">
                <a:solidFill>
                  <a:srgbClr val="14302A"/>
                </a:solidFill>
              </a:rPr>
              <a:t>Claude API  </a:t>
            </a:r>
            <a:pPr indent="0" marL="0">
              <a:buNone/>
            </a:pPr>
            <a:r>
              <a:rPr lang="en-US" sz="1200" dirty="0">
                <a:solidFill>
                  <a:srgbClr val="4A5A52"/>
                </a:solidFill>
              </a:rPr>
              <a:t>written answers</a:t>
            </a:r>
            <a:endParaRPr lang="en-US" sz="1200" dirty="0"/>
          </a:p>
        </p:txBody>
      </p:sp>
      <p:sp>
        <p:nvSpPr>
          <p:cNvPr id="21" name="arch-ext-3"/>
          <p:cNvSpPr/>
          <p:nvPr/>
        </p:nvSpPr>
        <p:spPr>
          <a:xfrm>
            <a:off x="6400800" y="2834640"/>
            <a:ext cx="2286000" cy="457200"/>
          </a:xfrm>
          <a:prstGeom prst="roundRect">
            <a:avLst>
              <a:gd name="adj" fmla="val 16000"/>
            </a:avLst>
          </a:prstGeom>
          <a:solidFill>
            <a:srgbClr val="FFFFFF"/>
          </a:solidFill>
          <a:ln w="9525">
            <a:solidFill>
              <a:srgbClr val="D9E0DA"/>
            </a:solidFill>
            <a:prstDash val="solid"/>
          </a:ln>
        </p:spPr>
      </p:sp>
      <p:sp>
        <p:nvSpPr>
          <p:cNvPr id="22" name="Text 19"/>
          <p:cNvSpPr txBox="1"/>
          <p:nvPr/>
        </p:nvSpPr>
        <p:spPr>
          <a:xfrm>
            <a:off x="6537960" y="2834640"/>
            <a:ext cx="2103120" cy="457200"/>
          </a:xfrm>
          <a:prstGeom prst="rect">
            <a:avLst/>
          </a:prstGeom>
          <a:noFill/>
          <a:ln/>
        </p:spPr>
        <p:txBody>
          <a:bodyPr wrap="square" lIns="0" tIns="0" rIns="0" bIns="0" rtlCol="0" anchor="ctr"/>
          <a:lstStyle/>
          <a:p>
            <a:pPr indent="0" marL="0">
              <a:buNone/>
            </a:pPr>
            <a:r>
              <a:rPr lang="en-US" sz="1200" b="1" dirty="0">
                <a:solidFill>
                  <a:srgbClr val="14302A"/>
                </a:solidFill>
              </a:rPr>
              <a:t>OpenStreetMap  </a:t>
            </a:r>
            <a:pPr indent="0" marL="0">
              <a:buNone/>
            </a:pPr>
            <a:r>
              <a:rPr lang="en-US" sz="1200" dirty="0">
                <a:solidFill>
                  <a:srgbClr val="4A5A52"/>
                </a:solidFill>
              </a:rPr>
              <a:t>map tiles</a:t>
            </a:r>
            <a:endParaRPr lang="en-US" sz="1200" dirty="0"/>
          </a:p>
        </p:txBody>
      </p:sp>
      <p:sp>
        <p:nvSpPr>
          <p:cNvPr id="23" name="Text 20"/>
          <p:cNvSpPr txBox="1"/>
          <p:nvPr/>
        </p:nvSpPr>
        <p:spPr>
          <a:xfrm>
            <a:off x="6355080" y="3429000"/>
            <a:ext cx="2331720" cy="1005840"/>
          </a:xfrm>
          <a:prstGeom prst="rect">
            <a:avLst/>
          </a:prstGeom>
          <a:noFill/>
          <a:ln/>
        </p:spPr>
        <p:txBody>
          <a:bodyPr wrap="square" lIns="0" tIns="0" rIns="0" bIns="0" rtlCol="0" anchor="t"/>
          <a:lstStyle/>
          <a:p>
            <a:pPr indent="0" marL="0">
              <a:buNone/>
            </a:pPr>
            <a:r>
              <a:rPr lang="en-US" sz="1100" dirty="0">
                <a:solidFill>
                  <a:srgbClr val="4A5A52"/>
                </a:solidFill>
              </a:rPr>
              <a:t>Map tiles load straight into the browser. One scoring engine serves every screen, so the numbers always agree.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OUR DATA</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118 products: 46 demo products we wrote, 72 real ones from Open Food Facts</a:t>
            </a:r>
            <a:endParaRPr lang="en-US" sz="2600" dirty="0"/>
          </a:p>
        </p:txBody>
      </p:sp>
      <p:sp>
        <p:nvSpPr>
          <p:cNvPr id="5" name="stat-1"/>
          <p:cNvSpPr/>
          <p:nvPr/>
        </p:nvSpPr>
        <p:spPr>
          <a:xfrm>
            <a:off x="457200" y="1600200"/>
            <a:ext cx="2743200" cy="841248"/>
          </a:xfrm>
          <a:prstGeom prst="roundRect">
            <a:avLst>
              <a:gd name="adj" fmla="val 8696"/>
            </a:avLst>
          </a:prstGeom>
          <a:solidFill>
            <a:srgbClr val="FFFFFF"/>
          </a:solidFill>
          <a:ln w="9525">
            <a:solidFill>
              <a:srgbClr val="D9E0DA"/>
            </a:solidFill>
            <a:prstDash val="solid"/>
          </a:ln>
        </p:spPr>
      </p:sp>
      <p:sp>
        <p:nvSpPr>
          <p:cNvPr id="6" name="Text 3"/>
          <p:cNvSpPr txBox="1"/>
          <p:nvPr/>
        </p:nvSpPr>
        <p:spPr>
          <a:xfrm>
            <a:off x="640080" y="1673352"/>
            <a:ext cx="914400" cy="685800"/>
          </a:xfrm>
          <a:prstGeom prst="rect">
            <a:avLst/>
          </a:prstGeom>
          <a:noFill/>
          <a:ln/>
        </p:spPr>
        <p:txBody>
          <a:bodyPr wrap="square" lIns="0" tIns="0" rIns="0" bIns="0" rtlCol="0" anchor="ctr"/>
          <a:lstStyle/>
          <a:p>
            <a:pPr indent="0" marL="0">
              <a:buNone/>
            </a:pPr>
            <a:r>
              <a:rPr lang="en-US" sz="3600" b="1" dirty="0">
                <a:solidFill>
                  <a:srgbClr val="14302A"/>
                </a:solidFill>
                <a:latin typeface="Cambria" pitchFamily="34" charset="0"/>
                <a:ea typeface="Cambria" pitchFamily="34" charset="-122"/>
                <a:cs typeface="Cambria" pitchFamily="34" charset="-120"/>
              </a:rPr>
              <a:t>46</a:t>
            </a:r>
            <a:endParaRPr lang="en-US" sz="3600" dirty="0"/>
          </a:p>
        </p:txBody>
      </p:sp>
      <p:sp>
        <p:nvSpPr>
          <p:cNvPr id="7" name="Text 4"/>
          <p:cNvSpPr txBox="1"/>
          <p:nvPr/>
        </p:nvSpPr>
        <p:spPr>
          <a:xfrm>
            <a:off x="1600200" y="1673352"/>
            <a:ext cx="1508760" cy="685800"/>
          </a:xfrm>
          <a:prstGeom prst="rect">
            <a:avLst/>
          </a:prstGeom>
          <a:noFill/>
          <a:ln/>
        </p:spPr>
        <p:txBody>
          <a:bodyPr wrap="square" lIns="0" tIns="0" rIns="0" bIns="0" rtlCol="0" anchor="ctr"/>
          <a:lstStyle/>
          <a:p>
            <a:pPr indent="0" marL="0">
              <a:buNone/>
            </a:pPr>
            <a:r>
              <a:rPr lang="en-US" sz="1200" dirty="0">
                <a:solidFill>
                  <a:srgbClr val="4A5A52"/>
                </a:solidFill>
              </a:rPr>
              <a:t>demo products, 18 categories</a:t>
            </a:r>
            <a:endParaRPr lang="en-US" sz="1200" dirty="0"/>
          </a:p>
        </p:txBody>
      </p:sp>
      <p:sp>
        <p:nvSpPr>
          <p:cNvPr id="8" name="stat-2"/>
          <p:cNvSpPr/>
          <p:nvPr/>
        </p:nvSpPr>
        <p:spPr>
          <a:xfrm>
            <a:off x="457200" y="2560320"/>
            <a:ext cx="2743200" cy="841248"/>
          </a:xfrm>
          <a:prstGeom prst="roundRect">
            <a:avLst>
              <a:gd name="adj" fmla="val 8696"/>
            </a:avLst>
          </a:prstGeom>
          <a:solidFill>
            <a:srgbClr val="FFFFFF"/>
          </a:solidFill>
          <a:ln w="9525">
            <a:solidFill>
              <a:srgbClr val="D9E0DA"/>
            </a:solidFill>
            <a:prstDash val="solid"/>
          </a:ln>
        </p:spPr>
      </p:sp>
      <p:sp>
        <p:nvSpPr>
          <p:cNvPr id="9" name="Text 6"/>
          <p:cNvSpPr txBox="1"/>
          <p:nvPr/>
        </p:nvSpPr>
        <p:spPr>
          <a:xfrm>
            <a:off x="640080" y="2633472"/>
            <a:ext cx="914400" cy="685800"/>
          </a:xfrm>
          <a:prstGeom prst="rect">
            <a:avLst/>
          </a:prstGeom>
          <a:noFill/>
          <a:ln/>
        </p:spPr>
        <p:txBody>
          <a:bodyPr wrap="square" lIns="0" tIns="0" rIns="0" bIns="0" rtlCol="0" anchor="ctr"/>
          <a:lstStyle/>
          <a:p>
            <a:pPr indent="0" marL="0">
              <a:buNone/>
            </a:pPr>
            <a:r>
              <a:rPr lang="en-US" sz="3600" b="1" dirty="0">
                <a:solidFill>
                  <a:srgbClr val="1F7A4D"/>
                </a:solidFill>
                <a:latin typeface="Cambria" pitchFamily="34" charset="0"/>
                <a:ea typeface="Cambria" pitchFamily="34" charset="-122"/>
                <a:cs typeface="Cambria" pitchFamily="34" charset="-120"/>
              </a:rPr>
              <a:t>72</a:t>
            </a:r>
            <a:endParaRPr lang="en-US" sz="3600" dirty="0"/>
          </a:p>
        </p:txBody>
      </p:sp>
      <p:sp>
        <p:nvSpPr>
          <p:cNvPr id="10" name="Text 7"/>
          <p:cNvSpPr txBox="1"/>
          <p:nvPr/>
        </p:nvSpPr>
        <p:spPr>
          <a:xfrm>
            <a:off x="1600200" y="2633472"/>
            <a:ext cx="1508760" cy="685800"/>
          </a:xfrm>
          <a:prstGeom prst="rect">
            <a:avLst/>
          </a:prstGeom>
          <a:noFill/>
          <a:ln/>
        </p:spPr>
        <p:txBody>
          <a:bodyPr wrap="square" lIns="0" tIns="0" rIns="0" bIns="0" rtlCol="0" anchor="ctr"/>
          <a:lstStyle/>
          <a:p>
            <a:pPr indent="0" marL="0">
              <a:buNone/>
            </a:pPr>
            <a:r>
              <a:rPr lang="en-US" sz="1200" dirty="0">
                <a:solidFill>
                  <a:srgbClr val="4A5A52"/>
                </a:solidFill>
              </a:rPr>
              <a:t>real products sold in Canada</a:t>
            </a:r>
            <a:endParaRPr lang="en-US" sz="1200" dirty="0"/>
          </a:p>
        </p:txBody>
      </p:sp>
      <p:sp>
        <p:nvSpPr>
          <p:cNvPr id="11" name="stat-3"/>
          <p:cNvSpPr/>
          <p:nvPr/>
        </p:nvSpPr>
        <p:spPr>
          <a:xfrm>
            <a:off x="457200" y="3520440"/>
            <a:ext cx="2743200" cy="841248"/>
          </a:xfrm>
          <a:prstGeom prst="roundRect">
            <a:avLst>
              <a:gd name="adj" fmla="val 8696"/>
            </a:avLst>
          </a:prstGeom>
          <a:solidFill>
            <a:srgbClr val="FFFFFF"/>
          </a:solidFill>
          <a:ln w="9525">
            <a:solidFill>
              <a:srgbClr val="D9E0DA"/>
            </a:solidFill>
            <a:prstDash val="solid"/>
          </a:ln>
        </p:spPr>
      </p:sp>
      <p:sp>
        <p:nvSpPr>
          <p:cNvPr id="12" name="Text 9"/>
          <p:cNvSpPr txBox="1"/>
          <p:nvPr/>
        </p:nvSpPr>
        <p:spPr>
          <a:xfrm>
            <a:off x="640080" y="3593592"/>
            <a:ext cx="914400" cy="685800"/>
          </a:xfrm>
          <a:prstGeom prst="rect">
            <a:avLst/>
          </a:prstGeom>
          <a:noFill/>
          <a:ln/>
        </p:spPr>
        <p:txBody>
          <a:bodyPr wrap="square" lIns="0" tIns="0" rIns="0" bIns="0" rtlCol="0" anchor="ctr"/>
          <a:lstStyle/>
          <a:p>
            <a:pPr indent="0" marL="0">
              <a:buNone/>
            </a:pPr>
            <a:r>
              <a:rPr lang="en-US" sz="3600" b="1" dirty="0">
                <a:solidFill>
                  <a:srgbClr val="14302A"/>
                </a:solidFill>
                <a:latin typeface="Cambria" pitchFamily="34" charset="0"/>
                <a:ea typeface="Cambria" pitchFamily="34" charset="-122"/>
                <a:cs typeface="Cambria" pitchFamily="34" charset="-120"/>
              </a:rPr>
              <a:t>10</a:t>
            </a:r>
            <a:endParaRPr lang="en-US" sz="3600" dirty="0"/>
          </a:p>
        </p:txBody>
      </p:sp>
      <p:sp>
        <p:nvSpPr>
          <p:cNvPr id="13" name="Text 10"/>
          <p:cNvSpPr txBox="1"/>
          <p:nvPr/>
        </p:nvSpPr>
        <p:spPr>
          <a:xfrm>
            <a:off x="1600200" y="3593592"/>
            <a:ext cx="1508760" cy="685800"/>
          </a:xfrm>
          <a:prstGeom prst="rect">
            <a:avLst/>
          </a:prstGeom>
          <a:noFill/>
          <a:ln/>
        </p:spPr>
        <p:txBody>
          <a:bodyPr wrap="square" lIns="0" tIns="0" rIns="0" bIns="0" rtlCol="0" anchor="ctr"/>
          <a:lstStyle/>
          <a:p>
            <a:pPr indent="0" marL="0">
              <a:buNone/>
            </a:pPr>
            <a:r>
              <a:rPr lang="en-US" sz="1200" dirty="0">
                <a:solidFill>
                  <a:srgbClr val="4A5A52"/>
                </a:solidFill>
              </a:rPr>
              <a:t>Regina stores on the map</a:t>
            </a:r>
            <a:endParaRPr lang="en-US" sz="1200" dirty="0"/>
          </a:p>
        </p:txBody>
      </p:sp>
      <p:graphicFrame>
        <p:nvGraphicFramePr>
          <p:cNvPr id="14" name="known-facts-chart" descr=""/>
          <p:cNvGraphicFramePr/>
          <p:nvPr/>
        </p:nvGraphicFramePr>
        <p:xfrm>
          <a:off x="3429000" y="1508760"/>
          <a:ext cx="5257800" cy="301752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1100" i="1" dirty="0">
                <a:solidFill>
                  <a:srgbClr val="1F7A4D"/>
                </a:solidFill>
              </a:rPr>
              <a:t>Only 4 of 72 real products say where they are made, and none list a fair-trade label.</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TECH STACK</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Free, open tools a student team can extend</a:t>
            </a:r>
            <a:endParaRPr lang="en-US" sz="2600" dirty="0"/>
          </a:p>
        </p:txBody>
      </p:sp>
      <p:graphicFrame>
        <p:nvGraphicFramePr>
          <p:cNvPr id="12" name="stack-table"/>
          <p:cNvGraphicFramePr>
            <a:graphicFrameLocks noGrp="1"/>
          </p:cNvGraphicFramePr>
          <p:nvPr>
            <p:extLst>
              <p:ext uri="{D42A27DB-BD31-4B8C-83A1-F6EECF244321}">
                <p14:modId xmlns:p14="http://schemas.microsoft.com/office/powerpoint/2010/main" val="1579011935"/>
              </p:ext>
            </p:extLst>
          </p:nvPr>
        </p:nvGraphicFramePr>
        <p:xfrm>
          <a:off x="457200" y="1645920"/>
          <a:ext cx="8229600" cy="914400"/>
        </p:xfrm>
        <a:graphic>
          <a:graphicData uri="http://schemas.openxmlformats.org/drawingml/2006/table">
            <a:tbl>
              <a:tblPr/>
              <a:tblGrid>
                <a:gridCol w="1463040"/>
                <a:gridCol w="3108960"/>
                <a:gridCol w="3657600"/>
              </a:tblGrid>
              <a:tr h="384048">
                <a:tc>
                  <a:txBody>
                    <a:bodyPr/>
                    <a:lstStyle/>
                    <a:p>
                      <a:pPr indent="0" marL="0">
                        <a:buNone/>
                      </a:pPr>
                      <a:r>
                        <a:rPr lang="en-US" sz="1300" b="1" dirty="0">
                          <a:solidFill>
                            <a:srgbClr val="FFFFFF"/>
                          </a:solidFill>
                        </a:rPr>
                        <a:t>Layer</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14302A"/>
                    </a:solidFill>
                  </a:tcPr>
                </a:tc>
                <a:tc>
                  <a:txBody>
                    <a:bodyPr/>
                    <a:lstStyle/>
                    <a:p>
                      <a:pPr indent="0" marL="0">
                        <a:buNone/>
                      </a:pPr>
                      <a:r>
                        <a:rPr lang="en-US" sz="1300" b="1" dirty="0">
                          <a:solidFill>
                            <a:srgbClr val="FFFFFF"/>
                          </a:solidFill>
                        </a:rPr>
                        <a:t>Technology</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14302A"/>
                    </a:solidFill>
                  </a:tcPr>
                </a:tc>
                <a:tc>
                  <a:txBody>
                    <a:bodyPr/>
                    <a:lstStyle/>
                    <a:p>
                      <a:pPr indent="0" marL="0">
                        <a:buNone/>
                      </a:pPr>
                      <a:r>
                        <a:rPr lang="en-US" sz="1300" b="1" dirty="0">
                          <a:solidFill>
                            <a:srgbClr val="FFFFFF"/>
                          </a:solidFill>
                        </a:rPr>
                        <a:t>Why</a:t>
                      </a:r>
                      <a:endParaRPr lang="en-US" sz="13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14302A"/>
                    </a:solidFill>
                  </a:tcPr>
                </a:tc>
              </a:tr>
              <a:tr h="384048">
                <a:tc>
                  <a:txBody>
                    <a:bodyPr/>
                    <a:lstStyle/>
                    <a:p>
                      <a:pPr indent="0" marL="0">
                        <a:buNone/>
                      </a:pPr>
                      <a:r>
                        <a:rPr lang="en-US" sz="1200" b="1" dirty="0">
                          <a:solidFill>
                            <a:srgbClr val="14302A"/>
                          </a:solidFill>
                        </a:rPr>
                        <a:t>Frontend</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c>
                  <a:txBody>
                    <a:bodyPr/>
                    <a:lstStyle/>
                    <a:p>
                      <a:pPr indent="0" marL="0">
                        <a:buNone/>
                      </a:pPr>
                      <a:r>
                        <a:rPr lang="en-US" sz="1200" dirty="0">
                          <a:solidFill>
                            <a:srgbClr val="14302A"/>
                          </a:solidFill>
                        </a:rPr>
                        <a:t>React 19 + Vite</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c>
                  <a:txBody>
                    <a:bodyPr/>
                    <a:lstStyle/>
                    <a:p>
                      <a:pPr indent="0" marL="0">
                        <a:buNone/>
                      </a:pPr>
                      <a:r>
                        <a:rPr lang="en-US" sz="1200" dirty="0">
                          <a:solidFill>
                            <a:srgbClr val="14302A"/>
                          </a:solidFill>
                        </a:rPr>
                        <a:t>Reusable components, instant reloads</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4302A"/>
                          </a:solidFill>
                        </a:rPr>
                        <a:t>Backend</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200" dirty="0">
                          <a:solidFill>
                            <a:srgbClr val="14302A"/>
                          </a:solidFill>
                        </a:rPr>
                        <a:t>Python FastAPI + Uvicorn</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200" dirty="0">
                          <a:solidFill>
                            <a:srgbClr val="14302A"/>
                          </a:solidFill>
                        </a:rPr>
                        <a:t>Readable, fast, automatic API docs</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200" b="1" dirty="0">
                          <a:solidFill>
                            <a:srgbClr val="14302A"/>
                          </a:solidFill>
                        </a:rPr>
                        <a:t>AI</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c>
                  <a:txBody>
                    <a:bodyPr/>
                    <a:lstStyle/>
                    <a:p>
                      <a:pPr indent="0" marL="0">
                        <a:buNone/>
                      </a:pPr>
                      <a:r>
                        <a:rPr lang="en-US" sz="1200" dirty="0">
                          <a:solidFill>
                            <a:srgbClr val="14302A"/>
                          </a:solidFill>
                        </a:rPr>
                        <a:t>Claude API (Anthropic SDK)</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c>
                  <a:txBody>
                    <a:bodyPr/>
                    <a:lstStyle/>
                    <a:p>
                      <a:pPr indent="0" marL="0">
                        <a:buNone/>
                      </a:pPr>
                      <a:r>
                        <a:rPr lang="en-US" sz="1200" dirty="0">
                          <a:solidFill>
                            <a:srgbClr val="14302A"/>
                          </a:solidFill>
                        </a:rPr>
                        <a:t>Answers in 3 languages from our data only</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4302A"/>
                          </a:solidFill>
                        </a:rPr>
                        <a:t>Scanning</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200" dirty="0">
                          <a:solidFill>
                            <a:srgbClr val="14302A"/>
                          </a:solidFill>
                        </a:rPr>
                        <a:t>html5-qrcode</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200" dirty="0">
                          <a:solidFill>
                            <a:srgbClr val="14302A"/>
                          </a:solidFill>
                        </a:rPr>
                        <a:t>Camera or photo, in the browser</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200" b="1" dirty="0">
                          <a:solidFill>
                            <a:srgbClr val="14302A"/>
                          </a:solidFill>
                        </a:rPr>
                        <a:t>Maps</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c>
                  <a:txBody>
                    <a:bodyPr/>
                    <a:lstStyle/>
                    <a:p>
                      <a:pPr indent="0" marL="0">
                        <a:buNone/>
                      </a:pPr>
                      <a:r>
                        <a:rPr lang="en-US" sz="1200" dirty="0">
                          <a:solidFill>
                            <a:srgbClr val="14302A"/>
                          </a:solidFill>
                        </a:rPr>
                        <a:t>Leaflet + OpenStreetMap</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c>
                  <a:txBody>
                    <a:bodyPr/>
                    <a:lstStyle/>
                    <a:p>
                      <a:pPr indent="0" marL="0">
                        <a:buNone/>
                      </a:pPr>
                      <a:r>
                        <a:rPr lang="en-US" sz="1200" dirty="0">
                          <a:solidFill>
                            <a:srgbClr val="14302A"/>
                          </a:solidFill>
                        </a:rPr>
                        <a:t>Free map data, no API key</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4302A"/>
                          </a:solidFill>
                        </a:rPr>
                        <a:t>Data</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200" dirty="0">
                          <a:solidFill>
                            <a:srgbClr val="14302A"/>
                          </a:solidFill>
                        </a:rPr>
                        <a:t>JSON files + Open Food Facts API</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200" dirty="0">
                          <a:solidFill>
                            <a:srgbClr val="14302A"/>
                          </a:solidFill>
                        </a:rPr>
                        <a:t>Editable without code; real products</a:t>
                      </a:r>
                      <a:endParaRPr lang="en-US" sz="1200" dirty="0"/>
                    </a:p>
                  </a:txBody>
                  <a:tcPr marL="91440" marR="91440" marT="45720" marB="45720">
                    <a:lnL w="9525" cap="flat" cmpd="sng" algn="ctr">
                      <a:solidFill>
                        <a:srgbClr val="D9E0DA"/>
                      </a:solidFill>
                      <a:prstDash val="solid"/>
                      <a:round/>
                      <a:headEnd type="none" w="med" len="med"/>
                      <a:tailEnd type="none" w="med" len="med"/>
                    </a:lnL>
                    <a:lnR w="9525" cap="flat" cmpd="sng" algn="ctr">
                      <a:solidFill>
                        <a:srgbClr val="D9E0DA"/>
                      </a:solidFill>
                      <a:prstDash val="solid"/>
                      <a:round/>
                      <a:headEnd type="none" w="med" len="med"/>
                      <a:tailEnd type="none" w="med" len="med"/>
                    </a:lnR>
                    <a:lnT w="9525" cap="flat" cmpd="sng" algn="ctr">
                      <a:solidFill>
                        <a:srgbClr val="D9E0DA"/>
                      </a:solidFill>
                      <a:prstDash val="solid"/>
                      <a:round/>
                      <a:headEnd type="none" w="med" len="med"/>
                      <a:tailEnd type="none" w="med" len="med"/>
                    </a:lnT>
                    <a:lnB w="9525" cap="flat" cmpd="sng" algn="ctr">
                      <a:solidFill>
                        <a:srgbClr val="D9E0DA"/>
                      </a:solidFill>
                      <a:prstDash val="solid"/>
                      <a:round/>
                      <a:headEnd type="none" w="med" len="med"/>
                      <a:tailEnd type="none" w="med" len="med"/>
                    </a:lnB>
                    <a:solidFill>
                      <a:srgbClr val="F6F7F2"/>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92608"/>
            <a:ext cx="8229600" cy="274320"/>
          </a:xfrm>
          <a:prstGeom prst="rect">
            <a:avLst/>
          </a:prstGeom>
          <a:noFill/>
          <a:ln/>
        </p:spPr>
        <p:txBody>
          <a:bodyPr wrap="square" lIns="0" tIns="0" rIns="0" bIns="0" rtlCol="0"/>
          <a:lstStyle/>
          <a:p>
            <a:pPr indent="0" marL="0">
              <a:buNone/>
            </a:pPr>
            <a:r>
              <a:rPr lang="en-US" sz="1100" b="1" spc="200" kern="0" dirty="0">
                <a:solidFill>
                  <a:srgbClr val="1F7A4D"/>
                </a:solidFill>
              </a:rPr>
              <a:t>WHAT’S NEXT</a:t>
            </a:r>
            <a:endParaRPr lang="en-US" sz="1100" dirty="0"/>
          </a:p>
        </p:txBody>
      </p:sp>
      <p:sp>
        <p:nvSpPr>
          <p:cNvPr id="3" name="Text 0"/>
          <p:cNvSpPr/>
          <p:nvPr>
            <p:ph idx="101" type="title" hasCustomPrompt="1"/>
          </p:nvPr>
        </p:nvSpPr>
        <p:spPr>
          <a:xfrm>
            <a:off x="457200" y="566928"/>
            <a:ext cx="8229600" cy="868680"/>
          </a:xfrm>
          <a:prstGeom prst="rect">
            <a:avLst/>
          </a:prstGeom>
          <a:noFill/>
          <a:ln/>
        </p:spPr>
        <p:txBody>
          <a:bodyPr wrap="square" lIns="0" tIns="0" rIns="0" bIns="0" rtlCol="0" anchor="t"/>
          <a:lstStyle/>
          <a:p>
            <a:pPr algn="l" indent="0" marL="0">
              <a:buNone/>
            </a:pPr>
            <a:r>
              <a:rPr lang="en-US" sz="2600" b="1" dirty="0">
                <a:solidFill>
                  <a:srgbClr val="14302A"/>
                </a:solidFill>
                <a:latin typeface="Cambria" pitchFamily="34" charset="0"/>
                <a:ea typeface="Cambria" pitchFamily="34" charset="-122"/>
                <a:cs typeface="Cambria" pitchFamily="34" charset="-120"/>
              </a:rPr>
              <a:t>The method works; the next step is real Regina data</a:t>
            </a:r>
            <a:endParaRPr lang="en-US" sz="2600" dirty="0"/>
          </a:p>
        </p:txBody>
      </p:sp>
      <p:sp>
        <p:nvSpPr>
          <p:cNvPr id="5" name="next-card-1"/>
          <p:cNvSpPr/>
          <p:nvPr/>
        </p:nvSpPr>
        <p:spPr>
          <a:xfrm>
            <a:off x="457200" y="1645920"/>
            <a:ext cx="4023360" cy="2788920"/>
          </a:xfrm>
          <a:prstGeom prst="roundRect">
            <a:avLst>
              <a:gd name="adj" fmla="val 2623"/>
            </a:avLst>
          </a:prstGeom>
          <a:solidFill>
            <a:srgbClr val="FFFFFF"/>
          </a:solidFill>
          <a:ln w="9525">
            <a:solidFill>
              <a:srgbClr val="D9E0DA"/>
            </a:solidFill>
            <a:prstDash val="solid"/>
          </a:ln>
        </p:spPr>
      </p:sp>
      <p:sp>
        <p:nvSpPr>
          <p:cNvPr id="6" name="next-icon-1"/>
          <p:cNvSpPr/>
          <p:nvPr/>
        </p:nvSpPr>
        <p:spPr>
          <a:xfrm>
            <a:off x="685800" y="1828800"/>
            <a:ext cx="411480" cy="411480"/>
          </a:xfrm>
          <a:prstGeom prst="ellipse">
            <a:avLst/>
          </a:prstGeom>
          <a:solidFill>
            <a:srgbClr val="D9822B"/>
          </a:solidFill>
          <a:ln w="12700">
            <a:solidFill>
              <a:srgbClr val="D9822B"/>
            </a:solidFill>
            <a:prstDash val="solid"/>
          </a:ln>
        </p:spPr>
      </p:sp>
      <p:sp>
        <p:nvSpPr>
          <p:cNvPr id="7" name="Text 4"/>
          <p:cNvSpPr txBox="1"/>
          <p:nvPr/>
        </p:nvSpPr>
        <p:spPr>
          <a:xfrm>
            <a:off x="685800" y="182880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8" name="Text 5"/>
          <p:cNvSpPr txBox="1"/>
          <p:nvPr/>
        </p:nvSpPr>
        <p:spPr>
          <a:xfrm>
            <a:off x="1234440" y="1828800"/>
            <a:ext cx="3017520" cy="411480"/>
          </a:xfrm>
          <a:prstGeom prst="rect">
            <a:avLst/>
          </a:prstGeom>
          <a:noFill/>
          <a:ln/>
        </p:spPr>
        <p:txBody>
          <a:bodyPr wrap="square" lIns="0" tIns="0" rIns="0" bIns="0" rtlCol="0" anchor="ctr"/>
          <a:lstStyle/>
          <a:p>
            <a:pPr indent="0" marL="0">
              <a:buNone/>
            </a:pPr>
            <a:r>
              <a:rPr lang="en-US" sz="1700" b="1" dirty="0">
                <a:solidFill>
                  <a:srgbClr val="14302A"/>
                </a:solidFill>
              </a:rPr>
              <a:t>Limits today</a:t>
            </a:r>
            <a:endParaRPr lang="en-US" sz="1700" dirty="0"/>
          </a:p>
        </p:txBody>
      </p:sp>
      <p:sp>
        <p:nvSpPr>
          <p:cNvPr id="9" name="Text 6"/>
          <p:cNvSpPr txBox="1"/>
          <p:nvPr/>
        </p:nvSpPr>
        <p:spPr>
          <a:xfrm>
            <a:off x="685800" y="2423160"/>
            <a:ext cx="3611880" cy="1874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A5A52"/>
                </a:solidFill>
              </a:rPr>
              <a:t>Demo products use fictional brands</a:t>
            </a:r>
            <a:endParaRPr lang="en-US" sz="1400" dirty="0"/>
          </a:p>
          <a:p>
            <a:pPr marL="342900" indent="-342900">
              <a:spcAft>
                <a:spcPts val="600"/>
              </a:spcAft>
              <a:buSzPct val="100000"/>
              <a:buChar char="•"/>
            </a:pPr>
            <a:r>
              <a:rPr lang="en-US" sz="1400" dirty="0">
                <a:solidFill>
                  <a:srgbClr val="4A5A52"/>
                </a:solidFill>
              </a:rPr>
              <a:t>Store locations are approximate</a:t>
            </a:r>
            <a:endParaRPr lang="en-US" sz="1400" dirty="0"/>
          </a:p>
          <a:p>
            <a:pPr marL="342900" indent="-342900">
              <a:spcAft>
                <a:spcPts val="600"/>
              </a:spcAft>
              <a:buSzPct val="100000"/>
              <a:buChar char="•"/>
            </a:pPr>
            <a:r>
              <a:rPr lang="en-US" sz="1400" dirty="0">
                <a:solidFill>
                  <a:srgbClr val="4A5A52"/>
                </a:solidFill>
              </a:rPr>
              <a:t>Real products have no prices yet</a:t>
            </a:r>
            <a:endParaRPr lang="en-US" sz="1400" dirty="0"/>
          </a:p>
          <a:p>
            <a:pPr marL="342900" indent="-342900">
              <a:spcAft>
                <a:spcPts val="600"/>
              </a:spcAft>
              <a:buSzPct val="100000"/>
              <a:buChar char="•"/>
            </a:pPr>
            <a:r>
              <a:rPr lang="en-US" sz="1400" dirty="0">
                <a:solidFill>
                  <a:srgbClr val="4A5A52"/>
                </a:solidFill>
              </a:rPr>
              <a:t>AI answers need an API key</a:t>
            </a:r>
            <a:endParaRPr lang="en-US" sz="1400" dirty="0"/>
          </a:p>
        </p:txBody>
      </p:sp>
      <p:sp>
        <p:nvSpPr>
          <p:cNvPr id="10" name="next-card-2"/>
          <p:cNvSpPr/>
          <p:nvPr/>
        </p:nvSpPr>
        <p:spPr>
          <a:xfrm>
            <a:off x="4663440" y="1645920"/>
            <a:ext cx="4023360" cy="2788920"/>
          </a:xfrm>
          <a:prstGeom prst="roundRect">
            <a:avLst>
              <a:gd name="adj" fmla="val 2623"/>
            </a:avLst>
          </a:prstGeom>
          <a:solidFill>
            <a:srgbClr val="FFFFFF"/>
          </a:solidFill>
          <a:ln w="9525">
            <a:solidFill>
              <a:srgbClr val="D9E0DA"/>
            </a:solidFill>
            <a:prstDash val="solid"/>
          </a:ln>
        </p:spPr>
      </p:sp>
      <p:sp>
        <p:nvSpPr>
          <p:cNvPr id="11" name="next-icon-2"/>
          <p:cNvSpPr/>
          <p:nvPr/>
        </p:nvSpPr>
        <p:spPr>
          <a:xfrm>
            <a:off x="4892040" y="1828800"/>
            <a:ext cx="411480" cy="411480"/>
          </a:xfrm>
          <a:prstGeom prst="ellipse">
            <a:avLst/>
          </a:prstGeom>
          <a:solidFill>
            <a:srgbClr val="1F7A4D"/>
          </a:solidFill>
          <a:ln w="12700">
            <a:solidFill>
              <a:srgbClr val="1F7A4D"/>
            </a:solidFill>
            <a:prstDash val="solid"/>
          </a:ln>
        </p:spPr>
      </p:sp>
      <p:sp>
        <p:nvSpPr>
          <p:cNvPr id="12" name="Text 9"/>
          <p:cNvSpPr txBox="1"/>
          <p:nvPr/>
        </p:nvSpPr>
        <p:spPr>
          <a:xfrm>
            <a:off x="4892040" y="182880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3" name="Text 10"/>
          <p:cNvSpPr txBox="1"/>
          <p:nvPr/>
        </p:nvSpPr>
        <p:spPr>
          <a:xfrm>
            <a:off x="5440680" y="1828800"/>
            <a:ext cx="3017520" cy="411480"/>
          </a:xfrm>
          <a:prstGeom prst="rect">
            <a:avLst/>
          </a:prstGeom>
          <a:noFill/>
          <a:ln/>
        </p:spPr>
        <p:txBody>
          <a:bodyPr wrap="square" lIns="0" tIns="0" rIns="0" bIns="0" rtlCol="0" anchor="ctr"/>
          <a:lstStyle/>
          <a:p>
            <a:pPr indent="0" marL="0">
              <a:buNone/>
            </a:pPr>
            <a:r>
              <a:rPr lang="en-US" sz="1700" b="1" dirty="0">
                <a:solidFill>
                  <a:srgbClr val="14302A"/>
                </a:solidFill>
              </a:rPr>
              <a:t>Next steps</a:t>
            </a:r>
            <a:endParaRPr lang="en-US" sz="1700" dirty="0"/>
          </a:p>
        </p:txBody>
      </p:sp>
      <p:sp>
        <p:nvSpPr>
          <p:cNvPr id="14" name="Text 11"/>
          <p:cNvSpPr txBox="1"/>
          <p:nvPr/>
        </p:nvSpPr>
        <p:spPr>
          <a:xfrm>
            <a:off x="4892040" y="2423160"/>
            <a:ext cx="3611880" cy="1874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A5A52"/>
                </a:solidFill>
              </a:rPr>
              <a:t>Photograph 20–30 real products in Regina stores</a:t>
            </a:r>
            <a:endParaRPr lang="en-US" sz="1400" dirty="0"/>
          </a:p>
          <a:p>
            <a:pPr marL="342900" indent="-342900">
              <a:spcAft>
                <a:spcPts val="600"/>
              </a:spcAft>
              <a:buSzPct val="100000"/>
              <a:buChar char="•"/>
            </a:pPr>
            <a:r>
              <a:rPr lang="en-US" sz="1400" dirty="0">
                <a:solidFill>
                  <a:srgbClr val="4A5A52"/>
                </a:solidFill>
              </a:rPr>
              <a:t>Check certifications against official registries</a:t>
            </a:r>
            <a:endParaRPr lang="en-US" sz="1400" dirty="0"/>
          </a:p>
          <a:p>
            <a:pPr marL="342900" indent="-342900">
              <a:spcAft>
                <a:spcPts val="600"/>
              </a:spcAft>
              <a:buSzPct val="100000"/>
              <a:buChar char="•"/>
            </a:pPr>
            <a:r>
              <a:rPr lang="en-US" sz="1400" dirty="0">
                <a:solidFill>
                  <a:srgbClr val="4A5A52"/>
                </a:solidFill>
              </a:rPr>
              <a:t>Add flyer prices and a weekly price tracker</a:t>
            </a:r>
            <a:endParaRPr lang="en-US" sz="1400" dirty="0"/>
          </a:p>
          <a:p>
            <a:pPr marL="342900" indent="-342900">
              <a:spcAft>
                <a:spcPts val="600"/>
              </a:spcAft>
              <a:buSzPct val="100000"/>
              <a:buChar char="•"/>
            </a:pPr>
            <a:r>
              <a:rPr lang="en-US" sz="1400" dirty="0">
                <a:solidFill>
                  <a:srgbClr val="4A5A52"/>
                </a:solidFill>
              </a:rPr>
              <a:t>Add Arabic, Ukrainian, Tigrinya and Dari</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65760"/>
          </a:xfrm>
          <a:prstGeom prst="rect">
            <a:avLst/>
          </a:prstGeom>
          <a:noFill/>
          <a:ln/>
        </p:spPr>
        <p:txBody>
          <a:bodyPr wrap="square" rtlCol="0"/>
          <a:lstStyle/>
          <a:p>
            <a:pPr indent="0" marL="0">
              <a:buNone/>
            </a:pPr>
            <a:r>
              <a:rPr lang="en-US" sz="1300" b="1" spc="200" kern="0" dirty="0">
                <a:solidFill>
                  <a:srgbClr val="8FD4AE"/>
                </a:solidFill>
              </a:rPr>
              <a:t>QUESTIONS</a:t>
            </a:r>
            <a:endParaRPr lang="en-US" sz="1300" dirty="0"/>
          </a:p>
        </p:txBody>
      </p:sp>
      <p:sp>
        <p:nvSpPr>
          <p:cNvPr id="3" name="Text 0"/>
          <p:cNvSpPr/>
          <p:nvPr>
            <p:ph idx="101" type="title" hasCustomPrompt="1"/>
          </p:nvPr>
        </p:nvSpPr>
        <p:spPr>
          <a:xfrm>
            <a:off x="548640" y="1234440"/>
            <a:ext cx="8046720" cy="1737360"/>
          </a:xfrm>
          <a:prstGeom prst="rect">
            <a:avLst/>
          </a:prstGeom>
          <a:noFill/>
          <a:ln/>
        </p:spPr>
        <p:txBody>
          <a:bodyPr wrap="square" rtlCol="0" anchor="t"/>
          <a:lstStyle/>
          <a:p>
            <a:pPr algn="l" indent="0" marL="0">
              <a:buNone/>
            </a:pPr>
            <a:r>
              <a:rPr lang="en-US" sz="4800" b="1" dirty="0">
                <a:solidFill>
                  <a:srgbClr val="F6F7F2"/>
                </a:solidFill>
                <a:latin typeface="Cambria" pitchFamily="34" charset="0"/>
                <a:ea typeface="Cambria" pitchFamily="34" charset="-122"/>
                <a:cs typeface="Cambria" pitchFamily="34" charset="-120"/>
              </a:rPr>
              <a:t>Thank you</a:t>
            </a:r>
            <a:endParaRPr lang="en-US" sz="4800" dirty="0"/>
          </a:p>
        </p:txBody>
      </p:sp>
      <p:sp>
        <p:nvSpPr>
          <p:cNvPr id="4" name="Text 0"/>
          <p:cNvSpPr/>
          <p:nvPr>
            <p:ph idx="102" type="body" hasCustomPrompt="1"/>
          </p:nvPr>
        </p:nvSpPr>
        <p:spPr>
          <a:xfrm>
            <a:off x="548640" y="3017520"/>
            <a:ext cx="7132320" cy="822960"/>
          </a:xfrm>
          <a:prstGeom prst="rect">
            <a:avLst/>
          </a:prstGeom>
          <a:noFill/>
          <a:ln/>
        </p:spPr>
        <p:txBody>
          <a:bodyPr wrap="square" rtlCol="0" anchor="t"/>
          <a:lstStyle/>
          <a:p>
            <a:pPr indent="0" marL="0">
              <a:buNone/>
            </a:pPr>
            <a:r>
              <a:rPr lang="en-US" sz="1800" dirty="0">
                <a:solidFill>
                  <a:srgbClr val="C9DDD2"/>
                </a:solidFill>
              </a:rPr>
              <a:t>Your values, honest evidence, and the store around the corner.</a:t>
            </a:r>
            <a:endParaRPr lang="en-US" sz="1800" dirty="0"/>
          </a:p>
        </p:txBody>
      </p:sp>
      <p:sp>
        <p:nvSpPr>
          <p:cNvPr id="5" name="Text 3"/>
          <p:cNvSpPr txBox="1"/>
          <p:nvPr/>
        </p:nvSpPr>
        <p:spPr>
          <a:xfrm>
            <a:off x="548640" y="4343400"/>
            <a:ext cx="8046720" cy="320040"/>
          </a:xfrm>
          <a:prstGeom prst="rect">
            <a:avLst/>
          </a:prstGeom>
          <a:noFill/>
          <a:ln/>
        </p:spPr>
        <p:txBody>
          <a:bodyPr wrap="square" lIns="0" tIns="0" rIns="0" bIns="0" rtlCol="0" anchor="t"/>
          <a:lstStyle/>
          <a:p>
            <a:pPr indent="0" marL="0">
              <a:buNone/>
            </a:pPr>
            <a:r>
              <a:rPr lang="en-US" sz="1400" dirty="0">
                <a:solidFill>
                  <a:srgbClr val="8FD4AE"/>
                </a:solidFill>
              </a:rPr>
              <a:t>Try it live: [demo link]</a:t>
            </a:r>
            <a:endParaRPr lang="en-US" sz="1400" dirty="0"/>
          </a:p>
        </p:txBody>
      </p:sp>
    </p:spTree>
  </p:cSld>
  <p:clrMapOvr>
    <a:masterClrMapping/>
  </p:clrMapOvr>
</p:sld>
</file>

<file path=ppt/theme/theme1.xml><?xml version="1.0" encoding="utf-8"?>
<a:theme xmlns:a="http://schemas.openxmlformats.org/drawingml/2006/main" name="TruthShift">
  <a:themeElements>
    <a:clrScheme name="TruthShift">
      <a:dk1>
        <a:srgbClr val="14302A"/>
      </a:dk1>
      <a:lt1>
        <a:srgbClr val="FFFFFF"/>
      </a:lt1>
      <a:dk2>
        <a:srgbClr val="4A5A52"/>
      </a:dk2>
      <a:lt2>
        <a:srgbClr val="E7EFE9"/>
      </a:lt2>
      <a:accent1>
        <a:srgbClr val="1F7A4D"/>
      </a:accent1>
      <a:accent2>
        <a:srgbClr val="D9822B"/>
      </a:accent2>
      <a:accent3>
        <a:srgbClr val="8FD4AE"/>
      </a:accent3>
      <a:accent4>
        <a:srgbClr val="C9DDD2"/>
      </a:accent4>
      <a:accent5>
        <a:srgbClr val="1D4038"/>
      </a:accent5>
      <a:accent6>
        <a:srgbClr val="F6F7F2"/>
      </a:accent6>
      <a:hlink>
        <a:srgbClr val="1F7A4D"/>
      </a:hlink>
      <a:folHlink>
        <a:srgbClr val="4A5A52"/>
      </a:folHlink>
    </a:clrScheme>
    <a:fontScheme name="TruthShif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TruthShift</dc:title>
  <dc:subject>PptxGenJS Presentation</dc:subject>
  <dc:creator>[Team name]</dc:creator>
  <cp:lastModifiedBy>[Team name]</cp:lastModifiedBy>
  <cp:revision>1</cp:revision>
  <dcterms:created xsi:type="dcterms:W3CDTF">2026-10-15T18:22:16Z</dcterms:created>
  <dcterms:modified xsi:type="dcterms:W3CDTF">2026-10-15T18:22:16Z</dcterms:modified>
</cp:coreProperties>
</file>
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e960e1a2-fcb1-af7f-0fdd-b42602f2e7c9}">
          <p14:sldIdLst>
            <p14:sldId id="256"/>
            <p14:sldId id="257"/>
            <p14:sldId id="258"/>
            <p14:sldId id="259"/>
          </p14:sldIdLst>
        </p14:section>
        <p14:section name="What it does" id="{15e11e1b-f219-e8ee-d98c-7d4eaa0c1f5f}">
          <p14:sldIdLst>
            <p14:sldId id="260"/>
            <p14:sldId id="261"/>
            <p14:sldId id="262"/>
          </p14:sldIdLst>
        </p14:section>
        <p14:section name="Demo" id="{0183240d-3487-b973-3e8d-fcb70665af27}">
          <p14:sldIdLst>
            <p14:sldId id="263"/>
          </p14:sldIdLst>
        </p14:section>
        <p14:section name="How it is built" id="{fbf0c2cb-e285-1fc9-a55e-ecba1de36171}">
          <p14:sldIdLst>
            <p14:sldId id="264"/>
            <p14:sldId id="265"/>
          </p14:sldIdLst>
        </p14:section>
        <p14:section name="Next" id="{5087b9ef-9cc9-e378-89d8-ac65f1bff04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Queen City Dark Roast</c:v>
                </c:pt>
              </c:strCache>
            </c:strRef>
          </c:tx>
          <c:spPr>
            <a:solidFill>
              <a:srgbClr val="1F7A4D"/>
            </a:solidFill>
            <a:effectLst/>
          </c:spPr>
          <c:invertIfNegative val="0"/>
          <c:dLbls>
            <c:numFmt formatCode="#,##0" sourceLinked="0"/>
            <c:txPr>
              <a:bodyPr/>
              <a:lstStyle/>
              <a:p>
                <a:pPr>
                  <a:defRPr b="1" i="0" strike="noStrike" sz="1200" u="none">
                    <a:solidFill>
                      <a:srgbClr val="14302A"/>
                    </a:solidFill>
                    <a:latin typeface="+mn-lt"/>
                  </a:defRPr>
                </a:pPr>
              </a:p>
            </c:txPr>
            <c:showLegendKey val="0"/>
            <c:showVal val="1"/>
            <c:showCatName val="0"/>
            <c:showSerName val="0"/>
            <c:showPercent val="0"/>
            <c:showBubbleSize val="0"/>
            <c:showLeaderLines val="0"/>
          </c:dLbls>
          <c:cat>
            <c:multiLvlStrRef>
              <c:f>Sheet1!$A$2:$A$4</c:f>
              <c:multiLvlStrCache>
                <c:ptCount val="3"/>
                <c:lvl>
                  <c:pt idx="0">
                    <c:v>Buy Canadian</c:v>
                  </c:pt>
                  <c:pt idx="1">
                    <c:v>Fair labour</c:v>
                  </c:pt>
                  <c:pt idx="2">
                    <c:v>Tight budget</c:v>
                  </c:pt>
                </c:lvl>
              </c:multiLvlStrCache>
            </c:multiLvlStrRef>
          </c:cat>
          <c:val>
            <c:numRef>
              <c:f>Sheet1!$B$2:$B$4</c:f>
              <c:numCache>
                <c:formatCode>General</c:formatCode>
                <c:ptCount val="3"/>
                <c:pt idx="0">
                  <c:v>61</c:v>
                </c:pt>
                <c:pt idx="1">
                  <c:v>66</c:v>
                </c:pt>
                <c:pt idx="2">
                  <c:v>35</c:v>
                </c:pt>
              </c:numCache>
            </c:numRef>
          </c:val>
        </c:ser>
        <c:ser>
          <c:idx val="1"/>
          <c:order val="1"/>
          <c:tx>
            <c:strRef>
              <c:f>Sheet1!$C$1</c:f>
              <c:strCache>
                <c:ptCount val="1"/>
                <c:pt idx="0">
                  <c:v>Fairway Organic</c:v>
                </c:pt>
              </c:strCache>
            </c:strRef>
          </c:tx>
          <c:spPr>
            <a:solidFill>
              <a:srgbClr val="D9822B"/>
            </a:solidFill>
            <a:effectLst/>
          </c:spPr>
          <c:invertIfNegative val="0"/>
          <c:dLbls>
            <c:numFmt formatCode="#,##0" sourceLinked="0"/>
            <c:txPr>
              <a:bodyPr/>
              <a:lstStyle/>
              <a:p>
                <a:pPr>
                  <a:defRPr b="1" i="0" strike="noStrike" sz="1200" u="none">
                    <a:solidFill>
                      <a:srgbClr val="14302A"/>
                    </a:solidFill>
                    <a:latin typeface="+mn-lt"/>
                  </a:defRPr>
                </a:pPr>
              </a:p>
            </c:txPr>
            <c:showLegendKey val="0"/>
            <c:showVal val="1"/>
            <c:showCatName val="0"/>
            <c:showSerName val="0"/>
            <c:showPercent val="0"/>
            <c:showBubbleSize val="0"/>
            <c:showLeaderLines val="0"/>
          </c:dLbls>
          <c:cat>
            <c:multiLvlStrRef>
              <c:f>Sheet1!$A$2:$A$4</c:f>
              <c:multiLvlStrCache>
                <c:ptCount val="3"/>
                <c:lvl>
                  <c:pt idx="0">
                    <c:v>Buy Canadian</c:v>
                  </c:pt>
                  <c:pt idx="1">
                    <c:v>Fair labour</c:v>
                  </c:pt>
                  <c:pt idx="2">
                    <c:v>Tight budget</c:v>
                  </c:pt>
                </c:lvl>
              </c:multiLvlStrCache>
            </c:multiLvlStrRef>
          </c:cat>
          <c:val>
            <c:numRef>
              <c:f>Sheet1!$C$2:$C$4</c:f>
              <c:numCache>
                <c:formatCode>General</c:formatCode>
                <c:ptCount val="3"/>
                <c:pt idx="0">
                  <c:v>42</c:v>
                </c:pt>
                <c:pt idx="1">
                  <c:v>68</c:v>
                </c:pt>
                <c:pt idx="2">
                  <c:v>49</c:v>
                </c:pt>
              </c:numCache>
            </c:numRef>
          </c:val>
        </c:ser>
        <c:ser>
          <c:idx val="2"/>
          <c:order val="2"/>
          <c:tx>
            <c:strRef>
              <c:f>Sheet1!$D$1</c:f>
              <c:strCache>
                <c:ptCount val="1"/>
                <c:pt idx="0">
                  <c:v>Big Bean Instant</c:v>
                </c:pt>
              </c:strCache>
            </c:strRef>
          </c:tx>
          <c:spPr>
            <a:solidFill>
              <a:srgbClr val="7C8C84"/>
            </a:solidFill>
            <a:effectLst/>
          </c:spPr>
          <c:invertIfNegative val="0"/>
          <c:dLbls>
            <c:numFmt formatCode="#,##0" sourceLinked="0"/>
            <c:txPr>
              <a:bodyPr/>
              <a:lstStyle/>
              <a:p>
                <a:pPr>
                  <a:defRPr b="1" i="0" strike="noStrike" sz="1200" u="none">
                    <a:solidFill>
                      <a:srgbClr val="14302A"/>
                    </a:solidFill>
                    <a:latin typeface="+mn-lt"/>
                  </a:defRPr>
                </a:pPr>
              </a:p>
            </c:txPr>
            <c:showLegendKey val="0"/>
            <c:showVal val="1"/>
            <c:showCatName val="0"/>
            <c:showSerName val="0"/>
            <c:showPercent val="0"/>
            <c:showBubbleSize val="0"/>
            <c:showLeaderLines val="0"/>
          </c:dLbls>
          <c:cat>
            <c:multiLvlStrRef>
              <c:f>Sheet1!$A$2:$A$4</c:f>
              <c:multiLvlStrCache>
                <c:ptCount val="3"/>
                <c:lvl>
                  <c:pt idx="0">
                    <c:v>Buy Canadian</c:v>
                  </c:pt>
                  <c:pt idx="1">
                    <c:v>Fair labour</c:v>
                  </c:pt>
                  <c:pt idx="2">
                    <c:v>Tight budget</c:v>
                  </c:pt>
                </c:lvl>
              </c:multiLvlStrCache>
            </c:multiLvlStrRef>
          </c:cat>
          <c:val>
            <c:numRef>
              <c:f>Sheet1!$D$2:$D$4</c:f>
              <c:numCache>
                <c:formatCode>General</c:formatCode>
                <c:ptCount val="3"/>
                <c:pt idx="0">
                  <c:v>30</c:v>
                </c:pt>
                <c:pt idx="1">
                  <c:v>48</c:v>
                </c:pt>
                <c:pt idx="2">
                  <c:v>68</c:v>
                </c:pt>
              </c:numCache>
            </c:numRef>
          </c:val>
        </c:ser>
        <c:dLbls>
          <c:numFmt formatCode="#,##0" sourceLinked="0"/>
          <c:txPr>
            <a:bodyPr/>
            <a:lstStyle/>
            <a:p>
              <a:pPr>
                <a:defRPr b="1" i="0" strike="noStrike" sz="1200" u="none">
                  <a:solidFill>
                    <a:srgbClr val="143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4302A"/>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A5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2A"/>
                </a:solidFill>
                <a:latin typeface="+mn-lt"/>
              </a:defRPr>
            </a:pPr>
            <a:r>
              <a:rPr sz="1300" b="0" i="0" u="none" strike="noStrike">
                <a:solidFill>
                  <a:srgbClr val="14302A"/>
                </a:solidFill>
                <a:latin typeface="+mn-lt"/>
              </a:rPr>
              <a:t>Facts known (% of products)</a:t>
            </a:r>
          </a:p>
        </c:rich>
      </c:tx>
      <c:layout/>
      <c:overlay val="0"/>
    </c:title>
    <c:autoTitleDeleted val="0"/>
    <c:plotArea>
      <c:layout/>
      <c:barChart>
        <c:barDir val="bar"/>
        <c:grouping val="clustered"/>
        <c:varyColors val="0"/>
        <c:ser>
          <c:idx val="0"/>
          <c:order val="0"/>
          <c:tx>
            <c:strRef>
              <c:f>Sheet1!$B$1</c:f>
              <c:strCache>
                <c:ptCount val="1"/>
                <c:pt idx="0">
                  <c:v>Demo products</c:v>
                </c:pt>
              </c:strCache>
            </c:strRef>
          </c:tx>
          <c:spPr>
            <a:solidFill>
              <a:srgbClr val="AEB8B2"/>
            </a:solidFill>
            <a:effectLst/>
          </c:spPr>
          <c:invertIfNegative val="0"/>
          <c:dLbls>
            <c:numFmt formatCode="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c:v>
                  </c:pt>
                  <c:pt idx="1">
                    <c:v>Fair trade</c:v>
                  </c:pt>
                  <c:pt idx="2">
                    <c:v>Animal welfare</c:v>
                  </c:pt>
                  <c:pt idx="3">
                    <c:v>Environment</c:v>
                  </c:pt>
                  <c:pt idx="4">
                    <c:v>Packaging</c:v>
                  </c:pt>
                </c:lvl>
              </c:multiLvlStrCache>
            </c:multiLvlStrRef>
          </c:cat>
          <c:val>
            <c:numRef>
              <c:f>Sheet1!$B$2:$B$6</c:f>
              <c:numCache>
                <c:formatCode>General</c:formatCode>
                <c:ptCount val="5"/>
                <c:pt idx="0">
                  <c:v>89</c:v>
                </c:pt>
                <c:pt idx="1">
                  <c:v>50</c:v>
                </c:pt>
                <c:pt idx="2">
                  <c:v>73</c:v>
                </c:pt>
                <c:pt idx="3">
                  <c:v>65</c:v>
                </c:pt>
                <c:pt idx="4">
                  <c:v>100</c:v>
                </c:pt>
              </c:numCache>
            </c:numRef>
          </c:val>
        </c:ser>
        <c:ser>
          <c:idx val="1"/>
          <c:order val="1"/>
          <c:tx>
            <c:strRef>
              <c:f>Sheet1!$C$1</c:f>
              <c:strCache>
                <c:ptCount val="1"/>
                <c:pt idx="0">
                  <c:v>Real products</c:v>
                </c:pt>
              </c:strCache>
            </c:strRef>
          </c:tx>
          <c:spPr>
            <a:solidFill>
              <a:srgbClr val="1F7A4D"/>
            </a:solidFill>
            <a:effectLst/>
          </c:spPr>
          <c:invertIfNegative val="0"/>
          <c:dLbls>
            <c:numFmt formatCode="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c:v>
                  </c:pt>
                  <c:pt idx="1">
                    <c:v>Fair trade</c:v>
                  </c:pt>
                  <c:pt idx="2">
                    <c:v>Animal welfare</c:v>
                  </c:pt>
                  <c:pt idx="3">
                    <c:v>Environment</c:v>
                  </c:pt>
                  <c:pt idx="4">
                    <c:v>Packaging</c:v>
                  </c:pt>
                </c:lvl>
              </c:multiLvlStrCache>
            </c:multiLvlStrRef>
          </c:cat>
          <c:val>
            <c:numRef>
              <c:f>Sheet1!$C$2:$C$6</c:f>
              <c:numCache>
                <c:formatCode>General</c:formatCode>
                <c:ptCount val="5"/>
                <c:pt idx="0">
                  <c:v>6</c:v>
                </c:pt>
                <c:pt idx="1">
                  <c:v>0</c:v>
                </c:pt>
                <c:pt idx="2">
                  <c:v>8</c:v>
                </c:pt>
                <c:pt idx="3">
                  <c:v>85</c:v>
                </c:pt>
                <c:pt idx="4">
                  <c:v>3</c:v>
                </c:pt>
              </c:numCache>
            </c:numRef>
          </c:val>
        </c:ser>
        <c:dLbls>
          <c:numFmt formatCode="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302A"/>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5A5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name]. Our project is TruthShift, our answer to the RODS challenge The Ethical Consumer Compass. In one line: you tell the app what matters to you, scan a product, and it tells you how well that product fits your values, and how sure it is. This is the real app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imported 72 real products sold in Canada from Open Food Facts, the largest open food database. 68 of them, 94 percent, do not say where they are made. None list a fair-trade label. This is the problem: shoppers want to buy Canadian and ethically, but the facts are simply not there. And a tool that treats missing facts as bad would call almost everything unethical.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every ethical shopper asks, and none are easy to answer on a shelf. Where is it made? Made in Canada can still mean imported ingredients. Who owns the company? A familiar brand may have a foreign parent. Is it fair to workers and animals? Certifications, company claims and silence all look alike. And what happens to the packaging? Recycling rules differ by city, and Regina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RODS serves newcomers, so we designed for them. Their language: English, French and Gujarati screens, and the AI answers in the chosen language. Their budget: affordability is a priority like any other, and every better option shows the price difference. Their city: Regina stores on a map, local businesses, and Regina’s blue and green cart recycling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screen. Prairie Creamy Peanut Butter scores 76 out of 100 for the default priorities, with Medium confidence. Every fact shows its evidence: verified, claimed or unknown, with the source. Below, it shows where to buy it in Regina and how to recycle the 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of the challenge we took most seriously: communicate uncertainty and do not mislead. Verified means a certifier, government or registry confirmed it, and it counts fully. Claimed means the company or a community database says so, and it counts at 60 percent. Unknown is left out of the score completely and lowers the confidence meter instead. So a product with no labour information is not called unfair. It is called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means different things to different people, so the score is personal. These are three coffees from our demo data, scored for three shopper types using the app’s presets. A Buy Canadian shopper gets Queen City Dark Roast, roasted in Regina, at 61. A fair-labour shopper gets Fairway Organic, Fairtrade certified, at 68. A shopper on a tight budget gets Big Bean Instant at 68. Same products, same facts, different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1: Priorities tab, Buy Canadian preset, switch language to Gujarati. 2: Scan tab, search peanut, open Prairie Creamy Peanut Butter: 76, medium confidence, point at the evidence badges and the Made in Canada tier. 3: Compare tab, Coffee: well-documented products first, limited-data products last. 4: Ask tab: Canadian, no plastic, fair labour, which coffee? 5: Nearby tab: stores and distances. 6: type the real barcode 3017620422003 for a live Open Food Facts lookup. Backup if the internet fails: everything except the live lookup runs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frontend never scores anything itself; it asks the FastAPI backend. The backend owns the scoring rules and the dataset, looks up real products on Open Food Facts, and asks Claude for written answers when an API key is set. Map tiles load from OpenStreetMap straight into the browser. FastAPI gives us interactive API docs for free at localhost:8000/docs.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two kinds of data. 46 synthetic products with fictional brands, which the challenge allows, so we could show every kind of evidence. And 72 real products sold in Canada, from Open Food Facts. The chart shows how often a fact is known. In real data, origin, fair trade and packaging are almost always missing; only the Eco-Score is usually there. That is why unknown must never count as bad. Plus 10 Regina stores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demo products use fictional brands and store locations are approximate. Next: photograph 20 to 30 real products in Regina stores; check certifications against Fairtrade Canada and organic registries; add real prices from store flyers and a weekly price tracker; and add more languages used by RODS clients, such as Arabic, Ukrainian, Tigrinya and Dari.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code, this presentation and the documentation are on GitHub. We are happy to take questions, or let you try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30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rgbClr val="14302A"/>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txBox="1"/>
          <p:nvPr/>
        </p:nvSpPr>
        <p:spPr>
          <a:xfrm>
            <a:off x="457200" y="4754880"/>
            <a:ext cx="2743200" cy="274320"/>
          </a:xfrm>
          <a:prstGeom prst="rect">
            <a:avLst/>
          </a:prstGeom>
          <a:noFill/>
          <a:ln/>
        </p:spPr>
        <p:txBody>
          <a:bodyPr wrap="square" lIns="0" tIns="0" rIns="0" bIns="0" rtlCol="0" anchor="ctr"/>
          <a:lstStyle/>
          <a:p>
            <a:pPr indent="0" marL="0">
              <a:buNone/>
            </a:pPr>
            <a:r>
              <a:rPr lang="en-US" sz="1000" b="1" dirty="0">
                <a:solidFill>
                  <a:srgbClr val="6B7A72"/>
                </a:solidFill>
              </a:rPr>
              <a:t>TruthShift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30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rgbClr val="F6F7F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txBox="1"/>
          <p:nvPr/>
        </p:nvSpPr>
        <p:spPr>
          <a:xfrm>
            <a:off x="457200" y="4754880"/>
            <a:ext cx="2743200" cy="274320"/>
          </a:xfrm>
          <a:prstGeom prst="rect">
            <a:avLst/>
          </a:prstGeom>
          <a:noFill/>
          <a:ln/>
        </p:spPr>
        <p:txBody>
          <a:bodyPr wrap="square" lIns="0" tIns="0" rIns="0" bIns="0" rtlCol="0" anchor="ctr"/>
          <a:lstStyle/>
          <a:p>
            <a:pPr indent="0" marL="0">
              <a:buNone/>
            </a:pPr>
            <a:r>
              <a:rPr lang="en-US" sz="1000" b="1" dirty="0">
                <a:solidFill>
                  <a:srgbClr val="8FA89B"/>
                </a:solidFill>
              </a:rPr>
              <a:t>TruthShift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9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Nachiket-96/truthshift" TargetMode="External"/><Relationship Id="rId1"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5029200" cy="274320"/>
          </a:xfrm>
          <a:prstGeom prst="rect">
            <a:avLst/>
          </a:prstGeom>
          <a:noFill/>
          <a:ln/>
        </p:spPr>
        <p:txBody>
          <a:bodyPr wrap="square" lIns="0" tIns="0" rIns="0" bIns="0" rtlCol="0" anchor="t"/>
          <a:lstStyle/>
          <a:p>
            <a:pPr indent="0" marL="0">
              <a:buNone/>
            </a:pPr>
            <a:r>
              <a:rPr lang="en-US" sz="1200" b="1" spc="200" kern="0" dirty="0">
                <a:solidFill>
                  <a:srgbClr val="8FD4AE"/>
                </a:solidFill>
              </a:rPr>
              <a:t>RODS TECH SKILLS SHOWCASE 2026</a:t>
            </a:r>
            <a:endParaRPr lang="en-US" sz="1200" dirty="0"/>
          </a:p>
        </p:txBody>
      </p:sp>
      <p:sp>
        <p:nvSpPr>
          <p:cNvPr id="3" name="Text 1"/>
          <p:cNvSpPr txBox="1"/>
          <p:nvPr/>
        </p:nvSpPr>
        <p:spPr>
          <a:xfrm>
            <a:off x="548640" y="1417320"/>
            <a:ext cx="5120640" cy="1005840"/>
          </a:xfrm>
          <a:prstGeom prst="rect">
            <a:avLst/>
          </a:prstGeom>
          <a:noFill/>
          <a:ln/>
        </p:spPr>
        <p:txBody>
          <a:bodyPr wrap="square" lIns="0" tIns="0" rIns="0" bIns="0" rtlCol="0" anchor="t"/>
          <a:lstStyle/>
          <a:p>
            <a:pPr indent="0" marL="0">
              <a:buNone/>
            </a:pPr>
            <a:r>
              <a:rPr lang="en-US" sz="6400" b="1" dirty="0">
                <a:solidFill>
                  <a:srgbClr val="F6F7F2"/>
                </a:solidFill>
                <a:latin typeface="Cambria" pitchFamily="34" charset="0"/>
                <a:ea typeface="Cambria" pitchFamily="34" charset="-122"/>
                <a:cs typeface="Cambria" pitchFamily="34" charset="-120"/>
              </a:rPr>
              <a:t>TruthShift</a:t>
            </a:r>
            <a:endParaRPr lang="en-US" sz="6400" dirty="0"/>
          </a:p>
        </p:txBody>
      </p:sp>
      <p:sp>
        <p:nvSpPr>
          <p:cNvPr id="4" name="Text 2"/>
          <p:cNvSpPr txBox="1"/>
          <p:nvPr/>
        </p:nvSpPr>
        <p:spPr>
          <a:xfrm>
            <a:off x="548640" y="2514600"/>
            <a:ext cx="4754880" cy="914400"/>
          </a:xfrm>
          <a:prstGeom prst="rect">
            <a:avLst/>
          </a:prstGeom>
          <a:noFill/>
          <a:ln/>
        </p:spPr>
        <p:txBody>
          <a:bodyPr wrap="square" lIns="0" tIns="0" rIns="0" bIns="0" rtlCol="0" anchor="t"/>
          <a:lstStyle/>
          <a:p>
            <a:pPr indent="0" marL="0">
              <a:buNone/>
            </a:pPr>
            <a:r>
              <a:rPr lang="en-US" sz="2400" dirty="0">
                <a:solidFill>
                  <a:srgbClr val="C9DDD2"/>
                </a:solidFill>
              </a:rPr>
              <a:t>Shop by your values.</a:t>
            </a:r>
            <a:endParaRPr lang="en-US" sz="2400" dirty="0"/>
          </a:p>
          <a:p>
            <a:pPr indent="0" marL="0">
              <a:buNone/>
            </a:pPr>
            <a:r>
              <a:rPr lang="en-US" sz="2400" dirty="0">
                <a:solidFill>
                  <a:srgbClr val="C9DDD2"/>
                </a:solidFill>
              </a:rPr>
              <a:t>See what’s true.</a:t>
            </a:r>
            <a:endParaRPr lang="en-US" sz="2400" dirty="0"/>
          </a:p>
        </p:txBody>
      </p:sp>
      <p:sp>
        <p:nvSpPr>
          <p:cNvPr id="5" name="Text 3"/>
          <p:cNvSpPr txBox="1"/>
          <p:nvPr/>
        </p:nvSpPr>
        <p:spPr>
          <a:xfrm>
            <a:off x="548640" y="4434840"/>
            <a:ext cx="5120640" cy="274320"/>
          </a:xfrm>
          <a:prstGeom prst="rect">
            <a:avLst/>
          </a:prstGeom>
          <a:noFill/>
          <a:ln/>
        </p:spPr>
        <p:txBody>
          <a:bodyPr wrap="square" lIns="0" tIns="0" rIns="0" bIns="0" rtlCol="0" anchor="t"/>
          <a:lstStyle/>
          <a:p>
            <a:pPr indent="0" marL="0">
              <a:buNone/>
            </a:pPr>
            <a:r>
              <a:rPr lang="en-US" sz="1100" dirty="0">
                <a:solidFill>
                  <a:srgbClr val="C9DDD2"/>
                </a:solidFill>
              </a:rPr>
              <a:t>[Team name] · [Member 1], [Member 2], [Member 3], [Member 4], [Member 5]</a:t>
            </a:r>
            <a:endParaRPr lang="en-US" sz="1100" dirty="0"/>
          </a:p>
        </p:txBody>
      </p:sp>
      <p:sp>
        <p:nvSpPr>
          <p:cNvPr id="6" name="phone-frame"/>
          <p:cNvSpPr/>
          <p:nvPr/>
        </p:nvSpPr>
        <p:spPr>
          <a:xfrm>
            <a:off x="5989320" y="411480"/>
            <a:ext cx="2606040" cy="4315968"/>
          </a:xfrm>
          <a:prstGeom prst="roundRect">
            <a:avLst>
              <a:gd name="adj" fmla="val 7719"/>
            </a:avLst>
          </a:prstGeom>
          <a:solidFill>
            <a:srgbClr val="0B1B17"/>
          </a:solidFill>
          <a:ln w="19050">
            <a:solidFill>
              <a:srgbClr val="35574D"/>
            </a:solidFill>
            <a:prstDash val="solid"/>
          </a:ln>
          <a:effectLst>
            <a:outerShdw sx="100000" sy="100000" kx="0" ky="0" algn="bl" rotWithShape="0" blurRad="101600" dist="38100" dir="5400000">
              <a:srgbClr val="000000">
                <a:alpha val="18000"/>
              </a:srgbClr>
            </a:outerShdw>
          </a:effectLst>
        </p:spPr>
      </p:sp>
      <p:pic>
        <p:nvPicPr>
          <p:cNvPr id="7" name="phone-screenshot" descr="TruthShift on a phone: Prairie Creamy Peanut Butter scores 76 with Medium confidence">    </p:cNvPr>
          <p:cNvPicPr>
            <a:picLocks noChangeAspect="1"/>
          </p:cNvPicPr>
          <p:nvPr/>
        </p:nvPicPr>
        <p:blipFill>
          <a:blip r:embed="rId1"/>
          <a:stretch>
            <a:fillRect/>
          </a:stretch>
        </p:blipFill>
        <p:spPr>
          <a:xfrm>
            <a:off x="6099048" y="521208"/>
            <a:ext cx="2386584" cy="38770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457200" y="822960"/>
            <a:ext cx="8229600" cy="2011680"/>
          </a:xfrm>
          <a:prstGeom prst="rect">
            <a:avLst/>
          </a:prstGeom>
          <a:noFill/>
          <a:ln/>
        </p:spPr>
        <p:txBody>
          <a:bodyPr wrap="square" lIns="0" tIns="0" rIns="0" bIns="0" rtlCol="0" anchor="t"/>
          <a:lstStyle/>
          <a:p>
            <a:pPr algn="l" indent="0" marL="0">
              <a:buNone/>
            </a:pPr>
            <a:r>
              <a:rPr lang="en-US" sz="15000" b="1" dirty="0">
                <a:solidFill>
                  <a:srgbClr val="8FD4AE"/>
                </a:solidFill>
                <a:latin typeface="Cambria" pitchFamily="34" charset="0"/>
                <a:ea typeface="Cambria" pitchFamily="34" charset="-122"/>
                <a:cs typeface="Cambria" pitchFamily="34" charset="-120"/>
              </a:rPr>
              <a:t>94%</a:t>
            </a:r>
            <a:endParaRPr lang="en-US" sz="15000" dirty="0"/>
          </a:p>
        </p:txBody>
      </p:sp>
      <p:sp>
        <p:nvSpPr>
          <p:cNvPr id="4" name="Text 1"/>
          <p:cNvSpPr txBox="1"/>
          <p:nvPr/>
        </p:nvSpPr>
        <p:spPr>
          <a:xfrm>
            <a:off x="457200" y="2926080"/>
            <a:ext cx="7772400" cy="548640"/>
          </a:xfrm>
          <a:prstGeom prst="rect">
            <a:avLst/>
          </a:prstGeom>
          <a:noFill/>
          <a:ln/>
        </p:spPr>
        <p:txBody>
          <a:bodyPr wrap="square" lIns="0" tIns="0" rIns="0" bIns="0" rtlCol="0" anchor="t"/>
          <a:lstStyle/>
          <a:p>
            <a:pPr indent="0" marL="0">
              <a:buNone/>
            </a:pPr>
            <a:r>
              <a:rPr lang="en-US" sz="2800" dirty="0">
                <a:solidFill>
                  <a:srgbClr val="F6F7F2"/>
                </a:solidFill>
              </a:rPr>
              <a:t>of real products don’t say where they’re made</a:t>
            </a:r>
            <a:endParaRPr lang="en-US" sz="2800" dirty="0"/>
          </a:p>
        </p:txBody>
      </p:sp>
      <p:sp>
        <p:nvSpPr>
          <p:cNvPr id="5" name="Text 2"/>
          <p:cNvSpPr txBox="1"/>
          <p:nvPr/>
        </p:nvSpPr>
        <p:spPr>
          <a:xfrm>
            <a:off x="457200" y="3566160"/>
            <a:ext cx="7315200" cy="365760"/>
          </a:xfrm>
          <a:prstGeom prst="rect">
            <a:avLst/>
          </a:prstGeom>
          <a:noFill/>
          <a:ln/>
        </p:spPr>
        <p:txBody>
          <a:bodyPr wrap="square" lIns="0" tIns="0" rIns="0" bIns="0" rtlCol="0" anchor="t"/>
          <a:lstStyle/>
          <a:p>
            <a:pPr indent="0" marL="0">
              <a:buNone/>
            </a:pPr>
            <a:r>
              <a:rPr lang="en-US" sz="1400" dirty="0">
                <a:solidFill>
                  <a:srgbClr val="C9DDD2"/>
                </a:solidFill>
              </a:rPr>
              <a:t>68 of 72 Canadian products in Open Food Facts</a:t>
            </a:r>
            <a:endParaRPr lang="en-US" sz="1400" dirty="0"/>
          </a:p>
        </p:txBody>
      </p:sp>
      <p:sp>
        <p:nvSpPr>
          <p:cNvPr id="6"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9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Shoppers can’t see the facts</a:t>
            </a:r>
            <a:endParaRPr lang="en-US" sz="3000" dirty="0"/>
          </a:p>
        </p:txBody>
      </p:sp>
      <p:sp>
        <p:nvSpPr>
          <p:cNvPr id="4" name="question-1-circle"/>
          <p:cNvSpPr/>
          <p:nvPr/>
        </p:nvSpPr>
        <p:spPr>
          <a:xfrm>
            <a:off x="777240" y="1554480"/>
            <a:ext cx="1280160" cy="1280160"/>
          </a:xfrm>
          <a:prstGeom prst="ellipse">
            <a:avLst/>
          </a:prstGeom>
          <a:solidFill>
            <a:srgbClr val="E7EFE9"/>
          </a:solidFill>
          <a:ln w="12700">
            <a:solidFill>
              <a:srgbClr val="E7EFE9"/>
            </a:solidFill>
            <a:prstDash val="solid"/>
          </a:ln>
        </p:spPr>
      </p:sp>
      <p:pic>
        <p:nvPicPr>
          <p:cNvPr id="5" name="question-1-icon" descr="preencoded.png">    </p:cNvPr>
          <p:cNvPicPr>
            <a:picLocks noChangeAspect="1"/>
          </p:cNvPicPr>
          <p:nvPr/>
        </p:nvPicPr>
        <p:blipFill>
          <a:blip r:embed="rId1"/>
          <a:stretch>
            <a:fillRect/>
          </a:stretch>
        </p:blipFill>
        <p:spPr>
          <a:xfrm>
            <a:off x="1084478" y="1861718"/>
            <a:ext cx="665683" cy="665683"/>
          </a:xfrm>
          <a:prstGeom prst="rect">
            <a:avLst/>
          </a:prstGeom>
        </p:spPr>
      </p:pic>
      <p:sp>
        <p:nvSpPr>
          <p:cNvPr id="6" name="Text 2"/>
          <p:cNvSpPr txBox="1"/>
          <p:nvPr/>
        </p:nvSpPr>
        <p:spPr>
          <a:xfrm>
            <a:off x="457200" y="3063240"/>
            <a:ext cx="1920240" cy="457200"/>
          </a:xfrm>
          <a:prstGeom prst="rect">
            <a:avLst/>
          </a:prstGeom>
          <a:noFill/>
          <a:ln/>
        </p:spPr>
        <p:txBody>
          <a:bodyPr wrap="square" lIns="0" tIns="0" rIns="0" bIns="0" rtlCol="0" anchor="t"/>
          <a:lstStyle/>
          <a:p>
            <a:pPr algn="ctr" indent="0" marL="0">
              <a:buNone/>
            </a:pPr>
            <a:r>
              <a:rPr lang="en-US" sz="1800" b="1" dirty="0">
                <a:solidFill>
                  <a:srgbClr val="14302A"/>
                </a:solidFill>
              </a:rPr>
              <a:t>Made where?</a:t>
            </a:r>
            <a:endParaRPr lang="en-US" sz="1800" dirty="0"/>
          </a:p>
        </p:txBody>
      </p:sp>
      <p:sp>
        <p:nvSpPr>
          <p:cNvPr id="7" name="question-2-circle"/>
          <p:cNvSpPr/>
          <p:nvPr/>
        </p:nvSpPr>
        <p:spPr>
          <a:xfrm>
            <a:off x="2880360" y="1554480"/>
            <a:ext cx="1280160" cy="1280160"/>
          </a:xfrm>
          <a:prstGeom prst="ellipse">
            <a:avLst/>
          </a:prstGeom>
          <a:solidFill>
            <a:srgbClr val="E7EFE9"/>
          </a:solidFill>
          <a:ln w="12700">
            <a:solidFill>
              <a:srgbClr val="E7EFE9"/>
            </a:solidFill>
            <a:prstDash val="solid"/>
          </a:ln>
        </p:spPr>
      </p:sp>
      <p:pic>
        <p:nvPicPr>
          <p:cNvPr id="8" name="question-2-icon" descr="preencoded.png">    </p:cNvPr>
          <p:cNvPicPr>
            <a:picLocks noChangeAspect="1"/>
          </p:cNvPicPr>
          <p:nvPr/>
        </p:nvPicPr>
        <p:blipFill>
          <a:blip r:embed="rId2"/>
          <a:stretch>
            <a:fillRect/>
          </a:stretch>
        </p:blipFill>
        <p:spPr>
          <a:xfrm>
            <a:off x="3187598" y="1861718"/>
            <a:ext cx="665683" cy="665683"/>
          </a:xfrm>
          <a:prstGeom prst="rect">
            <a:avLst/>
          </a:prstGeom>
        </p:spPr>
      </p:pic>
      <p:sp>
        <p:nvSpPr>
          <p:cNvPr id="9" name="Text 4"/>
          <p:cNvSpPr txBox="1"/>
          <p:nvPr/>
        </p:nvSpPr>
        <p:spPr>
          <a:xfrm>
            <a:off x="2560320" y="3063240"/>
            <a:ext cx="1920240" cy="457200"/>
          </a:xfrm>
          <a:prstGeom prst="rect">
            <a:avLst/>
          </a:prstGeom>
          <a:noFill/>
          <a:ln/>
        </p:spPr>
        <p:txBody>
          <a:bodyPr wrap="square" lIns="0" tIns="0" rIns="0" bIns="0" rtlCol="0" anchor="t"/>
          <a:lstStyle/>
          <a:p>
            <a:pPr algn="ctr" indent="0" marL="0">
              <a:buNone/>
            </a:pPr>
            <a:r>
              <a:rPr lang="en-US" sz="1800" b="1" dirty="0">
                <a:solidFill>
                  <a:srgbClr val="14302A"/>
                </a:solidFill>
              </a:rPr>
              <a:t>Owned by whom?</a:t>
            </a:r>
            <a:endParaRPr lang="en-US" sz="1800" dirty="0"/>
          </a:p>
        </p:txBody>
      </p:sp>
      <p:sp>
        <p:nvSpPr>
          <p:cNvPr id="10" name="question-3-circle"/>
          <p:cNvSpPr/>
          <p:nvPr/>
        </p:nvSpPr>
        <p:spPr>
          <a:xfrm>
            <a:off x="4983480" y="1554480"/>
            <a:ext cx="1280160" cy="1280160"/>
          </a:xfrm>
          <a:prstGeom prst="ellipse">
            <a:avLst/>
          </a:prstGeom>
          <a:solidFill>
            <a:srgbClr val="E7EFE9"/>
          </a:solidFill>
          <a:ln w="12700">
            <a:solidFill>
              <a:srgbClr val="E7EFE9"/>
            </a:solidFill>
            <a:prstDash val="solid"/>
          </a:ln>
        </p:spPr>
      </p:sp>
      <p:pic>
        <p:nvPicPr>
          <p:cNvPr id="11" name="question-3-icon" descr="preencoded.png">    </p:cNvPr>
          <p:cNvPicPr>
            <a:picLocks noChangeAspect="1"/>
          </p:cNvPicPr>
          <p:nvPr/>
        </p:nvPicPr>
        <p:blipFill>
          <a:blip r:embed="rId3"/>
          <a:stretch>
            <a:fillRect/>
          </a:stretch>
        </p:blipFill>
        <p:spPr>
          <a:xfrm>
            <a:off x="5290718" y="1861718"/>
            <a:ext cx="665683" cy="665683"/>
          </a:xfrm>
          <a:prstGeom prst="rect">
            <a:avLst/>
          </a:prstGeom>
        </p:spPr>
      </p:pic>
      <p:sp>
        <p:nvSpPr>
          <p:cNvPr id="12" name="Text 6"/>
          <p:cNvSpPr txBox="1"/>
          <p:nvPr/>
        </p:nvSpPr>
        <p:spPr>
          <a:xfrm>
            <a:off x="4663440" y="3063240"/>
            <a:ext cx="1920240" cy="457200"/>
          </a:xfrm>
          <a:prstGeom prst="rect">
            <a:avLst/>
          </a:prstGeom>
          <a:noFill/>
          <a:ln/>
        </p:spPr>
        <p:txBody>
          <a:bodyPr wrap="square" lIns="0" tIns="0" rIns="0" bIns="0" rtlCol="0" anchor="t"/>
          <a:lstStyle/>
          <a:p>
            <a:pPr algn="ctr" indent="0" marL="0">
              <a:buNone/>
            </a:pPr>
            <a:r>
              <a:rPr lang="en-US" sz="1800" b="1" dirty="0">
                <a:solidFill>
                  <a:srgbClr val="14302A"/>
                </a:solidFill>
              </a:rPr>
              <a:t>Fair to workers?</a:t>
            </a:r>
            <a:endParaRPr lang="en-US" sz="1800" dirty="0"/>
          </a:p>
        </p:txBody>
      </p:sp>
      <p:sp>
        <p:nvSpPr>
          <p:cNvPr id="13" name="question-4-circle"/>
          <p:cNvSpPr/>
          <p:nvPr/>
        </p:nvSpPr>
        <p:spPr>
          <a:xfrm>
            <a:off x="7086600" y="1554480"/>
            <a:ext cx="1280160" cy="1280160"/>
          </a:xfrm>
          <a:prstGeom prst="ellipse">
            <a:avLst/>
          </a:prstGeom>
          <a:solidFill>
            <a:srgbClr val="E7EFE9"/>
          </a:solidFill>
          <a:ln w="12700">
            <a:solidFill>
              <a:srgbClr val="E7EFE9"/>
            </a:solidFill>
            <a:prstDash val="solid"/>
          </a:ln>
        </p:spPr>
      </p:sp>
      <p:pic>
        <p:nvPicPr>
          <p:cNvPr id="14" name="question-4-icon" descr="preencoded.png">    </p:cNvPr>
          <p:cNvPicPr>
            <a:picLocks noChangeAspect="1"/>
          </p:cNvPicPr>
          <p:nvPr/>
        </p:nvPicPr>
        <p:blipFill>
          <a:blip r:embed="rId4"/>
          <a:stretch>
            <a:fillRect/>
          </a:stretch>
        </p:blipFill>
        <p:spPr>
          <a:xfrm>
            <a:off x="7393838" y="1861718"/>
            <a:ext cx="665683" cy="665683"/>
          </a:xfrm>
          <a:prstGeom prst="rect">
            <a:avLst/>
          </a:prstGeom>
        </p:spPr>
      </p:pic>
      <p:sp>
        <p:nvSpPr>
          <p:cNvPr id="15" name="Text 8"/>
          <p:cNvSpPr txBox="1"/>
          <p:nvPr/>
        </p:nvSpPr>
        <p:spPr>
          <a:xfrm>
            <a:off x="6766560" y="3063240"/>
            <a:ext cx="1920240" cy="457200"/>
          </a:xfrm>
          <a:prstGeom prst="rect">
            <a:avLst/>
          </a:prstGeom>
          <a:noFill/>
          <a:ln/>
        </p:spPr>
        <p:txBody>
          <a:bodyPr wrap="square" lIns="0" tIns="0" rIns="0" bIns="0" rtlCol="0" anchor="t"/>
          <a:lstStyle/>
          <a:p>
            <a:pPr algn="ctr" indent="0" marL="0">
              <a:buNone/>
            </a:pPr>
            <a:r>
              <a:rPr lang="en-US" sz="1800" b="1" dirty="0">
                <a:solidFill>
                  <a:srgbClr val="14302A"/>
                </a:solidFill>
              </a:rPr>
              <a:t>Packaging waste?</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Built for newcomers to Regina</a:t>
            </a:r>
            <a:endParaRPr lang="en-US" sz="3000" dirty="0"/>
          </a:p>
        </p:txBody>
      </p:sp>
      <p:sp>
        <p:nvSpPr>
          <p:cNvPr id="4" name="newcomer-1-circle"/>
          <p:cNvSpPr/>
          <p:nvPr/>
        </p:nvSpPr>
        <p:spPr>
          <a:xfrm>
            <a:off x="1170432" y="1463040"/>
            <a:ext cx="1188720" cy="1188720"/>
          </a:xfrm>
          <a:prstGeom prst="ellipse">
            <a:avLst/>
          </a:prstGeom>
          <a:solidFill>
            <a:srgbClr val="1F7A4D"/>
          </a:solidFill>
          <a:ln w="12700">
            <a:solidFill>
              <a:srgbClr val="1F7A4D"/>
            </a:solidFill>
            <a:prstDash val="solid"/>
          </a:ln>
        </p:spPr>
      </p:sp>
      <p:pic>
        <p:nvPicPr>
          <p:cNvPr id="5" name="newcomer-1-icon" descr="preencoded.png">    </p:cNvPr>
          <p:cNvPicPr>
            <a:picLocks noChangeAspect="1"/>
          </p:cNvPicPr>
          <p:nvPr/>
        </p:nvPicPr>
        <p:blipFill>
          <a:blip r:embed="rId1"/>
          <a:stretch>
            <a:fillRect/>
          </a:stretch>
        </p:blipFill>
        <p:spPr>
          <a:xfrm>
            <a:off x="1455725" y="1748333"/>
            <a:ext cx="618134" cy="618134"/>
          </a:xfrm>
          <a:prstGeom prst="rect">
            <a:avLst/>
          </a:prstGeom>
        </p:spPr>
      </p:pic>
      <p:sp>
        <p:nvSpPr>
          <p:cNvPr id="6" name="Text 2"/>
          <p:cNvSpPr txBox="1"/>
          <p:nvPr/>
        </p:nvSpPr>
        <p:spPr>
          <a:xfrm>
            <a:off x="457200" y="283464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3 languages</a:t>
            </a:r>
            <a:endParaRPr lang="en-US" sz="2000" dirty="0"/>
          </a:p>
        </p:txBody>
      </p:sp>
      <p:sp>
        <p:nvSpPr>
          <p:cNvPr id="7" name="Text 3"/>
          <p:cNvSpPr txBox="1"/>
          <p:nvPr/>
        </p:nvSpPr>
        <p:spPr>
          <a:xfrm>
            <a:off x="457200" y="329184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English · Français · ગુજરાતી</a:t>
            </a:r>
            <a:endParaRPr lang="en-US" sz="1400" dirty="0"/>
          </a:p>
        </p:txBody>
      </p:sp>
      <p:sp>
        <p:nvSpPr>
          <p:cNvPr id="8" name="newcomer-2-circle"/>
          <p:cNvSpPr/>
          <p:nvPr/>
        </p:nvSpPr>
        <p:spPr>
          <a:xfrm>
            <a:off x="3977640" y="1463040"/>
            <a:ext cx="1188720" cy="1188720"/>
          </a:xfrm>
          <a:prstGeom prst="ellipse">
            <a:avLst/>
          </a:prstGeom>
          <a:solidFill>
            <a:srgbClr val="1F7A4D"/>
          </a:solidFill>
          <a:ln w="12700">
            <a:solidFill>
              <a:srgbClr val="1F7A4D"/>
            </a:solidFill>
            <a:prstDash val="solid"/>
          </a:ln>
        </p:spPr>
      </p:sp>
      <p:pic>
        <p:nvPicPr>
          <p:cNvPr id="9" name="newcomer-2-icon" descr="preencoded.png">    </p:cNvPr>
          <p:cNvPicPr>
            <a:picLocks noChangeAspect="1"/>
          </p:cNvPicPr>
          <p:nvPr/>
        </p:nvPicPr>
        <p:blipFill>
          <a:blip r:embed="rId2"/>
          <a:stretch>
            <a:fillRect/>
          </a:stretch>
        </p:blipFill>
        <p:spPr>
          <a:xfrm>
            <a:off x="4262933" y="1748333"/>
            <a:ext cx="618134" cy="618134"/>
          </a:xfrm>
          <a:prstGeom prst="rect">
            <a:avLst/>
          </a:prstGeom>
        </p:spPr>
      </p:pic>
      <p:sp>
        <p:nvSpPr>
          <p:cNvPr id="10" name="Text 5"/>
          <p:cNvSpPr txBox="1"/>
          <p:nvPr/>
        </p:nvSpPr>
        <p:spPr>
          <a:xfrm>
            <a:off x="3264408" y="283464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Real budgets</a:t>
            </a:r>
            <a:endParaRPr lang="en-US" sz="2000" dirty="0"/>
          </a:p>
        </p:txBody>
      </p:sp>
      <p:sp>
        <p:nvSpPr>
          <p:cNvPr id="11" name="Text 6"/>
          <p:cNvSpPr txBox="1"/>
          <p:nvPr/>
        </p:nvSpPr>
        <p:spPr>
          <a:xfrm>
            <a:off x="3264408" y="329184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Price is a priority too</a:t>
            </a:r>
            <a:endParaRPr lang="en-US" sz="1400" dirty="0"/>
          </a:p>
        </p:txBody>
      </p:sp>
      <p:sp>
        <p:nvSpPr>
          <p:cNvPr id="12" name="newcomer-3-circle"/>
          <p:cNvSpPr/>
          <p:nvPr/>
        </p:nvSpPr>
        <p:spPr>
          <a:xfrm>
            <a:off x="6784848" y="1463040"/>
            <a:ext cx="1188720" cy="1188720"/>
          </a:xfrm>
          <a:prstGeom prst="ellipse">
            <a:avLst/>
          </a:prstGeom>
          <a:solidFill>
            <a:srgbClr val="1F7A4D"/>
          </a:solidFill>
          <a:ln w="12700">
            <a:solidFill>
              <a:srgbClr val="1F7A4D"/>
            </a:solidFill>
            <a:prstDash val="solid"/>
          </a:ln>
        </p:spPr>
      </p:sp>
      <p:pic>
        <p:nvPicPr>
          <p:cNvPr id="13" name="newcomer-3-icon" descr="preencoded.png">    </p:cNvPr>
          <p:cNvPicPr>
            <a:picLocks noChangeAspect="1"/>
          </p:cNvPicPr>
          <p:nvPr/>
        </p:nvPicPr>
        <p:blipFill>
          <a:blip r:embed="rId3"/>
          <a:stretch>
            <a:fillRect/>
          </a:stretch>
        </p:blipFill>
        <p:spPr>
          <a:xfrm>
            <a:off x="7070141" y="1748333"/>
            <a:ext cx="618134" cy="618134"/>
          </a:xfrm>
          <a:prstGeom prst="rect">
            <a:avLst/>
          </a:prstGeom>
        </p:spPr>
      </p:pic>
      <p:sp>
        <p:nvSpPr>
          <p:cNvPr id="14" name="Text 8"/>
          <p:cNvSpPr txBox="1"/>
          <p:nvPr/>
        </p:nvSpPr>
        <p:spPr>
          <a:xfrm>
            <a:off x="6071616" y="283464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Regina stores</a:t>
            </a:r>
            <a:endParaRPr lang="en-US" sz="2000" dirty="0"/>
          </a:p>
        </p:txBody>
      </p:sp>
      <p:sp>
        <p:nvSpPr>
          <p:cNvPr id="15" name="Text 9"/>
          <p:cNvSpPr txBox="1"/>
          <p:nvPr/>
        </p:nvSpPr>
        <p:spPr>
          <a:xfrm>
            <a:off x="6071616" y="329184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Local shops on a map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Scan. See the score. See the proof.</a:t>
            </a:r>
            <a:endParaRPr lang="en-US" sz="3000" dirty="0"/>
          </a:p>
        </p:txBody>
      </p:sp>
      <p:sp>
        <p:nvSpPr>
          <p:cNvPr id="4" name="frame-detail"/>
          <p:cNvSpPr/>
          <p:nvPr/>
        </p:nvSpPr>
        <p:spPr>
          <a:xfrm>
            <a:off x="420624" y="1152144"/>
            <a:ext cx="5193792" cy="3383280"/>
          </a:xfrm>
          <a:prstGeom prst="roundRect">
            <a:avLst>
              <a:gd name="adj" fmla="val 2162"/>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5" name="screenshot-detail" descr="Product screen: score 76, Medium confidence, evidence badges for each factor">    </p:cNvPr>
          <p:cNvPicPr>
            <a:picLocks noChangeAspect="1"/>
          </p:cNvPicPr>
          <p:nvPr/>
        </p:nvPicPr>
        <p:blipFill>
          <a:blip r:embed="rId1"/>
          <a:stretch>
            <a:fillRect/>
          </a:stretch>
        </p:blipFill>
        <p:spPr>
          <a:xfrm>
            <a:off x="457200" y="1188720"/>
            <a:ext cx="5120640" cy="3310128"/>
          </a:xfrm>
          <a:prstGeom prst="rect">
            <a:avLst/>
          </a:prstGeom>
        </p:spPr>
      </p:pic>
      <p:sp>
        <p:nvSpPr>
          <p:cNvPr id="6" name="solution-1-circle"/>
          <p:cNvSpPr/>
          <p:nvPr/>
        </p:nvSpPr>
        <p:spPr>
          <a:xfrm>
            <a:off x="5989320" y="1417320"/>
            <a:ext cx="685800" cy="685800"/>
          </a:xfrm>
          <a:prstGeom prst="ellipse">
            <a:avLst/>
          </a:prstGeom>
          <a:solidFill>
            <a:srgbClr val="1F7A4D"/>
          </a:solidFill>
          <a:ln w="12700">
            <a:solidFill>
              <a:srgbClr val="1F7A4D"/>
            </a:solidFill>
            <a:prstDash val="solid"/>
          </a:ln>
        </p:spPr>
      </p:sp>
      <p:pic>
        <p:nvPicPr>
          <p:cNvPr id="7" name="solution-1-icon" descr="preencoded.png">    </p:cNvPr>
          <p:cNvPicPr>
            <a:picLocks noChangeAspect="1"/>
          </p:cNvPicPr>
          <p:nvPr/>
        </p:nvPicPr>
        <p:blipFill>
          <a:blip r:embed="rId2"/>
          <a:stretch>
            <a:fillRect/>
          </a:stretch>
        </p:blipFill>
        <p:spPr>
          <a:xfrm>
            <a:off x="6153912" y="1581912"/>
            <a:ext cx="356616" cy="356616"/>
          </a:xfrm>
          <a:prstGeom prst="rect">
            <a:avLst/>
          </a:prstGeom>
        </p:spPr>
      </p:pic>
      <p:sp>
        <p:nvSpPr>
          <p:cNvPr id="8" name="Text 3"/>
          <p:cNvSpPr txBox="1"/>
          <p:nvPr/>
        </p:nvSpPr>
        <p:spPr>
          <a:xfrm>
            <a:off x="6812280" y="1417320"/>
            <a:ext cx="1920240" cy="685800"/>
          </a:xfrm>
          <a:prstGeom prst="rect">
            <a:avLst/>
          </a:prstGeom>
          <a:noFill/>
          <a:ln/>
        </p:spPr>
        <p:txBody>
          <a:bodyPr wrap="square" lIns="0" tIns="0" rIns="0" bIns="0" rtlCol="0" anchor="ctr"/>
          <a:lstStyle/>
          <a:p>
            <a:pPr indent="0" marL="0">
              <a:buNone/>
            </a:pPr>
            <a:r>
              <a:rPr lang="en-US" sz="1600" b="1" dirty="0">
                <a:solidFill>
                  <a:srgbClr val="14302A"/>
                </a:solidFill>
              </a:rPr>
              <a:t>Scan or search</a:t>
            </a:r>
            <a:endParaRPr lang="en-US" sz="1600" dirty="0"/>
          </a:p>
        </p:txBody>
      </p:sp>
      <p:sp>
        <p:nvSpPr>
          <p:cNvPr id="9" name="solution-2-circle"/>
          <p:cNvSpPr/>
          <p:nvPr/>
        </p:nvSpPr>
        <p:spPr>
          <a:xfrm>
            <a:off x="5989320" y="2423160"/>
            <a:ext cx="685800" cy="685800"/>
          </a:xfrm>
          <a:prstGeom prst="ellipse">
            <a:avLst/>
          </a:prstGeom>
          <a:solidFill>
            <a:srgbClr val="1F7A4D"/>
          </a:solidFill>
          <a:ln w="12700">
            <a:solidFill>
              <a:srgbClr val="1F7A4D"/>
            </a:solidFill>
            <a:prstDash val="solid"/>
          </a:ln>
        </p:spPr>
      </p:sp>
      <p:pic>
        <p:nvPicPr>
          <p:cNvPr id="10" name="solution-2-icon" descr="preencoded.png">    </p:cNvPr>
          <p:cNvPicPr>
            <a:picLocks noChangeAspect="1"/>
          </p:cNvPicPr>
          <p:nvPr/>
        </p:nvPicPr>
        <p:blipFill>
          <a:blip r:embed="rId3"/>
          <a:stretch>
            <a:fillRect/>
          </a:stretch>
        </p:blipFill>
        <p:spPr>
          <a:xfrm>
            <a:off x="6153912" y="2587752"/>
            <a:ext cx="356616" cy="356616"/>
          </a:xfrm>
          <a:prstGeom prst="rect">
            <a:avLst/>
          </a:prstGeom>
        </p:spPr>
      </p:pic>
      <p:sp>
        <p:nvSpPr>
          <p:cNvPr id="11" name="Text 5"/>
          <p:cNvSpPr txBox="1"/>
          <p:nvPr/>
        </p:nvSpPr>
        <p:spPr>
          <a:xfrm>
            <a:off x="6812280" y="2423160"/>
            <a:ext cx="1920240" cy="685800"/>
          </a:xfrm>
          <a:prstGeom prst="rect">
            <a:avLst/>
          </a:prstGeom>
          <a:noFill/>
          <a:ln/>
        </p:spPr>
        <p:txBody>
          <a:bodyPr wrap="square" lIns="0" tIns="0" rIns="0" bIns="0" rtlCol="0" anchor="ctr"/>
          <a:lstStyle/>
          <a:p>
            <a:pPr indent="0" marL="0">
              <a:buNone/>
            </a:pPr>
            <a:r>
              <a:rPr lang="en-US" sz="1600" b="1" dirty="0">
                <a:solidFill>
                  <a:srgbClr val="14302A"/>
                </a:solidFill>
              </a:rPr>
              <a:t>Evidence on every fact</a:t>
            </a:r>
            <a:endParaRPr lang="en-US" sz="1600" dirty="0"/>
          </a:p>
        </p:txBody>
      </p:sp>
      <p:sp>
        <p:nvSpPr>
          <p:cNvPr id="12" name="solution-3-circle"/>
          <p:cNvSpPr/>
          <p:nvPr/>
        </p:nvSpPr>
        <p:spPr>
          <a:xfrm>
            <a:off x="5989320" y="3429000"/>
            <a:ext cx="685800" cy="685800"/>
          </a:xfrm>
          <a:prstGeom prst="ellipse">
            <a:avLst/>
          </a:prstGeom>
          <a:solidFill>
            <a:srgbClr val="1F7A4D"/>
          </a:solidFill>
          <a:ln w="12700">
            <a:solidFill>
              <a:srgbClr val="1F7A4D"/>
            </a:solidFill>
            <a:prstDash val="solid"/>
          </a:ln>
        </p:spPr>
      </p:sp>
      <p:pic>
        <p:nvPicPr>
          <p:cNvPr id="13" name="solution-3-icon" descr="preencoded.png">    </p:cNvPr>
          <p:cNvPicPr>
            <a:picLocks noChangeAspect="1"/>
          </p:cNvPicPr>
          <p:nvPr/>
        </p:nvPicPr>
        <p:blipFill>
          <a:blip r:embed="rId4"/>
          <a:stretch>
            <a:fillRect/>
          </a:stretch>
        </p:blipFill>
        <p:spPr>
          <a:xfrm>
            <a:off x="6153912" y="3593592"/>
            <a:ext cx="356616" cy="356616"/>
          </a:xfrm>
          <a:prstGeom prst="rect">
            <a:avLst/>
          </a:prstGeom>
        </p:spPr>
      </p:pic>
      <p:sp>
        <p:nvSpPr>
          <p:cNvPr id="14" name="Text 7"/>
          <p:cNvSpPr txBox="1"/>
          <p:nvPr/>
        </p:nvSpPr>
        <p:spPr>
          <a:xfrm>
            <a:off x="6812280" y="3429000"/>
            <a:ext cx="1920240" cy="685800"/>
          </a:xfrm>
          <a:prstGeom prst="rect">
            <a:avLst/>
          </a:prstGeom>
          <a:noFill/>
          <a:ln/>
        </p:spPr>
        <p:txBody>
          <a:bodyPr wrap="square" lIns="0" tIns="0" rIns="0" bIns="0" rtlCol="0" anchor="ctr"/>
          <a:lstStyle/>
          <a:p>
            <a:pPr indent="0" marL="0">
              <a:buNone/>
            </a:pPr>
            <a:r>
              <a:rPr lang="en-US" sz="1600" b="1" dirty="0">
                <a:solidFill>
                  <a:srgbClr val="14302A"/>
                </a:solidFill>
              </a:rPr>
              <a:t>Better options nearby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F6F7F2"/>
                </a:solidFill>
                <a:latin typeface="Cambria" pitchFamily="34" charset="0"/>
                <a:ea typeface="Cambria" pitchFamily="34" charset="-122"/>
                <a:cs typeface="Cambria" pitchFamily="34" charset="-120"/>
              </a:rPr>
              <a:t>Every fact shows its evidence</a:t>
            </a:r>
            <a:endParaRPr lang="en-US" sz="3000" dirty="0"/>
          </a:p>
        </p:txBody>
      </p:sp>
      <p:pic>
        <p:nvPicPr>
          <p:cNvPr id="4" name="evidence-icon-1" descr="preencoded.png">    </p:cNvPr>
          <p:cNvPicPr>
            <a:picLocks noChangeAspect="1"/>
          </p:cNvPicPr>
          <p:nvPr/>
        </p:nvPicPr>
        <p:blipFill>
          <a:blip r:embed="rId1"/>
          <a:stretch>
            <a:fillRect/>
          </a:stretch>
        </p:blipFill>
        <p:spPr>
          <a:xfrm>
            <a:off x="1261872" y="1325880"/>
            <a:ext cx="1005840" cy="1005840"/>
          </a:xfrm>
          <a:prstGeom prst="rect">
            <a:avLst/>
          </a:prstGeom>
        </p:spPr>
      </p:pic>
      <p:sp>
        <p:nvSpPr>
          <p:cNvPr id="5" name="Text 1"/>
          <p:cNvSpPr txBox="1"/>
          <p:nvPr/>
        </p:nvSpPr>
        <p:spPr>
          <a:xfrm>
            <a:off x="457200" y="2514600"/>
            <a:ext cx="2615184" cy="457200"/>
          </a:xfrm>
          <a:prstGeom prst="rect">
            <a:avLst/>
          </a:prstGeom>
          <a:noFill/>
          <a:ln/>
        </p:spPr>
        <p:txBody>
          <a:bodyPr wrap="square" lIns="0" tIns="0" rIns="0" bIns="0" rtlCol="0" anchor="t"/>
          <a:lstStyle/>
          <a:p>
            <a:pPr algn="ctr" indent="0" marL="0">
              <a:buNone/>
            </a:pPr>
            <a:r>
              <a:rPr lang="en-US" sz="2400" b="1" dirty="0">
                <a:solidFill>
                  <a:srgbClr val="8FD4AE"/>
                </a:solidFill>
              </a:rPr>
              <a:t>Verified</a:t>
            </a:r>
            <a:endParaRPr lang="en-US" sz="2400" dirty="0"/>
          </a:p>
        </p:txBody>
      </p:sp>
      <p:sp>
        <p:nvSpPr>
          <p:cNvPr id="6" name="Text 2"/>
          <p:cNvSpPr txBox="1"/>
          <p:nvPr/>
        </p:nvSpPr>
        <p:spPr>
          <a:xfrm>
            <a:off x="457200" y="2971800"/>
            <a:ext cx="2615184" cy="365760"/>
          </a:xfrm>
          <a:prstGeom prst="rect">
            <a:avLst/>
          </a:prstGeom>
          <a:noFill/>
          <a:ln/>
        </p:spPr>
        <p:txBody>
          <a:bodyPr wrap="square" lIns="0" tIns="0" rIns="0" bIns="0" rtlCol="0" anchor="t"/>
          <a:lstStyle/>
          <a:p>
            <a:pPr algn="ctr" indent="0" marL="0">
              <a:buNone/>
            </a:pPr>
            <a:r>
              <a:rPr lang="en-US" sz="1500" dirty="0">
                <a:solidFill>
                  <a:srgbClr val="C9DDD2"/>
                </a:solidFill>
              </a:rPr>
              <a:t>counts 100%</a:t>
            </a:r>
            <a:endParaRPr lang="en-US" sz="1500" dirty="0"/>
          </a:p>
        </p:txBody>
      </p:sp>
      <p:pic>
        <p:nvPicPr>
          <p:cNvPr id="7" name="evidence-icon-2" descr="preencoded.png">    </p:cNvPr>
          <p:cNvPicPr>
            <a:picLocks noChangeAspect="1"/>
          </p:cNvPicPr>
          <p:nvPr/>
        </p:nvPicPr>
        <p:blipFill>
          <a:blip r:embed="rId2"/>
          <a:stretch>
            <a:fillRect/>
          </a:stretch>
        </p:blipFill>
        <p:spPr>
          <a:xfrm>
            <a:off x="4069080" y="1325880"/>
            <a:ext cx="1005840" cy="1005840"/>
          </a:xfrm>
          <a:prstGeom prst="rect">
            <a:avLst/>
          </a:prstGeom>
        </p:spPr>
      </p:pic>
      <p:sp>
        <p:nvSpPr>
          <p:cNvPr id="8" name="Text 3"/>
          <p:cNvSpPr txBox="1"/>
          <p:nvPr/>
        </p:nvSpPr>
        <p:spPr>
          <a:xfrm>
            <a:off x="3264408" y="2514600"/>
            <a:ext cx="2615184" cy="457200"/>
          </a:xfrm>
          <a:prstGeom prst="rect">
            <a:avLst/>
          </a:prstGeom>
          <a:noFill/>
          <a:ln/>
        </p:spPr>
        <p:txBody>
          <a:bodyPr wrap="square" lIns="0" tIns="0" rIns="0" bIns="0" rtlCol="0" anchor="t"/>
          <a:lstStyle/>
          <a:p>
            <a:pPr algn="ctr" indent="0" marL="0">
              <a:buNone/>
            </a:pPr>
            <a:r>
              <a:rPr lang="en-US" sz="2400" b="1" dirty="0">
                <a:solidFill>
                  <a:srgbClr val="F2C27B"/>
                </a:solidFill>
              </a:rPr>
              <a:t>Claimed</a:t>
            </a:r>
            <a:endParaRPr lang="en-US" sz="2400" dirty="0"/>
          </a:p>
        </p:txBody>
      </p:sp>
      <p:sp>
        <p:nvSpPr>
          <p:cNvPr id="9" name="Text 4"/>
          <p:cNvSpPr txBox="1"/>
          <p:nvPr/>
        </p:nvSpPr>
        <p:spPr>
          <a:xfrm>
            <a:off x="3264408" y="2971800"/>
            <a:ext cx="2615184" cy="365760"/>
          </a:xfrm>
          <a:prstGeom prst="rect">
            <a:avLst/>
          </a:prstGeom>
          <a:noFill/>
          <a:ln/>
        </p:spPr>
        <p:txBody>
          <a:bodyPr wrap="square" lIns="0" tIns="0" rIns="0" bIns="0" rtlCol="0" anchor="t"/>
          <a:lstStyle/>
          <a:p>
            <a:pPr algn="ctr" indent="0" marL="0">
              <a:buNone/>
            </a:pPr>
            <a:r>
              <a:rPr lang="en-US" sz="1500" dirty="0">
                <a:solidFill>
                  <a:srgbClr val="C9DDD2"/>
                </a:solidFill>
              </a:rPr>
              <a:t>counts 60%</a:t>
            </a:r>
            <a:endParaRPr lang="en-US" sz="1500" dirty="0"/>
          </a:p>
        </p:txBody>
      </p:sp>
      <p:pic>
        <p:nvPicPr>
          <p:cNvPr id="10" name="evidence-icon-3" descr="preencoded.png">    </p:cNvPr>
          <p:cNvPicPr>
            <a:picLocks noChangeAspect="1"/>
          </p:cNvPicPr>
          <p:nvPr/>
        </p:nvPicPr>
        <p:blipFill>
          <a:blip r:embed="rId3"/>
          <a:stretch>
            <a:fillRect/>
          </a:stretch>
        </p:blipFill>
        <p:spPr>
          <a:xfrm>
            <a:off x="6876288" y="1325880"/>
            <a:ext cx="1005840" cy="1005840"/>
          </a:xfrm>
          <a:prstGeom prst="rect">
            <a:avLst/>
          </a:prstGeom>
        </p:spPr>
      </p:pic>
      <p:sp>
        <p:nvSpPr>
          <p:cNvPr id="11" name="Text 5"/>
          <p:cNvSpPr txBox="1"/>
          <p:nvPr/>
        </p:nvSpPr>
        <p:spPr>
          <a:xfrm>
            <a:off x="6071616" y="2514600"/>
            <a:ext cx="2615184" cy="457200"/>
          </a:xfrm>
          <a:prstGeom prst="rect">
            <a:avLst/>
          </a:prstGeom>
          <a:noFill/>
          <a:ln/>
        </p:spPr>
        <p:txBody>
          <a:bodyPr wrap="square" lIns="0" tIns="0" rIns="0" bIns="0" rtlCol="0" anchor="t"/>
          <a:lstStyle/>
          <a:p>
            <a:pPr algn="ctr" indent="0" marL="0">
              <a:buNone/>
            </a:pPr>
            <a:r>
              <a:rPr lang="en-US" sz="2400" b="1" dirty="0">
                <a:solidFill>
                  <a:srgbClr val="C9D0CC"/>
                </a:solidFill>
              </a:rPr>
              <a:t>Unknown</a:t>
            </a:r>
            <a:endParaRPr lang="en-US" sz="2400" dirty="0"/>
          </a:p>
        </p:txBody>
      </p:sp>
      <p:sp>
        <p:nvSpPr>
          <p:cNvPr id="12" name="Text 6"/>
          <p:cNvSpPr txBox="1"/>
          <p:nvPr/>
        </p:nvSpPr>
        <p:spPr>
          <a:xfrm>
            <a:off x="6071616" y="2971800"/>
            <a:ext cx="2615184" cy="365760"/>
          </a:xfrm>
          <a:prstGeom prst="rect">
            <a:avLst/>
          </a:prstGeom>
          <a:noFill/>
          <a:ln/>
        </p:spPr>
        <p:txBody>
          <a:bodyPr wrap="square" lIns="0" tIns="0" rIns="0" bIns="0" rtlCol="0" anchor="t"/>
          <a:lstStyle/>
          <a:p>
            <a:pPr algn="ctr" indent="0" marL="0">
              <a:buNone/>
            </a:pPr>
            <a:r>
              <a:rPr lang="en-US" sz="1500" dirty="0">
                <a:solidFill>
                  <a:srgbClr val="C9DDD2"/>
                </a:solidFill>
              </a:rPr>
              <a:t>not counted</a:t>
            </a:r>
            <a:endParaRPr lang="en-US" sz="1500" dirty="0"/>
          </a:p>
        </p:txBody>
      </p:sp>
      <p:sp>
        <p:nvSpPr>
          <p:cNvPr id="13" name="Text 7"/>
          <p:cNvSpPr txBox="1"/>
          <p:nvPr/>
        </p:nvSpPr>
        <p:spPr>
          <a:xfrm>
            <a:off x="457200" y="3794760"/>
            <a:ext cx="8229600" cy="548640"/>
          </a:xfrm>
          <a:prstGeom prst="rect">
            <a:avLst/>
          </a:prstGeom>
          <a:noFill/>
          <a:ln/>
        </p:spPr>
        <p:txBody>
          <a:bodyPr wrap="square" lIns="0" tIns="0" rIns="0" bIns="0" rtlCol="0" anchor="t"/>
          <a:lstStyle/>
          <a:p>
            <a:pPr algn="ctr" indent="0" marL="0">
              <a:buNone/>
            </a:pPr>
            <a:r>
              <a:rPr lang="en-US" sz="2800" b="1" dirty="0">
                <a:solidFill>
                  <a:srgbClr val="F6F7F2"/>
                </a:solidFill>
                <a:latin typeface="Cambria" pitchFamily="34" charset="0"/>
                <a:ea typeface="Cambria" pitchFamily="34" charset="-122"/>
                <a:cs typeface="Cambria" pitchFamily="34" charset="-120"/>
              </a:rPr>
              <a:t>Unknown ≠ bad</a:t>
            </a:r>
            <a:endParaRPr lang="en-US" sz="2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9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Different shopper, different winner</a:t>
            </a:r>
            <a:endParaRPr lang="en-US" sz="3000" dirty="0"/>
          </a:p>
        </p:txBody>
      </p:sp>
      <p:graphicFrame>
        <p:nvGraphicFramePr>
          <p:cNvPr id="4" name="personal-score-chart" descr=""/>
          <p:cNvGraphicFramePr/>
          <p:nvPr/>
        </p:nvGraphicFramePr>
        <p:xfrm>
          <a:off x="457200" y="1143000"/>
          <a:ext cx="822960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Live demo</a:t>
            </a:r>
            <a:endParaRPr lang="en-US" sz="3000" dirty="0"/>
          </a:p>
        </p:txBody>
      </p:sp>
      <p:sp>
        <p:nvSpPr>
          <p:cNvPr id="4" name="frame-priorities"/>
          <p:cNvSpPr/>
          <p:nvPr/>
        </p:nvSpPr>
        <p:spPr>
          <a:xfrm>
            <a:off x="1078992" y="1060704"/>
            <a:ext cx="3346704" cy="1737360"/>
          </a:xfrm>
          <a:prstGeom prst="roundRect">
            <a:avLst>
              <a:gd name="adj" fmla="val 4211"/>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5" name="screenshot-priorities" descr="Priorities screen of the TruthShift app">    </p:cNvPr>
          <p:cNvPicPr>
            <a:picLocks noChangeAspect="1"/>
          </p:cNvPicPr>
          <p:nvPr/>
        </p:nvPicPr>
        <p:blipFill>
          <a:blip r:embed="rId1"/>
          <a:stretch>
            <a:fillRect/>
          </a:stretch>
        </p:blipFill>
        <p:spPr>
          <a:xfrm>
            <a:off x="1115568" y="1097280"/>
            <a:ext cx="3273552" cy="1664208"/>
          </a:xfrm>
          <a:prstGeom prst="rect">
            <a:avLst/>
          </a:prstGeom>
        </p:spPr>
      </p:pic>
      <p:sp>
        <p:nvSpPr>
          <p:cNvPr id="6" name="label-pill-priorities"/>
          <p:cNvSpPr/>
          <p:nvPr/>
        </p:nvSpPr>
        <p:spPr>
          <a:xfrm>
            <a:off x="1225296" y="2331720"/>
            <a:ext cx="1143000" cy="320040"/>
          </a:xfrm>
          <a:prstGeom prst="roundRect">
            <a:avLst>
              <a:gd name="adj" fmla="val 48571"/>
            </a:avLst>
          </a:prstGeom>
          <a:solidFill>
            <a:srgbClr val="14302A"/>
          </a:solidFill>
          <a:ln w="12700">
            <a:solidFill>
              <a:srgbClr val="14302A"/>
            </a:solidFill>
            <a:prstDash val="solid"/>
          </a:ln>
        </p:spPr>
      </p:sp>
      <p:sp>
        <p:nvSpPr>
          <p:cNvPr id="7" name="Text 3"/>
          <p:cNvSpPr txBox="1"/>
          <p:nvPr/>
        </p:nvSpPr>
        <p:spPr>
          <a:xfrm>
            <a:off x="1225296" y="2331720"/>
            <a:ext cx="1143000" cy="320040"/>
          </a:xfrm>
          <a:prstGeom prst="rect">
            <a:avLst/>
          </a:prstGeom>
          <a:noFill/>
          <a:ln/>
        </p:spPr>
        <p:txBody>
          <a:bodyPr wrap="square" lIns="0" tIns="0" rIns="0" bIns="0" rtlCol="0" anchor="ctr"/>
          <a:lstStyle/>
          <a:p>
            <a:pPr algn="ctr" indent="0" marL="0">
              <a:buNone/>
            </a:pPr>
            <a:r>
              <a:rPr lang="en-US" sz="1300" b="1" dirty="0">
                <a:solidFill>
                  <a:srgbClr val="FFFFFF"/>
                </a:solidFill>
              </a:rPr>
              <a:t>Priorities</a:t>
            </a:r>
            <a:endParaRPr lang="en-US" sz="1300" dirty="0"/>
          </a:p>
        </p:txBody>
      </p:sp>
      <p:sp>
        <p:nvSpPr>
          <p:cNvPr id="8" name="frame-compare"/>
          <p:cNvSpPr/>
          <p:nvPr/>
        </p:nvSpPr>
        <p:spPr>
          <a:xfrm>
            <a:off x="4718304" y="1060704"/>
            <a:ext cx="3346704" cy="1737360"/>
          </a:xfrm>
          <a:prstGeom prst="roundRect">
            <a:avLst>
              <a:gd name="adj" fmla="val 4211"/>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9" name="screenshot-compare" descr="Compare screen of the TruthShift app">    </p:cNvPr>
          <p:cNvPicPr>
            <a:picLocks noChangeAspect="1"/>
          </p:cNvPicPr>
          <p:nvPr/>
        </p:nvPicPr>
        <p:blipFill>
          <a:blip r:embed="rId2"/>
          <a:stretch>
            <a:fillRect/>
          </a:stretch>
        </p:blipFill>
        <p:spPr>
          <a:xfrm>
            <a:off x="4754880" y="1097280"/>
            <a:ext cx="3273552" cy="1664208"/>
          </a:xfrm>
          <a:prstGeom prst="rect">
            <a:avLst/>
          </a:prstGeom>
        </p:spPr>
      </p:pic>
      <p:sp>
        <p:nvSpPr>
          <p:cNvPr id="10" name="label-pill-compare"/>
          <p:cNvSpPr/>
          <p:nvPr/>
        </p:nvSpPr>
        <p:spPr>
          <a:xfrm>
            <a:off x="4864608" y="2331720"/>
            <a:ext cx="1143000" cy="320040"/>
          </a:xfrm>
          <a:prstGeom prst="roundRect">
            <a:avLst>
              <a:gd name="adj" fmla="val 48571"/>
            </a:avLst>
          </a:prstGeom>
          <a:solidFill>
            <a:srgbClr val="14302A"/>
          </a:solidFill>
          <a:ln w="12700">
            <a:solidFill>
              <a:srgbClr val="14302A"/>
            </a:solidFill>
            <a:prstDash val="solid"/>
          </a:ln>
        </p:spPr>
      </p:sp>
      <p:sp>
        <p:nvSpPr>
          <p:cNvPr id="11" name="Text 6"/>
          <p:cNvSpPr txBox="1"/>
          <p:nvPr/>
        </p:nvSpPr>
        <p:spPr>
          <a:xfrm>
            <a:off x="4864608" y="2331720"/>
            <a:ext cx="1143000" cy="320040"/>
          </a:xfrm>
          <a:prstGeom prst="rect">
            <a:avLst/>
          </a:prstGeom>
          <a:noFill/>
          <a:ln/>
        </p:spPr>
        <p:txBody>
          <a:bodyPr wrap="square" lIns="0" tIns="0" rIns="0" bIns="0" rtlCol="0" anchor="ctr"/>
          <a:lstStyle/>
          <a:p>
            <a:pPr algn="ctr" indent="0" marL="0">
              <a:buNone/>
            </a:pPr>
            <a:r>
              <a:rPr lang="en-US" sz="1300" b="1" dirty="0">
                <a:solidFill>
                  <a:srgbClr val="FFFFFF"/>
                </a:solidFill>
              </a:rPr>
              <a:t>Compare</a:t>
            </a:r>
            <a:endParaRPr lang="en-US" sz="1300" dirty="0"/>
          </a:p>
        </p:txBody>
      </p:sp>
      <p:sp>
        <p:nvSpPr>
          <p:cNvPr id="12" name="frame-ask"/>
          <p:cNvSpPr/>
          <p:nvPr/>
        </p:nvSpPr>
        <p:spPr>
          <a:xfrm>
            <a:off x="1078992" y="2907792"/>
            <a:ext cx="3346704" cy="1737360"/>
          </a:xfrm>
          <a:prstGeom prst="roundRect">
            <a:avLst>
              <a:gd name="adj" fmla="val 4211"/>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13" name="screenshot-ask" descr="Ask screen of the TruthShift app">    </p:cNvPr>
          <p:cNvPicPr>
            <a:picLocks noChangeAspect="1"/>
          </p:cNvPicPr>
          <p:nvPr/>
        </p:nvPicPr>
        <p:blipFill>
          <a:blip r:embed="rId3"/>
          <a:stretch>
            <a:fillRect/>
          </a:stretch>
        </p:blipFill>
        <p:spPr>
          <a:xfrm>
            <a:off x="1115568" y="2944368"/>
            <a:ext cx="3273552" cy="1664208"/>
          </a:xfrm>
          <a:prstGeom prst="rect">
            <a:avLst/>
          </a:prstGeom>
        </p:spPr>
      </p:pic>
      <p:sp>
        <p:nvSpPr>
          <p:cNvPr id="14" name="label-pill-ask"/>
          <p:cNvSpPr/>
          <p:nvPr/>
        </p:nvSpPr>
        <p:spPr>
          <a:xfrm>
            <a:off x="1225296" y="4178808"/>
            <a:ext cx="1143000" cy="320040"/>
          </a:xfrm>
          <a:prstGeom prst="roundRect">
            <a:avLst>
              <a:gd name="adj" fmla="val 48571"/>
            </a:avLst>
          </a:prstGeom>
          <a:solidFill>
            <a:srgbClr val="14302A"/>
          </a:solidFill>
          <a:ln w="12700">
            <a:solidFill>
              <a:srgbClr val="14302A"/>
            </a:solidFill>
            <a:prstDash val="solid"/>
          </a:ln>
        </p:spPr>
      </p:sp>
      <p:sp>
        <p:nvSpPr>
          <p:cNvPr id="15" name="Text 9"/>
          <p:cNvSpPr txBox="1"/>
          <p:nvPr/>
        </p:nvSpPr>
        <p:spPr>
          <a:xfrm>
            <a:off x="1225296" y="4178808"/>
            <a:ext cx="1143000" cy="320040"/>
          </a:xfrm>
          <a:prstGeom prst="rect">
            <a:avLst/>
          </a:prstGeom>
          <a:noFill/>
          <a:ln/>
        </p:spPr>
        <p:txBody>
          <a:bodyPr wrap="square" lIns="0" tIns="0" rIns="0" bIns="0" rtlCol="0" anchor="ctr"/>
          <a:lstStyle/>
          <a:p>
            <a:pPr algn="ctr" indent="0" marL="0">
              <a:buNone/>
            </a:pPr>
            <a:r>
              <a:rPr lang="en-US" sz="1300" b="1" dirty="0">
                <a:solidFill>
                  <a:srgbClr val="FFFFFF"/>
                </a:solidFill>
              </a:rPr>
              <a:t>Ask</a:t>
            </a:r>
            <a:endParaRPr lang="en-US" sz="1300" dirty="0"/>
          </a:p>
        </p:txBody>
      </p:sp>
      <p:sp>
        <p:nvSpPr>
          <p:cNvPr id="16" name="frame-nearby"/>
          <p:cNvSpPr/>
          <p:nvPr/>
        </p:nvSpPr>
        <p:spPr>
          <a:xfrm>
            <a:off x="4718304" y="2907792"/>
            <a:ext cx="3346704" cy="1737360"/>
          </a:xfrm>
          <a:prstGeom prst="roundRect">
            <a:avLst>
              <a:gd name="adj" fmla="val 4211"/>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17" name="screenshot-nearby" descr="Nearby screen of the TruthShift app">    </p:cNvPr>
          <p:cNvPicPr>
            <a:picLocks noChangeAspect="1"/>
          </p:cNvPicPr>
          <p:nvPr/>
        </p:nvPicPr>
        <p:blipFill>
          <a:blip r:embed="rId4"/>
          <a:stretch>
            <a:fillRect/>
          </a:stretch>
        </p:blipFill>
        <p:spPr>
          <a:xfrm>
            <a:off x="4754880" y="2944368"/>
            <a:ext cx="3273552" cy="1664208"/>
          </a:xfrm>
          <a:prstGeom prst="rect">
            <a:avLst/>
          </a:prstGeom>
        </p:spPr>
      </p:pic>
      <p:sp>
        <p:nvSpPr>
          <p:cNvPr id="18" name="label-pill-nearby"/>
          <p:cNvSpPr/>
          <p:nvPr/>
        </p:nvSpPr>
        <p:spPr>
          <a:xfrm>
            <a:off x="4864608" y="4178808"/>
            <a:ext cx="1143000" cy="320040"/>
          </a:xfrm>
          <a:prstGeom prst="roundRect">
            <a:avLst>
              <a:gd name="adj" fmla="val 48571"/>
            </a:avLst>
          </a:prstGeom>
          <a:solidFill>
            <a:srgbClr val="14302A"/>
          </a:solidFill>
          <a:ln w="12700">
            <a:solidFill>
              <a:srgbClr val="14302A"/>
            </a:solidFill>
            <a:prstDash val="solid"/>
          </a:ln>
        </p:spPr>
      </p:sp>
      <p:sp>
        <p:nvSpPr>
          <p:cNvPr id="19" name="Text 12"/>
          <p:cNvSpPr txBox="1"/>
          <p:nvPr/>
        </p:nvSpPr>
        <p:spPr>
          <a:xfrm>
            <a:off x="4864608" y="4178808"/>
            <a:ext cx="1143000" cy="320040"/>
          </a:xfrm>
          <a:prstGeom prst="rect">
            <a:avLst/>
          </a:prstGeom>
          <a:noFill/>
          <a:ln/>
        </p:spPr>
        <p:txBody>
          <a:bodyPr wrap="square" lIns="0" tIns="0" rIns="0" bIns="0" rtlCol="0" anchor="ctr"/>
          <a:lstStyle/>
          <a:p>
            <a:pPr algn="ctr" indent="0" marL="0">
              <a:buNone/>
            </a:pPr>
            <a:r>
              <a:rPr lang="en-US" sz="1300" b="1" dirty="0">
                <a:solidFill>
                  <a:srgbClr val="FFFFFF"/>
                </a:solidFill>
              </a:rPr>
              <a:t>Nearby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How it works</a:t>
            </a:r>
            <a:endParaRPr lang="en-US" sz="3000" dirty="0"/>
          </a:p>
        </p:txBody>
      </p:sp>
      <p:sp>
        <p:nvSpPr>
          <p:cNvPr id="4" name="arch-react-circle"/>
          <p:cNvSpPr/>
          <p:nvPr/>
        </p:nvSpPr>
        <p:spPr>
          <a:xfrm>
            <a:off x="868680" y="1920240"/>
            <a:ext cx="914400" cy="914400"/>
          </a:xfrm>
          <a:prstGeom prst="ellipse">
            <a:avLst/>
          </a:prstGeom>
          <a:solidFill>
            <a:srgbClr val="E7EFE9"/>
          </a:solidFill>
          <a:ln w="12700">
            <a:solidFill>
              <a:srgbClr val="E7EFE9"/>
            </a:solidFill>
            <a:prstDash val="solid"/>
          </a:ln>
        </p:spPr>
      </p:sp>
      <p:pic>
        <p:nvPicPr>
          <p:cNvPr id="5" name="arch-react-icon" descr="preencoded.png">    </p:cNvPr>
          <p:cNvPicPr>
            <a:picLocks noChangeAspect="1"/>
          </p:cNvPicPr>
          <p:nvPr/>
        </p:nvPicPr>
        <p:blipFill>
          <a:blip r:embed="rId1"/>
          <a:stretch>
            <a:fillRect/>
          </a:stretch>
        </p:blipFill>
        <p:spPr>
          <a:xfrm>
            <a:off x="1088136" y="2139696"/>
            <a:ext cx="475488" cy="475488"/>
          </a:xfrm>
          <a:prstGeom prst="rect">
            <a:avLst/>
          </a:prstGeom>
        </p:spPr>
      </p:pic>
      <p:sp>
        <p:nvSpPr>
          <p:cNvPr id="6" name="Text 2"/>
          <p:cNvSpPr txBox="1"/>
          <p:nvPr/>
        </p:nvSpPr>
        <p:spPr>
          <a:xfrm>
            <a:off x="457200" y="290779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React app</a:t>
            </a:r>
            <a:endParaRPr lang="en-US" sz="1500" dirty="0"/>
          </a:p>
        </p:txBody>
      </p:sp>
      <p:sp>
        <p:nvSpPr>
          <p:cNvPr id="7" name="Text 3"/>
          <p:cNvSpPr txBox="1"/>
          <p:nvPr/>
        </p:nvSpPr>
        <p:spPr>
          <a:xfrm>
            <a:off x="457200" y="321868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phone or laptop</a:t>
            </a:r>
            <a:endParaRPr lang="en-US" sz="1100" dirty="0"/>
          </a:p>
        </p:txBody>
      </p:sp>
      <p:sp>
        <p:nvSpPr>
          <p:cNvPr id="8" name="arch-api-circle"/>
          <p:cNvSpPr/>
          <p:nvPr/>
        </p:nvSpPr>
        <p:spPr>
          <a:xfrm>
            <a:off x="3520440" y="1920240"/>
            <a:ext cx="914400" cy="914400"/>
          </a:xfrm>
          <a:prstGeom prst="ellipse">
            <a:avLst/>
          </a:prstGeom>
          <a:solidFill>
            <a:srgbClr val="14302A"/>
          </a:solidFill>
          <a:ln w="12700">
            <a:solidFill>
              <a:srgbClr val="14302A"/>
            </a:solidFill>
            <a:prstDash val="solid"/>
          </a:ln>
        </p:spPr>
      </p:sp>
      <p:pic>
        <p:nvPicPr>
          <p:cNvPr id="9" name="arch-api-icon" descr="preencoded.png">    </p:cNvPr>
          <p:cNvPicPr>
            <a:picLocks noChangeAspect="1"/>
          </p:cNvPicPr>
          <p:nvPr/>
        </p:nvPicPr>
        <p:blipFill>
          <a:blip r:embed="rId2"/>
          <a:stretch>
            <a:fillRect/>
          </a:stretch>
        </p:blipFill>
        <p:spPr>
          <a:xfrm>
            <a:off x="3739896" y="2139696"/>
            <a:ext cx="475488" cy="475488"/>
          </a:xfrm>
          <a:prstGeom prst="rect">
            <a:avLst/>
          </a:prstGeom>
        </p:spPr>
      </p:pic>
      <p:sp>
        <p:nvSpPr>
          <p:cNvPr id="10" name="Text 5"/>
          <p:cNvSpPr txBox="1"/>
          <p:nvPr/>
        </p:nvSpPr>
        <p:spPr>
          <a:xfrm>
            <a:off x="3108960" y="290779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FastAPI</a:t>
            </a:r>
            <a:endParaRPr lang="en-US" sz="1500" dirty="0"/>
          </a:p>
        </p:txBody>
      </p:sp>
      <p:sp>
        <p:nvSpPr>
          <p:cNvPr id="11" name="Text 6"/>
          <p:cNvSpPr txBox="1"/>
          <p:nvPr/>
        </p:nvSpPr>
        <p:spPr>
          <a:xfrm>
            <a:off x="3108960" y="321868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scoring engine</a:t>
            </a:r>
            <a:endParaRPr lang="en-US" sz="1100" dirty="0"/>
          </a:p>
        </p:txBody>
      </p:sp>
      <p:sp>
        <p:nvSpPr>
          <p:cNvPr id="12" name="arch-data-circle"/>
          <p:cNvSpPr/>
          <p:nvPr/>
        </p:nvSpPr>
        <p:spPr>
          <a:xfrm>
            <a:off x="6949440" y="1051560"/>
            <a:ext cx="914400" cy="914400"/>
          </a:xfrm>
          <a:prstGeom prst="ellipse">
            <a:avLst/>
          </a:prstGeom>
          <a:solidFill>
            <a:srgbClr val="E7EFE9"/>
          </a:solidFill>
          <a:ln w="12700">
            <a:solidFill>
              <a:srgbClr val="E7EFE9"/>
            </a:solidFill>
            <a:prstDash val="solid"/>
          </a:ln>
        </p:spPr>
      </p:sp>
      <p:pic>
        <p:nvPicPr>
          <p:cNvPr id="13" name="arch-data-icon" descr="preencoded.png">    </p:cNvPr>
          <p:cNvPicPr>
            <a:picLocks noChangeAspect="1"/>
          </p:cNvPicPr>
          <p:nvPr/>
        </p:nvPicPr>
        <p:blipFill>
          <a:blip r:embed="rId3"/>
          <a:stretch>
            <a:fillRect/>
          </a:stretch>
        </p:blipFill>
        <p:spPr>
          <a:xfrm>
            <a:off x="7168896" y="1271016"/>
            <a:ext cx="475488" cy="475488"/>
          </a:xfrm>
          <a:prstGeom prst="rect">
            <a:avLst/>
          </a:prstGeom>
        </p:spPr>
      </p:pic>
      <p:sp>
        <p:nvSpPr>
          <p:cNvPr id="14" name="Text 8"/>
          <p:cNvSpPr txBox="1"/>
          <p:nvPr/>
        </p:nvSpPr>
        <p:spPr>
          <a:xfrm>
            <a:off x="6537960" y="203911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Our data</a:t>
            </a:r>
            <a:endParaRPr lang="en-US" sz="1500" dirty="0"/>
          </a:p>
        </p:txBody>
      </p:sp>
      <p:sp>
        <p:nvSpPr>
          <p:cNvPr id="15" name="Text 9"/>
          <p:cNvSpPr txBox="1"/>
          <p:nvPr/>
        </p:nvSpPr>
        <p:spPr>
          <a:xfrm>
            <a:off x="6537960" y="235000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118 products</a:t>
            </a:r>
            <a:endParaRPr lang="en-US" sz="1100" dirty="0"/>
          </a:p>
        </p:txBody>
      </p:sp>
      <p:sp>
        <p:nvSpPr>
          <p:cNvPr id="16" name="arch-off-circle"/>
          <p:cNvSpPr/>
          <p:nvPr/>
        </p:nvSpPr>
        <p:spPr>
          <a:xfrm>
            <a:off x="6949440" y="2697480"/>
            <a:ext cx="914400" cy="914400"/>
          </a:xfrm>
          <a:prstGeom prst="ellipse">
            <a:avLst/>
          </a:prstGeom>
          <a:solidFill>
            <a:srgbClr val="E7EFE9"/>
          </a:solidFill>
          <a:ln w="12700">
            <a:solidFill>
              <a:srgbClr val="E7EFE9"/>
            </a:solidFill>
            <a:prstDash val="solid"/>
          </a:ln>
        </p:spPr>
      </p:sp>
      <p:pic>
        <p:nvPicPr>
          <p:cNvPr id="17" name="arch-off-icon" descr="preencoded.png">    </p:cNvPr>
          <p:cNvPicPr>
            <a:picLocks noChangeAspect="1"/>
          </p:cNvPicPr>
          <p:nvPr/>
        </p:nvPicPr>
        <p:blipFill>
          <a:blip r:embed="rId4"/>
          <a:stretch>
            <a:fillRect/>
          </a:stretch>
        </p:blipFill>
        <p:spPr>
          <a:xfrm>
            <a:off x="7168896" y="2916936"/>
            <a:ext cx="475488" cy="475488"/>
          </a:xfrm>
          <a:prstGeom prst="rect">
            <a:avLst/>
          </a:prstGeom>
        </p:spPr>
      </p:pic>
      <p:sp>
        <p:nvSpPr>
          <p:cNvPr id="18" name="Text 11"/>
          <p:cNvSpPr txBox="1"/>
          <p:nvPr/>
        </p:nvSpPr>
        <p:spPr>
          <a:xfrm>
            <a:off x="6537960" y="368503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Open Food Facts</a:t>
            </a:r>
            <a:endParaRPr lang="en-US" sz="1500" dirty="0"/>
          </a:p>
        </p:txBody>
      </p:sp>
      <p:sp>
        <p:nvSpPr>
          <p:cNvPr id="19" name="Text 12"/>
          <p:cNvSpPr txBox="1"/>
          <p:nvPr/>
        </p:nvSpPr>
        <p:spPr>
          <a:xfrm>
            <a:off x="6537960" y="399592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real products</a:t>
            </a:r>
            <a:endParaRPr lang="en-US" sz="1100" dirty="0"/>
          </a:p>
        </p:txBody>
      </p:sp>
      <p:sp>
        <p:nvSpPr>
          <p:cNvPr id="20" name="arch-claude-circle"/>
          <p:cNvSpPr/>
          <p:nvPr/>
        </p:nvSpPr>
        <p:spPr>
          <a:xfrm>
            <a:off x="5349240" y="3246120"/>
            <a:ext cx="914400" cy="914400"/>
          </a:xfrm>
          <a:prstGeom prst="ellipse">
            <a:avLst/>
          </a:prstGeom>
          <a:solidFill>
            <a:srgbClr val="E7EFE9"/>
          </a:solidFill>
          <a:ln w="12700">
            <a:solidFill>
              <a:srgbClr val="E7EFE9"/>
            </a:solidFill>
            <a:prstDash val="solid"/>
          </a:ln>
        </p:spPr>
      </p:sp>
      <p:pic>
        <p:nvPicPr>
          <p:cNvPr id="21" name="arch-claude-icon" descr="preencoded.png">    </p:cNvPr>
          <p:cNvPicPr>
            <a:picLocks noChangeAspect="1"/>
          </p:cNvPicPr>
          <p:nvPr/>
        </p:nvPicPr>
        <p:blipFill>
          <a:blip r:embed="rId5"/>
          <a:stretch>
            <a:fillRect/>
          </a:stretch>
        </p:blipFill>
        <p:spPr>
          <a:xfrm>
            <a:off x="5568696" y="3465576"/>
            <a:ext cx="475488" cy="475488"/>
          </a:xfrm>
          <a:prstGeom prst="rect">
            <a:avLst/>
          </a:prstGeom>
        </p:spPr>
      </p:pic>
      <p:sp>
        <p:nvSpPr>
          <p:cNvPr id="22" name="Text 14"/>
          <p:cNvSpPr txBox="1"/>
          <p:nvPr/>
        </p:nvSpPr>
        <p:spPr>
          <a:xfrm>
            <a:off x="4937760" y="423367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Claude</a:t>
            </a:r>
            <a:endParaRPr lang="en-US" sz="1500" dirty="0"/>
          </a:p>
        </p:txBody>
      </p:sp>
      <p:sp>
        <p:nvSpPr>
          <p:cNvPr id="23" name="Text 15"/>
          <p:cNvSpPr txBox="1"/>
          <p:nvPr/>
        </p:nvSpPr>
        <p:spPr>
          <a:xfrm>
            <a:off x="4937760" y="454456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AI answers</a:t>
            </a:r>
            <a:endParaRPr lang="en-US" sz="1100" dirty="0"/>
          </a:p>
        </p:txBody>
      </p:sp>
      <p:sp>
        <p:nvSpPr>
          <p:cNvPr id="24" name="arrow-react-api"/>
          <p:cNvSpPr/>
          <p:nvPr/>
        </p:nvSpPr>
        <p:spPr>
          <a:xfrm>
            <a:off x="1920240" y="2377440"/>
            <a:ext cx="1463040" cy="0"/>
          </a:xfrm>
          <a:prstGeom prst="line">
            <a:avLst/>
          </a:prstGeom>
          <a:noFill/>
          <a:ln w="28575">
            <a:solidFill>
              <a:srgbClr val="1F7A4D"/>
            </a:solidFill>
            <a:prstDash val="solid"/>
            <a:tailEnd type="triangle"/>
          </a:ln>
        </p:spPr>
      </p:sp>
      <p:sp>
        <p:nvSpPr>
          <p:cNvPr id="25" name="arrow-api-data"/>
          <p:cNvSpPr/>
          <p:nvPr/>
        </p:nvSpPr>
        <p:spPr>
          <a:xfrm flipV="1">
            <a:off x="4572000" y="1600200"/>
            <a:ext cx="2240280" cy="548640"/>
          </a:xfrm>
          <a:prstGeom prst="line">
            <a:avLst/>
          </a:prstGeom>
          <a:noFill/>
          <a:ln w="28575">
            <a:solidFill>
              <a:srgbClr val="1F7A4D"/>
            </a:solidFill>
            <a:prstDash val="solid"/>
            <a:tailEnd type="triangle"/>
          </a:ln>
        </p:spPr>
      </p:sp>
      <p:sp>
        <p:nvSpPr>
          <p:cNvPr id="26" name="arrow-api-off"/>
          <p:cNvSpPr/>
          <p:nvPr/>
        </p:nvSpPr>
        <p:spPr>
          <a:xfrm>
            <a:off x="4572000" y="2606040"/>
            <a:ext cx="2240280" cy="548640"/>
          </a:xfrm>
          <a:prstGeom prst="line">
            <a:avLst/>
          </a:prstGeom>
          <a:noFill/>
          <a:ln w="28575">
            <a:solidFill>
              <a:srgbClr val="1F7A4D"/>
            </a:solidFill>
            <a:prstDash val="solid"/>
            <a:tailEnd type="triangle"/>
          </a:ln>
        </p:spPr>
      </p:sp>
      <p:sp>
        <p:nvSpPr>
          <p:cNvPr id="27" name="arrow-api-claude"/>
          <p:cNvSpPr/>
          <p:nvPr/>
        </p:nvSpPr>
        <p:spPr>
          <a:xfrm>
            <a:off x="4343400" y="2834640"/>
            <a:ext cx="914400" cy="685800"/>
          </a:xfrm>
          <a:prstGeom prst="line">
            <a:avLst/>
          </a:prstGeom>
          <a:noFill/>
          <a:ln w="28575">
            <a:solidFill>
              <a:srgbClr val="1F7A4D"/>
            </a:solidFill>
            <a:prstDash val="solid"/>
            <a:tailEnd type="triangle"/>
          </a:ln>
        </p:spPr>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118 products, honestly labelled</a:t>
            </a:r>
            <a:endParaRPr lang="en-US" sz="3000" dirty="0"/>
          </a:p>
        </p:txBody>
      </p:sp>
      <p:sp>
        <p:nvSpPr>
          <p:cNvPr id="4" name="Text 1"/>
          <p:cNvSpPr txBox="1"/>
          <p:nvPr/>
        </p:nvSpPr>
        <p:spPr>
          <a:xfrm>
            <a:off x="457200" y="1234440"/>
            <a:ext cx="1280160" cy="731520"/>
          </a:xfrm>
          <a:prstGeom prst="rect">
            <a:avLst/>
          </a:prstGeom>
          <a:noFill/>
          <a:ln/>
        </p:spPr>
        <p:txBody>
          <a:bodyPr wrap="square" lIns="0" tIns="0" rIns="0" bIns="0" rtlCol="0" anchor="t"/>
          <a:lstStyle/>
          <a:p>
            <a:pPr indent="0" marL="0">
              <a:buNone/>
            </a:pPr>
            <a:r>
              <a:rPr lang="en-US" sz="4400" b="1" dirty="0">
                <a:solidFill>
                  <a:srgbClr val="14302A"/>
                </a:solidFill>
                <a:latin typeface="Cambria" pitchFamily="34" charset="0"/>
                <a:ea typeface="Cambria" pitchFamily="34" charset="-122"/>
                <a:cs typeface="Cambria" pitchFamily="34" charset="-120"/>
              </a:rPr>
              <a:t>46</a:t>
            </a:r>
            <a:endParaRPr lang="en-US" sz="4400" dirty="0"/>
          </a:p>
        </p:txBody>
      </p:sp>
      <p:sp>
        <p:nvSpPr>
          <p:cNvPr id="5" name="Text 2"/>
          <p:cNvSpPr txBox="1"/>
          <p:nvPr/>
        </p:nvSpPr>
        <p:spPr>
          <a:xfrm>
            <a:off x="1783080" y="1417320"/>
            <a:ext cx="1463040" cy="411480"/>
          </a:xfrm>
          <a:prstGeom prst="rect">
            <a:avLst/>
          </a:prstGeom>
          <a:noFill/>
          <a:ln/>
        </p:spPr>
        <p:txBody>
          <a:bodyPr wrap="square" lIns="0" tIns="0" rIns="0" bIns="0" rtlCol="0" anchor="t"/>
          <a:lstStyle/>
          <a:p>
            <a:pPr indent="0" marL="0">
              <a:buNone/>
            </a:pPr>
            <a:r>
              <a:rPr lang="en-US" sz="1500" dirty="0">
                <a:solidFill>
                  <a:srgbClr val="4A5A52"/>
                </a:solidFill>
              </a:rPr>
              <a:t>demo products</a:t>
            </a:r>
            <a:endParaRPr lang="en-US" sz="1500" dirty="0"/>
          </a:p>
        </p:txBody>
      </p:sp>
      <p:sp>
        <p:nvSpPr>
          <p:cNvPr id="6" name="Text 3"/>
          <p:cNvSpPr txBox="1"/>
          <p:nvPr/>
        </p:nvSpPr>
        <p:spPr>
          <a:xfrm>
            <a:off x="457200" y="2331720"/>
            <a:ext cx="1280160" cy="731520"/>
          </a:xfrm>
          <a:prstGeom prst="rect">
            <a:avLst/>
          </a:prstGeom>
          <a:noFill/>
          <a:ln/>
        </p:spPr>
        <p:txBody>
          <a:bodyPr wrap="square" lIns="0" tIns="0" rIns="0" bIns="0" rtlCol="0" anchor="t"/>
          <a:lstStyle/>
          <a:p>
            <a:pPr indent="0" marL="0">
              <a:buNone/>
            </a:pPr>
            <a:r>
              <a:rPr lang="en-US" sz="4400" b="1" dirty="0">
                <a:solidFill>
                  <a:srgbClr val="1F7A4D"/>
                </a:solidFill>
                <a:latin typeface="Cambria" pitchFamily="34" charset="0"/>
                <a:ea typeface="Cambria" pitchFamily="34" charset="-122"/>
                <a:cs typeface="Cambria" pitchFamily="34" charset="-120"/>
              </a:rPr>
              <a:t>72</a:t>
            </a:r>
            <a:endParaRPr lang="en-US" sz="4400" dirty="0"/>
          </a:p>
        </p:txBody>
      </p:sp>
      <p:sp>
        <p:nvSpPr>
          <p:cNvPr id="7" name="Text 4"/>
          <p:cNvSpPr txBox="1"/>
          <p:nvPr/>
        </p:nvSpPr>
        <p:spPr>
          <a:xfrm>
            <a:off x="1783080" y="2514600"/>
            <a:ext cx="1463040" cy="411480"/>
          </a:xfrm>
          <a:prstGeom prst="rect">
            <a:avLst/>
          </a:prstGeom>
          <a:noFill/>
          <a:ln/>
        </p:spPr>
        <p:txBody>
          <a:bodyPr wrap="square" lIns="0" tIns="0" rIns="0" bIns="0" rtlCol="0" anchor="t"/>
          <a:lstStyle/>
          <a:p>
            <a:pPr indent="0" marL="0">
              <a:buNone/>
            </a:pPr>
            <a:r>
              <a:rPr lang="en-US" sz="1500" dirty="0">
                <a:solidFill>
                  <a:srgbClr val="4A5A52"/>
                </a:solidFill>
              </a:rPr>
              <a:t>real products</a:t>
            </a:r>
            <a:endParaRPr lang="en-US" sz="1500" dirty="0"/>
          </a:p>
        </p:txBody>
      </p:sp>
      <p:sp>
        <p:nvSpPr>
          <p:cNvPr id="8" name="Text 5"/>
          <p:cNvSpPr txBox="1"/>
          <p:nvPr/>
        </p:nvSpPr>
        <p:spPr>
          <a:xfrm>
            <a:off x="457200" y="3429000"/>
            <a:ext cx="1280160" cy="731520"/>
          </a:xfrm>
          <a:prstGeom prst="rect">
            <a:avLst/>
          </a:prstGeom>
          <a:noFill/>
          <a:ln/>
        </p:spPr>
        <p:txBody>
          <a:bodyPr wrap="square" lIns="0" tIns="0" rIns="0" bIns="0" rtlCol="0" anchor="t"/>
          <a:lstStyle/>
          <a:p>
            <a:pPr indent="0" marL="0">
              <a:buNone/>
            </a:pPr>
            <a:r>
              <a:rPr lang="en-US" sz="4400" b="1" dirty="0">
                <a:solidFill>
                  <a:srgbClr val="14302A"/>
                </a:solidFill>
                <a:latin typeface="Cambria" pitchFamily="34" charset="0"/>
                <a:ea typeface="Cambria" pitchFamily="34" charset="-122"/>
                <a:cs typeface="Cambria" pitchFamily="34" charset="-120"/>
              </a:rPr>
              <a:t>10</a:t>
            </a:r>
            <a:endParaRPr lang="en-US" sz="4400" dirty="0"/>
          </a:p>
        </p:txBody>
      </p:sp>
      <p:sp>
        <p:nvSpPr>
          <p:cNvPr id="9" name="Text 6"/>
          <p:cNvSpPr txBox="1"/>
          <p:nvPr/>
        </p:nvSpPr>
        <p:spPr>
          <a:xfrm>
            <a:off x="1783080" y="3611880"/>
            <a:ext cx="1463040" cy="411480"/>
          </a:xfrm>
          <a:prstGeom prst="rect">
            <a:avLst/>
          </a:prstGeom>
          <a:noFill/>
          <a:ln/>
        </p:spPr>
        <p:txBody>
          <a:bodyPr wrap="square" lIns="0" tIns="0" rIns="0" bIns="0" rtlCol="0" anchor="t"/>
          <a:lstStyle/>
          <a:p>
            <a:pPr indent="0" marL="0">
              <a:buNone/>
            </a:pPr>
            <a:r>
              <a:rPr lang="en-US" sz="1500" dirty="0">
                <a:solidFill>
                  <a:srgbClr val="4A5A52"/>
                </a:solidFill>
              </a:rPr>
              <a:t>Regina stores</a:t>
            </a:r>
            <a:endParaRPr lang="en-US" sz="1500" dirty="0"/>
          </a:p>
        </p:txBody>
      </p:sp>
      <p:graphicFrame>
        <p:nvGraphicFramePr>
          <p:cNvPr id="10" name="known-facts-chart" descr=""/>
          <p:cNvGraphicFramePr/>
          <p:nvPr/>
        </p:nvGraphicFramePr>
        <p:xfrm>
          <a:off x="329184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What’s next</a:t>
            </a:r>
            <a:endParaRPr lang="en-US" sz="3000" dirty="0"/>
          </a:p>
        </p:txBody>
      </p:sp>
      <p:sp>
        <p:nvSpPr>
          <p:cNvPr id="4" name="next-1-circle"/>
          <p:cNvSpPr/>
          <p:nvPr/>
        </p:nvSpPr>
        <p:spPr>
          <a:xfrm>
            <a:off x="868680" y="1600200"/>
            <a:ext cx="1097280" cy="1097280"/>
          </a:xfrm>
          <a:prstGeom prst="ellipse">
            <a:avLst/>
          </a:prstGeom>
          <a:solidFill>
            <a:srgbClr val="1F7A4D"/>
          </a:solidFill>
          <a:ln w="12700">
            <a:solidFill>
              <a:srgbClr val="1F7A4D"/>
            </a:solidFill>
            <a:prstDash val="solid"/>
          </a:ln>
        </p:spPr>
      </p:sp>
      <p:pic>
        <p:nvPicPr>
          <p:cNvPr id="5" name="next-1-icon" descr="preencoded.png">    </p:cNvPr>
          <p:cNvPicPr>
            <a:picLocks noChangeAspect="1"/>
          </p:cNvPicPr>
          <p:nvPr/>
        </p:nvPicPr>
        <p:blipFill>
          <a:blip r:embed="rId1"/>
          <a:stretch>
            <a:fillRect/>
          </a:stretch>
        </p:blipFill>
        <p:spPr>
          <a:xfrm>
            <a:off x="1132027" y="1863547"/>
            <a:ext cx="570586" cy="570586"/>
          </a:xfrm>
          <a:prstGeom prst="rect">
            <a:avLst/>
          </a:prstGeom>
        </p:spPr>
      </p:pic>
      <p:sp>
        <p:nvSpPr>
          <p:cNvPr id="6" name="Text 2"/>
          <p:cNvSpPr txBox="1"/>
          <p:nvPr/>
        </p:nvSpPr>
        <p:spPr>
          <a:xfrm>
            <a:off x="457200" y="2880360"/>
            <a:ext cx="1920240" cy="640080"/>
          </a:xfrm>
          <a:prstGeom prst="rect">
            <a:avLst/>
          </a:prstGeom>
          <a:noFill/>
          <a:ln/>
        </p:spPr>
        <p:txBody>
          <a:bodyPr wrap="square" lIns="0" tIns="0" rIns="0" bIns="0" rtlCol="0" anchor="t"/>
          <a:lstStyle/>
          <a:p>
            <a:pPr algn="ctr" indent="0" marL="0">
              <a:buNone/>
            </a:pPr>
            <a:r>
              <a:rPr lang="en-US" sz="1700" b="1" dirty="0">
                <a:solidFill>
                  <a:srgbClr val="14302A"/>
                </a:solidFill>
              </a:rPr>
              <a:t>Real Regina labels</a:t>
            </a:r>
            <a:endParaRPr lang="en-US" sz="1700" dirty="0"/>
          </a:p>
        </p:txBody>
      </p:sp>
      <p:sp>
        <p:nvSpPr>
          <p:cNvPr id="7" name="next-2-circle"/>
          <p:cNvSpPr/>
          <p:nvPr/>
        </p:nvSpPr>
        <p:spPr>
          <a:xfrm>
            <a:off x="2971800" y="1600200"/>
            <a:ext cx="1097280" cy="1097280"/>
          </a:xfrm>
          <a:prstGeom prst="ellipse">
            <a:avLst/>
          </a:prstGeom>
          <a:solidFill>
            <a:srgbClr val="1F7A4D"/>
          </a:solidFill>
          <a:ln w="12700">
            <a:solidFill>
              <a:srgbClr val="1F7A4D"/>
            </a:solidFill>
            <a:prstDash val="solid"/>
          </a:ln>
        </p:spPr>
      </p:sp>
      <p:pic>
        <p:nvPicPr>
          <p:cNvPr id="8" name="next-2-icon" descr="preencoded.png">    </p:cNvPr>
          <p:cNvPicPr>
            <a:picLocks noChangeAspect="1"/>
          </p:cNvPicPr>
          <p:nvPr/>
        </p:nvPicPr>
        <p:blipFill>
          <a:blip r:embed="rId2"/>
          <a:stretch>
            <a:fillRect/>
          </a:stretch>
        </p:blipFill>
        <p:spPr>
          <a:xfrm>
            <a:off x="3235147" y="1863547"/>
            <a:ext cx="570586" cy="570586"/>
          </a:xfrm>
          <a:prstGeom prst="rect">
            <a:avLst/>
          </a:prstGeom>
        </p:spPr>
      </p:pic>
      <p:sp>
        <p:nvSpPr>
          <p:cNvPr id="9" name="Text 4"/>
          <p:cNvSpPr txBox="1"/>
          <p:nvPr/>
        </p:nvSpPr>
        <p:spPr>
          <a:xfrm>
            <a:off x="2560320" y="2880360"/>
            <a:ext cx="1920240" cy="640080"/>
          </a:xfrm>
          <a:prstGeom prst="rect">
            <a:avLst/>
          </a:prstGeom>
          <a:noFill/>
          <a:ln/>
        </p:spPr>
        <p:txBody>
          <a:bodyPr wrap="square" lIns="0" tIns="0" rIns="0" bIns="0" rtlCol="0" anchor="t"/>
          <a:lstStyle/>
          <a:p>
            <a:pPr algn="ctr" indent="0" marL="0">
              <a:buNone/>
            </a:pPr>
            <a:r>
              <a:rPr lang="en-US" sz="1700" b="1" dirty="0">
                <a:solidFill>
                  <a:srgbClr val="14302A"/>
                </a:solidFill>
              </a:rPr>
              <a:t>Verified certifications</a:t>
            </a:r>
            <a:endParaRPr lang="en-US" sz="1700" dirty="0"/>
          </a:p>
        </p:txBody>
      </p:sp>
      <p:sp>
        <p:nvSpPr>
          <p:cNvPr id="10" name="next-3-circle"/>
          <p:cNvSpPr/>
          <p:nvPr/>
        </p:nvSpPr>
        <p:spPr>
          <a:xfrm>
            <a:off x="5074920" y="1600200"/>
            <a:ext cx="1097280" cy="1097280"/>
          </a:xfrm>
          <a:prstGeom prst="ellipse">
            <a:avLst/>
          </a:prstGeom>
          <a:solidFill>
            <a:srgbClr val="1F7A4D"/>
          </a:solidFill>
          <a:ln w="12700">
            <a:solidFill>
              <a:srgbClr val="1F7A4D"/>
            </a:solidFill>
            <a:prstDash val="solid"/>
          </a:ln>
        </p:spPr>
      </p:sp>
      <p:pic>
        <p:nvPicPr>
          <p:cNvPr id="11" name="next-3-icon" descr="preencoded.png">    </p:cNvPr>
          <p:cNvPicPr>
            <a:picLocks noChangeAspect="1"/>
          </p:cNvPicPr>
          <p:nvPr/>
        </p:nvPicPr>
        <p:blipFill>
          <a:blip r:embed="rId3"/>
          <a:stretch>
            <a:fillRect/>
          </a:stretch>
        </p:blipFill>
        <p:spPr>
          <a:xfrm>
            <a:off x="5338267" y="1863547"/>
            <a:ext cx="570586" cy="570586"/>
          </a:xfrm>
          <a:prstGeom prst="rect">
            <a:avLst/>
          </a:prstGeom>
        </p:spPr>
      </p:pic>
      <p:sp>
        <p:nvSpPr>
          <p:cNvPr id="12" name="Text 6"/>
          <p:cNvSpPr txBox="1"/>
          <p:nvPr/>
        </p:nvSpPr>
        <p:spPr>
          <a:xfrm>
            <a:off x="4663440" y="2880360"/>
            <a:ext cx="1920240" cy="640080"/>
          </a:xfrm>
          <a:prstGeom prst="rect">
            <a:avLst/>
          </a:prstGeom>
          <a:noFill/>
          <a:ln/>
        </p:spPr>
        <p:txBody>
          <a:bodyPr wrap="square" lIns="0" tIns="0" rIns="0" bIns="0" rtlCol="0" anchor="t"/>
          <a:lstStyle/>
          <a:p>
            <a:pPr algn="ctr" indent="0" marL="0">
              <a:buNone/>
            </a:pPr>
            <a:r>
              <a:rPr lang="en-US" sz="1700" b="1" dirty="0">
                <a:solidFill>
                  <a:srgbClr val="14302A"/>
                </a:solidFill>
              </a:rPr>
              <a:t>Flyer prices</a:t>
            </a:r>
            <a:endParaRPr lang="en-US" sz="1700" dirty="0"/>
          </a:p>
        </p:txBody>
      </p:sp>
      <p:sp>
        <p:nvSpPr>
          <p:cNvPr id="13" name="next-4-circle"/>
          <p:cNvSpPr/>
          <p:nvPr/>
        </p:nvSpPr>
        <p:spPr>
          <a:xfrm>
            <a:off x="7178040" y="1600200"/>
            <a:ext cx="1097280" cy="1097280"/>
          </a:xfrm>
          <a:prstGeom prst="ellipse">
            <a:avLst/>
          </a:prstGeom>
          <a:solidFill>
            <a:srgbClr val="1F7A4D"/>
          </a:solidFill>
          <a:ln w="12700">
            <a:solidFill>
              <a:srgbClr val="1F7A4D"/>
            </a:solidFill>
            <a:prstDash val="solid"/>
          </a:ln>
        </p:spPr>
      </p:sp>
      <p:pic>
        <p:nvPicPr>
          <p:cNvPr id="14" name="next-4-icon" descr="preencoded.png">    </p:cNvPr>
          <p:cNvPicPr>
            <a:picLocks noChangeAspect="1"/>
          </p:cNvPicPr>
          <p:nvPr/>
        </p:nvPicPr>
        <p:blipFill>
          <a:blip r:embed="rId4"/>
          <a:stretch>
            <a:fillRect/>
          </a:stretch>
        </p:blipFill>
        <p:spPr>
          <a:xfrm>
            <a:off x="7441387" y="1863547"/>
            <a:ext cx="570586" cy="570586"/>
          </a:xfrm>
          <a:prstGeom prst="rect">
            <a:avLst/>
          </a:prstGeom>
        </p:spPr>
      </p:pic>
      <p:sp>
        <p:nvSpPr>
          <p:cNvPr id="15" name="Text 8"/>
          <p:cNvSpPr txBox="1"/>
          <p:nvPr/>
        </p:nvSpPr>
        <p:spPr>
          <a:xfrm>
            <a:off x="6766560" y="2880360"/>
            <a:ext cx="1920240" cy="640080"/>
          </a:xfrm>
          <a:prstGeom prst="rect">
            <a:avLst/>
          </a:prstGeom>
          <a:noFill/>
          <a:ln/>
        </p:spPr>
        <p:txBody>
          <a:bodyPr wrap="square" lIns="0" tIns="0" rIns="0" bIns="0" rtlCol="0" anchor="t"/>
          <a:lstStyle/>
          <a:p>
            <a:pPr algn="ctr" indent="0" marL="0">
              <a:buNone/>
            </a:pPr>
            <a:r>
              <a:rPr lang="en-US" sz="1700" b="1" dirty="0">
                <a:solidFill>
                  <a:srgbClr val="14302A"/>
                </a:solidFill>
              </a:rPr>
              <a:t>More languages</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234440"/>
            <a:ext cx="8046720" cy="1005840"/>
          </a:xfrm>
          <a:prstGeom prst="rect">
            <a:avLst/>
          </a:prstGeom>
          <a:noFill/>
          <a:ln/>
        </p:spPr>
        <p:txBody>
          <a:bodyPr wrap="square" lIns="0" tIns="0" rIns="0" bIns="0" rtlCol="0" anchor="t"/>
          <a:lstStyle/>
          <a:p>
            <a:pPr indent="0" marL="0">
              <a:buNone/>
            </a:pPr>
            <a:r>
              <a:rPr lang="en-US" sz="6000" b="1" dirty="0">
                <a:solidFill>
                  <a:srgbClr val="F6F7F2"/>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548640" y="2286000"/>
            <a:ext cx="8046720" cy="548640"/>
          </a:xfrm>
          <a:prstGeom prst="rect">
            <a:avLst/>
          </a:prstGeom>
          <a:noFill/>
          <a:ln/>
        </p:spPr>
        <p:txBody>
          <a:bodyPr wrap="square" lIns="0" tIns="0" rIns="0" bIns="0" rtlCol="0" anchor="t"/>
          <a:lstStyle/>
          <a:p>
            <a:pPr indent="0" marL="0">
              <a:buNone/>
            </a:pPr>
            <a:r>
              <a:rPr lang="en-US" sz="2600" dirty="0">
                <a:solidFill>
                  <a:srgbClr val="C9DDD2"/>
                </a:solidFill>
              </a:rPr>
              <a:t>Questions?</a:t>
            </a:r>
            <a:endParaRPr lang="en-US" sz="2600" dirty="0"/>
          </a:p>
        </p:txBody>
      </p:sp>
      <p:pic>
        <p:nvPicPr>
          <p:cNvPr id="4" name="github-icon" descr="GitHub">    </p:cNvPr>
          <p:cNvPicPr>
            <a:picLocks noChangeAspect="1"/>
          </p:cNvPicPr>
          <p:nvPr/>
        </p:nvPicPr>
        <p:blipFill>
          <a:blip r:embed="rId1"/>
          <a:stretch>
            <a:fillRect/>
          </a:stretch>
        </p:blipFill>
        <p:spPr>
          <a:xfrm>
            <a:off x="548640" y="3429000"/>
            <a:ext cx="411480" cy="411480"/>
          </a:xfrm>
          <a:prstGeom prst="rect">
            <a:avLst/>
          </a:prstGeom>
        </p:spPr>
      </p:pic>
      <p:sp>
        <p:nvSpPr>
          <p:cNvPr id="5" name="Text 2"/>
          <p:cNvSpPr txBox="1"/>
          <p:nvPr/>
        </p:nvSpPr>
        <p:spPr>
          <a:xfrm>
            <a:off x="1097280" y="3429000"/>
            <a:ext cx="5486400" cy="411480"/>
          </a:xfrm>
          <a:prstGeom prst="rect">
            <a:avLst/>
          </a:prstGeom>
          <a:noFill/>
          <a:ln/>
        </p:spPr>
        <p:txBody>
          <a:bodyPr wrap="square" lIns="0" tIns="0" rIns="0" bIns="0" rtlCol="0" anchor="ctr"/>
          <a:lstStyle/>
          <a:p>
            <a:pPr indent="0" marL="0">
              <a:buNone/>
            </a:pPr>
            <a:r>
              <a:rPr lang="en-US" sz="1800" u="sng" dirty="0">
                <a:solidFill>
                  <a:srgbClr val="8FD4AE"/>
                </a:solidFill>
                <a:hlinkClick r:id="rId2" invalidUrl="" action="" tgtFrame="" tooltip="" history="1" highlightClick="0" endSnd="0">
                  <a:extLst>
                    <a:ext uri="{A12FA001-AC4F-418D-AE19-62706E023703}">
                      <ahyp:hlinkClr xmlns:ahyp="http://schemas.microsoft.com/office/drawing/2018/hyperlinkcolor" val="tx"/>
                    </a:ext>
                  </a:extLst>
                </a:hlinkClick>
              </a:rPr>
              <a:t>github.com/Nachiket-96/truthshift</a:t>
            </a:r>
            <a:endParaRPr lang="en-US" sz="1800" dirty="0"/>
          </a:p>
        </p:txBody>
      </p:sp>
    </p:spTree>
  </p:cSld>
  <p:clrMapOvr>
    <a:masterClrMapping/>
  </p:clrMapOvr>
</p:sld>
</file>

<file path=ppt/theme/theme1.xml><?xml version="1.0" encoding="utf-8"?>
<a:theme xmlns:a="http://schemas.openxmlformats.org/drawingml/2006/main" name="TruthShift">
  <a:themeElements>
    <a:clrScheme name="TruthShift">
      <a:dk1>
        <a:srgbClr val="14302A"/>
      </a:dk1>
      <a:lt1>
        <a:srgbClr val="FFFFFF"/>
      </a:lt1>
      <a:dk2>
        <a:srgbClr val="4A5A52"/>
      </a:dk2>
      <a:lt2>
        <a:srgbClr val="E7EFE9"/>
      </a:lt2>
      <a:accent1>
        <a:srgbClr val="1F7A4D"/>
      </a:accent1>
      <a:accent2>
        <a:srgbClr val="D9822B"/>
      </a:accent2>
      <a:accent3>
        <a:srgbClr val="8FD4AE"/>
      </a:accent3>
      <a:accent4>
        <a:srgbClr val="C9DDD2"/>
      </a:accent4>
      <a:accent5>
        <a:srgbClr val="1D4038"/>
      </a:accent5>
      <a:accent6>
        <a:srgbClr val="F6F7F2"/>
      </a:accent6>
      <a:hlink>
        <a:srgbClr val="1F7A4D"/>
      </a:hlink>
      <a:folHlink>
        <a:srgbClr val="4A5A52"/>
      </a:folHlink>
    </a:clrScheme>
    <a:fontScheme name="TruthShi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TruthShift</dc:title>
  <dc:subject>PptxGenJS Presentation</dc:subject>
  <dc:creator>[Team name]</dc:creator>
  <cp:lastModifiedBy>[Team name]</cp:lastModifiedBy>
  <cp:revision>1</cp:revision>
  <dcterms:created xsi:type="dcterms:W3CDTF">2026-10-15T18:28:20Z</dcterms:created>
  <dcterms:modified xsi:type="dcterms:W3CDTF">2026-10-15T18:28:20Z</dcterms:modified>
</cp:coreProperties>
</file>
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43045a00-eb2d-a271-e319-b09a83d4364e}">
          <p14:sldIdLst>
            <p14:sldId id="256"/>
            <p14:sldId id="257"/>
            <p14:sldId id="258"/>
            <p14:sldId id="259"/>
          </p14:sldIdLst>
        </p14:section>
        <p14:section name="What it does" id="{74172564-1a51-2cc3-7421-867762f47375}">
          <p14:sldIdLst>
            <p14:sldId id="260"/>
            <p14:sldId id="261"/>
            <p14:sldId id="262"/>
          </p14:sldIdLst>
        </p14:section>
        <p14:section name="Demo" id="{feaad919-5fb1-1137-b56b-5ddc04d03725}">
          <p14:sldIdLst>
            <p14:sldId id="263"/>
          </p14:sldIdLst>
        </p14:section>
        <p14:section name="How it is built" id="{1d69ec8f-4ded-db7d-bab9-147c082e894e}">
          <p14:sldIdLst>
            <p14:sldId id="264"/>
            <p14:sldId id="267"/>
          </p14:sldIdLst>
        </p14:section>
        <p14:section name="Model" id="{b56dcb3c-0237-f2bb-f95e-ae872e417962}">
          <p14:sldIdLst>
            <p14:sldId id="265"/>
            <p14:sldId id="266"/>
          </p14:sldIdLst>
        </p14:section>
        <p14:section name="Business model" id="{041acf1e-1d1c-7ecc-797c-6f60c29de0c3}">
          <p14:sldIdLst>
            <p14:sldId id="268"/>
            <p14:sldId id="269"/>
            <p14:sldId id="270"/>
          </p14:sldIdLst>
        </p14:section>
        <p14:section name="Next" id="{f876fefa-dfd9-ce7f-d97d-d6996311501b}">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Queen City Dark Roast</c:v>
                </c:pt>
              </c:strCache>
            </c:strRef>
          </c:tx>
          <c:spPr>
            <a:solidFill>
              <a:srgbClr val="1F7A4D"/>
            </a:solidFill>
            <a:effectLst/>
          </c:spPr>
          <c:invertIfNegative val="0"/>
          <c:dLbls>
            <c:numFmt formatCode="#,##0" sourceLinked="0"/>
            <c:txPr>
              <a:bodyPr/>
              <a:lstStyle/>
              <a:p>
                <a:pPr>
                  <a:defRPr b="1" i="0" strike="noStrike" sz="1200" u="none">
                    <a:solidFill>
                      <a:srgbClr val="14302A"/>
                    </a:solidFill>
                    <a:latin typeface="+mn-lt"/>
                  </a:defRPr>
                </a:pPr>
              </a:p>
            </c:txPr>
            <c:showLegendKey val="0"/>
            <c:showVal val="1"/>
            <c:showCatName val="0"/>
            <c:showSerName val="0"/>
            <c:showPercent val="0"/>
            <c:showBubbleSize val="0"/>
            <c:showLeaderLines val="0"/>
          </c:dLbls>
          <c:cat>
            <c:multiLvlStrRef>
              <c:f>Sheet1!$A$2:$A$4</c:f>
              <c:multiLvlStrCache>
                <c:ptCount val="3"/>
                <c:lvl>
                  <c:pt idx="0">
                    <c:v>Buy Canadian</c:v>
                  </c:pt>
                  <c:pt idx="1">
                    <c:v>Fair labour</c:v>
                  </c:pt>
                  <c:pt idx="2">
                    <c:v>Tight budget</c:v>
                  </c:pt>
                </c:lvl>
              </c:multiLvlStrCache>
            </c:multiLvlStrRef>
          </c:cat>
          <c:val>
            <c:numRef>
              <c:f>Sheet1!$B$2:$B$4</c:f>
              <c:numCache>
                <c:formatCode>General</c:formatCode>
                <c:ptCount val="3"/>
                <c:pt idx="0">
                  <c:v>61</c:v>
                </c:pt>
                <c:pt idx="1">
                  <c:v>66</c:v>
                </c:pt>
                <c:pt idx="2">
                  <c:v>35</c:v>
                </c:pt>
              </c:numCache>
            </c:numRef>
          </c:val>
        </c:ser>
        <c:ser>
          <c:idx val="1"/>
          <c:order val="1"/>
          <c:tx>
            <c:strRef>
              <c:f>Sheet1!$C$1</c:f>
              <c:strCache>
                <c:ptCount val="1"/>
                <c:pt idx="0">
                  <c:v>Fairway Organic</c:v>
                </c:pt>
              </c:strCache>
            </c:strRef>
          </c:tx>
          <c:spPr>
            <a:solidFill>
              <a:srgbClr val="D9822B"/>
            </a:solidFill>
            <a:effectLst/>
          </c:spPr>
          <c:invertIfNegative val="0"/>
          <c:dLbls>
            <c:numFmt formatCode="#,##0" sourceLinked="0"/>
            <c:txPr>
              <a:bodyPr/>
              <a:lstStyle/>
              <a:p>
                <a:pPr>
                  <a:defRPr b="1" i="0" strike="noStrike" sz="1200" u="none">
                    <a:solidFill>
                      <a:srgbClr val="14302A"/>
                    </a:solidFill>
                    <a:latin typeface="+mn-lt"/>
                  </a:defRPr>
                </a:pPr>
              </a:p>
            </c:txPr>
            <c:showLegendKey val="0"/>
            <c:showVal val="1"/>
            <c:showCatName val="0"/>
            <c:showSerName val="0"/>
            <c:showPercent val="0"/>
            <c:showBubbleSize val="0"/>
            <c:showLeaderLines val="0"/>
          </c:dLbls>
          <c:cat>
            <c:multiLvlStrRef>
              <c:f>Sheet1!$A$2:$A$4</c:f>
              <c:multiLvlStrCache>
                <c:ptCount val="3"/>
                <c:lvl>
                  <c:pt idx="0">
                    <c:v>Buy Canadian</c:v>
                  </c:pt>
                  <c:pt idx="1">
                    <c:v>Fair labour</c:v>
                  </c:pt>
                  <c:pt idx="2">
                    <c:v>Tight budget</c:v>
                  </c:pt>
                </c:lvl>
              </c:multiLvlStrCache>
            </c:multiLvlStrRef>
          </c:cat>
          <c:val>
            <c:numRef>
              <c:f>Sheet1!$C$2:$C$4</c:f>
              <c:numCache>
                <c:formatCode>General</c:formatCode>
                <c:ptCount val="3"/>
                <c:pt idx="0">
                  <c:v>42</c:v>
                </c:pt>
                <c:pt idx="1">
                  <c:v>68</c:v>
                </c:pt>
                <c:pt idx="2">
                  <c:v>49</c:v>
                </c:pt>
              </c:numCache>
            </c:numRef>
          </c:val>
        </c:ser>
        <c:ser>
          <c:idx val="2"/>
          <c:order val="2"/>
          <c:tx>
            <c:strRef>
              <c:f>Sheet1!$D$1</c:f>
              <c:strCache>
                <c:ptCount val="1"/>
                <c:pt idx="0">
                  <c:v>Big Bean Instant</c:v>
                </c:pt>
              </c:strCache>
            </c:strRef>
          </c:tx>
          <c:spPr>
            <a:solidFill>
              <a:srgbClr val="7C8C84"/>
            </a:solidFill>
            <a:effectLst/>
          </c:spPr>
          <c:invertIfNegative val="0"/>
          <c:dLbls>
            <c:numFmt formatCode="#,##0" sourceLinked="0"/>
            <c:txPr>
              <a:bodyPr/>
              <a:lstStyle/>
              <a:p>
                <a:pPr>
                  <a:defRPr b="1" i="0" strike="noStrike" sz="1200" u="none">
                    <a:solidFill>
                      <a:srgbClr val="14302A"/>
                    </a:solidFill>
                    <a:latin typeface="+mn-lt"/>
                  </a:defRPr>
                </a:pPr>
              </a:p>
            </c:txPr>
            <c:showLegendKey val="0"/>
            <c:showVal val="1"/>
            <c:showCatName val="0"/>
            <c:showSerName val="0"/>
            <c:showPercent val="0"/>
            <c:showBubbleSize val="0"/>
            <c:showLeaderLines val="0"/>
          </c:dLbls>
          <c:cat>
            <c:multiLvlStrRef>
              <c:f>Sheet1!$A$2:$A$4</c:f>
              <c:multiLvlStrCache>
                <c:ptCount val="3"/>
                <c:lvl>
                  <c:pt idx="0">
                    <c:v>Buy Canadian</c:v>
                  </c:pt>
                  <c:pt idx="1">
                    <c:v>Fair labour</c:v>
                  </c:pt>
                  <c:pt idx="2">
                    <c:v>Tight budget</c:v>
                  </c:pt>
                </c:lvl>
              </c:multiLvlStrCache>
            </c:multiLvlStrRef>
          </c:cat>
          <c:val>
            <c:numRef>
              <c:f>Sheet1!$D$2:$D$4</c:f>
              <c:numCache>
                <c:formatCode>General</c:formatCode>
                <c:ptCount val="3"/>
                <c:pt idx="0">
                  <c:v>30</c:v>
                </c:pt>
                <c:pt idx="1">
                  <c:v>48</c:v>
                </c:pt>
                <c:pt idx="2">
                  <c:v>68</c:v>
                </c:pt>
              </c:numCache>
            </c:numRef>
          </c:val>
        </c:ser>
        <c:dLbls>
          <c:numFmt formatCode="#,##0" sourceLinked="0"/>
          <c:txPr>
            <a:bodyPr/>
            <a:lstStyle/>
            <a:p>
              <a:pPr>
                <a:defRPr b="1" i="0" strike="noStrike" sz="1200" u="none">
                  <a:solidFill>
                    <a:srgbClr val="1430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4302A"/>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4A5A5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302A"/>
                </a:solidFill>
                <a:latin typeface="+mn-lt"/>
              </a:defRPr>
            </a:pPr>
            <a:r>
              <a:rPr sz="1300" b="0" i="0" u="none" strike="noStrike">
                <a:solidFill>
                  <a:srgbClr val="14302A"/>
                </a:solidFill>
                <a:latin typeface="+mn-lt"/>
              </a:rPr>
              <a:t>Facts known (% of products)</a:t>
            </a:r>
          </a:p>
        </c:rich>
      </c:tx>
      <c:layout/>
      <c:overlay val="0"/>
    </c:title>
    <c:autoTitleDeleted val="0"/>
    <c:plotArea>
      <c:layout/>
      <c:barChart>
        <c:barDir val="bar"/>
        <c:grouping val="clustered"/>
        <c:varyColors val="0"/>
        <c:ser>
          <c:idx val="0"/>
          <c:order val="0"/>
          <c:tx>
            <c:strRef>
              <c:f>Sheet1!$B$1</c:f>
              <c:strCache>
                <c:ptCount val="1"/>
                <c:pt idx="0">
                  <c:v>Demo products</c:v>
                </c:pt>
              </c:strCache>
            </c:strRef>
          </c:tx>
          <c:spPr>
            <a:solidFill>
              <a:srgbClr val="AEB8B2"/>
            </a:solidFill>
            <a:effectLst/>
          </c:spPr>
          <c:invertIfNegative val="0"/>
          <c:dLbls>
            <c:numFmt formatCode="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cat>
            <c:multiLvlStrRef>
              <c:f>Sheet1!$A$2:$A$6</c:f>
              <c:multiLvlStrCache>
                <c:ptCount val="5"/>
                <c:lvl>
                  <c:pt idx="0">
                    <c:v>Origin</c:v>
                  </c:pt>
                  <c:pt idx="1">
                    <c:v>Fair trade</c:v>
                  </c:pt>
                  <c:pt idx="2">
                    <c:v>Animal welfare</c:v>
                  </c:pt>
                  <c:pt idx="3">
                    <c:v>Environment</c:v>
                  </c:pt>
                  <c:pt idx="4">
                    <c:v>Packaging</c:v>
                  </c:pt>
                </c:lvl>
              </c:multiLvlStrCache>
            </c:multiLvlStrRef>
          </c:cat>
          <c:val>
            <c:numRef>
              <c:f>Sheet1!$B$2:$B$6</c:f>
              <c:numCache>
                <c:formatCode>General</c:formatCode>
                <c:ptCount val="5"/>
                <c:pt idx="0">
                  <c:v>89</c:v>
                </c:pt>
                <c:pt idx="1">
                  <c:v>50</c:v>
                </c:pt>
                <c:pt idx="2">
                  <c:v>73</c:v>
                </c:pt>
                <c:pt idx="3">
                  <c:v>65</c:v>
                </c:pt>
                <c:pt idx="4">
                  <c:v>100</c:v>
                </c:pt>
              </c:numCache>
            </c:numRef>
          </c:val>
        </c:ser>
        <c:ser>
          <c:idx val="1"/>
          <c:order val="1"/>
          <c:tx>
            <c:strRef>
              <c:f>Sheet1!$C$1</c:f>
              <c:strCache>
                <c:ptCount val="1"/>
                <c:pt idx="0">
                  <c:v>Real products</c:v>
                </c:pt>
              </c:strCache>
            </c:strRef>
          </c:tx>
          <c:spPr>
            <a:solidFill>
              <a:srgbClr val="1F7A4D"/>
            </a:solidFill>
            <a:effectLst/>
          </c:spPr>
          <c:invertIfNegative val="0"/>
          <c:dLbls>
            <c:numFmt formatCode="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cat>
            <c:multiLvlStrRef>
              <c:f>Sheet1!$A$2:$A$6</c:f>
              <c:multiLvlStrCache>
                <c:ptCount val="5"/>
                <c:lvl>
                  <c:pt idx="0">
                    <c:v>Origin</c:v>
                  </c:pt>
                  <c:pt idx="1">
                    <c:v>Fair trade</c:v>
                  </c:pt>
                  <c:pt idx="2">
                    <c:v>Animal welfare</c:v>
                  </c:pt>
                  <c:pt idx="3">
                    <c:v>Environment</c:v>
                  </c:pt>
                  <c:pt idx="4">
                    <c:v>Packaging</c:v>
                  </c:pt>
                </c:lvl>
              </c:multiLvlStrCache>
            </c:multiLvlStrRef>
          </c:cat>
          <c:val>
            <c:numRef>
              <c:f>Sheet1!$C$2:$C$6</c:f>
              <c:numCache>
                <c:formatCode>General</c:formatCode>
                <c:ptCount val="5"/>
                <c:pt idx="0">
                  <c:v>6</c:v>
                </c:pt>
                <c:pt idx="1">
                  <c:v>0</c:v>
                </c:pt>
                <c:pt idx="2">
                  <c:v>8</c:v>
                </c:pt>
                <c:pt idx="3">
                  <c:v>85</c:v>
                </c:pt>
                <c:pt idx="4">
                  <c:v>3</c:v>
                </c:pt>
              </c:numCache>
            </c:numRef>
          </c:val>
        </c:ser>
        <c:dLbls>
          <c:numFmt formatCode="0&quot;%&quot;" sourceLinked="0"/>
          <c:txPr>
            <a:bodyPr/>
            <a:lstStyle/>
            <a:p>
              <a:pPr>
                <a:defRPr b="0" i="0" strike="noStrike" sz="1100" u="none">
                  <a:solidFill>
                    <a:srgbClr val="14302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4302A"/>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A5A5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Hosting (Render)</c:v>
                </c:pt>
              </c:strCache>
            </c:strRef>
          </c:tx>
          <c:spPr>
            <a:solidFill>
              <a:srgbClr val="1F7A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Pilot (no AI)</c:v>
                  </c:pt>
                  <c:pt idx="1">
                    <c:v>1,000 AI questions</c:v>
                  </c:pt>
                  <c:pt idx="2">
                    <c:v>10,000 AI questions</c:v>
                  </c:pt>
                </c:lvl>
              </c:multiLvlStrCache>
            </c:multiLvlStrRef>
          </c:cat>
          <c:val>
            <c:numRef>
              <c:f>Sheet1!$B$2:$B$4</c:f>
              <c:numCache>
                <c:formatCode>General</c:formatCode>
                <c:ptCount val="3"/>
                <c:pt idx="0">
                  <c:v>7</c:v>
                </c:pt>
                <c:pt idx="1">
                  <c:v>7</c:v>
                </c:pt>
                <c:pt idx="2">
                  <c:v>7</c:v>
                </c:pt>
              </c:numCache>
            </c:numRef>
          </c:val>
        </c:ser>
        <c:ser>
          <c:idx val="1"/>
          <c:order val="1"/>
          <c:tx>
            <c:strRef>
              <c:f>Sheet1!$C$1</c:f>
              <c:strCache>
                <c:ptCount val="1"/>
                <c:pt idx="0">
                  <c:v>Domain (.ca)</c:v>
                </c:pt>
              </c:strCache>
            </c:strRef>
          </c:tx>
          <c:spPr>
            <a:solidFill>
              <a:srgbClr val="8FD4A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Pilot (no AI)</c:v>
                  </c:pt>
                  <c:pt idx="1">
                    <c:v>1,000 AI questions</c:v>
                  </c:pt>
                  <c:pt idx="2">
                    <c:v>10,000 AI questions</c:v>
                  </c:pt>
                </c:lvl>
              </c:multiLvlStrCache>
            </c:multiLvlStrRef>
          </c:cat>
          <c:val>
            <c:numRef>
              <c:f>Sheet1!$C$2:$C$4</c:f>
              <c:numCache>
                <c:formatCode>General</c:formatCode>
                <c:ptCount val="3"/>
                <c:pt idx="0">
                  <c:v>1</c:v>
                </c:pt>
                <c:pt idx="1">
                  <c:v>1</c:v>
                </c:pt>
                <c:pt idx="2">
                  <c:v>1</c:v>
                </c:pt>
              </c:numCache>
            </c:numRef>
          </c:val>
        </c:ser>
        <c:ser>
          <c:idx val="2"/>
          <c:order val="2"/>
          <c:tx>
            <c:strRef>
              <c:f>Sheet1!$D$1</c:f>
              <c:strCache>
                <c:ptCount val="1"/>
                <c:pt idx="0">
                  <c:v>AI answers (Claude)</c:v>
                </c:pt>
              </c:strCache>
            </c:strRef>
          </c:tx>
          <c:spPr>
            <a:solidFill>
              <a:srgbClr val="D982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Pilot (no AI)</c:v>
                  </c:pt>
                  <c:pt idx="1">
                    <c:v>1,000 AI questions</c:v>
                  </c:pt>
                  <c:pt idx="2">
                    <c:v>10,000 AI questions</c:v>
                  </c:pt>
                </c:lvl>
              </c:multiLvlStrCache>
            </c:multiLvlStrRef>
          </c:cat>
          <c:val>
            <c:numRef>
              <c:f>Sheet1!$D$2:$D$4</c:f>
              <c:numCache>
                <c:formatCode>General</c:formatCode>
                <c:ptCount val="3"/>
                <c:pt idx="0">
                  <c:v>0</c:v>
                </c:pt>
                <c:pt idx="1">
                  <c:v>20</c:v>
                </c:pt>
                <c:pt idx="2">
                  <c:v>200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302A"/>
                </a:solidFill>
                <a:latin typeface="+mn-lt"/>
              </a:defRPr>
            </a:pPr>
            <a:endParaRPr lang="en-US"/>
          </a:p>
        </c:txPr>
        <c:crossAx val="2094734552"/>
        <c:crosses val="autoZero"/>
        <c:auto val="1"/>
        <c:lblAlgn val="ctr"/>
        <c:noMultiLvlLbl val="1"/>
      </c:catAx>
      <c:valAx>
        <c:axId val="2094734552"/>
        <c:scaling>
          <c:orientation val="minMax"/>
          <c:max val="220"/>
          <c:min val="0"/>
        </c:scaling>
        <c:delete val="0"/>
        <c:axPos val="l"/>
        <c:majorGridlines>
          <c:spPr>
            <a:ln w="6350" cap="flat">
              <a:solidFill>
                <a:srgbClr val="DDE3D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A52"/>
                </a:solidFill>
                <a:latin typeface="+mn-lt"/>
              </a:defRPr>
            </a:pPr>
            <a:endParaRPr lang="en-US"/>
          </a:p>
        </c:txPr>
        <c:crossAx val="2094734554"/>
        <c:crosses val="autoZero"/>
        <c:crossBetween val="between"/>
        <c:majorUnit val="50"/>
      </c:valAx>
      <c:spPr>
        <a:noFill/>
        <a:ln>
          <a:noFill/>
        </a:ln>
        <a:effectLst/>
      </c:spPr>
    </c:plotArea>
    <c:legend>
      <c:legendPos val="t"/>
      <c:overlay val="0"/>
      <c:txPr>
        <a:bodyPr/>
        <a:lstStyle/>
        <a:p>
          <a:pPr>
            <a:defRPr sz="1200">
              <a:solidFill>
                <a:srgbClr val="4A5A5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name]. Our project is TruthShift, our answer to the RODS challenge The Ethical Consumer Compass. In one line: you tell the app what matters to you, scan a product, and it tells you how well that product fits your values, and how sure it is. This is the real app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imported 72 real products sold in Canada from Open Food Facts, the largest open food database. 68 of them, 94 percent, do not say where they are made. None list a fair-trade label. This is the problem: shoppers want to buy Canadian and ethically, but the facts are simply not there. And a tool that treats missing facts as bad would call almost everything unethical.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questions every ethical shopper asks, and none are easy to answer on a shelf. Where is it made? Made in Canada can still mean imported ingredients. Who owns the company? A familiar brand may have a foreign parent. Is it fair to workers and animals? Certifications, company claims and silence all look alike. And what happens to the packaging? Recycling rules differ by city, and Regina has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RODS serves newcomers, so we designed for them. Their language: English, French and Gujarati screens, and the AI answers in the chosen language. Their budget: affordability is a priority like any other, and every better option shows the price difference. Their city: Regina stores on a map, local businesses, and Regina’s blue and green cart recycling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screen. Prairie Creamy Peanut Butter scores 76 out of 100 for the default priorities, with Medium confidence. Every fact shows its evidence: verified, claimed or unknown, with the source. Below, it shows where to buy it in Regina and how to recycle the 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of the challenge we took most seriously: communicate uncertainty and do not mislead. Verified means a certifier, government or registry confirmed it, and it counts fully. Claimed means the company or a community database says so, and it counts at 60 percent. Unknown is left out of the score completely and lowers the confidence meter instead. So a product with no labour information is not called unfair. It is called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means different things to different people, so the score is personal. These are three coffees from our demo data, scored for three shopper types using the app’s presets. A Buy Canadian shopper gets Queen City Dark Roast, roasted in Regina, at 61. A fair-labour shopper gets Fairway Organic, Fairtrade certified, at 68. A shopper on a tight budget gets Big Bean Instant at 68. Same products, same facts, different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1: Priorities tab, Buy Canadian preset, switch language to Gujarati. 2: Scan tab, search peanut, open Prairie Creamy Peanut Butter: 76, medium confidence, point at the evidence badges and the Made in Canada tier. 3: Compare tab, Coffee: well-documented products first, limited-data products last. 4: Ask tab: Canadian, no plastic, fair labour, which coffee? 5: Nearby tab: stores and distances. 6: type the real barcode 3017620422003 for a live Open Food Facts lookup. Backup if the internet fails: everything except the live lookup runs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frontend never scores anything itself; it asks the FastAPI backend. The backend owns the scoring rules and the dataset, looks up real products on Open Food Facts, and asks Claude for written answers when an API key is set. Map tiles load from OpenStreetMap straight into the browser. FastAPI gives us interactive API docs for free at localhost:8000/docs.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[Teammate name] presents the model. Explain in plain words what the model takes in, what it produces, and how that helps a shopper.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[Teammate name]: walk through the steps of the model, the data it was trained or tested on, and how well it works. Mention one limitation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two kinds of data. 46 synthetic products with fictional brands, which the challenge allows, so we could show every kind of evidence. And 72 real products sold in Canada, from Open Food Facts. The chart shows how often a fact is known. In real data, origin, fair trade and packaging are almost always missing; only the Eco-Score is usually there. That is why unknown must never count as bad. Plus 10 Regina stores on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TruthShift stays free for shoppers, because our users are newcomers on tight budgets. Three ways to pay for it. One: grants from settlement agencies, the City of Regina and community foundations, because the app supports newcomer integration and local business. Two: verified listings, where a local Regina business pays to have its claims checked, for example its ownership or a certification. If the evidence holds, the fact turns from Claimed to Verified. Paying never raises a score; only evidence does. Three: an optional TruthShift Plus subscription for extra features. The rule on the slide is the one that matters: money never changes a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app today stays free: scanning, personal scores with evidence, compare, the store map, all languages, and a few AI questions a day. A future TruthShift Plus, proposed at about 3 dollars a month, would add unlimited AI questions, a shopping-list planner that finds the best store, price-drop alerts from flyers, and family profiles. RODS clients could get Plus free through a sponsorship. The price is a proposal, to test with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costs in US dollars per month, checked October 2026. Hosting: the React app as a free static site, the FastAPI backend on a Render Starter instance at 7 dollars a month. A .ca domain is about 10 dollars a year, so about 1 dollar a month. Open Food Facts and OpenStreetMap data are free; for heavy map traffic we would move to a map provider such as MapTiler, which is free up to 5,000 sessions a month for non-commercial use. The AI is the only cost that grows with use: about 2 cents per question on Claude with prompt caching, because each question sends about 12,000 tokens of product data. So 1,000 AI questions a month cost about 20 dollars, 10,000 about 200. That is why unlimited AI is the Plus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demo products use fictional brands and store locations are approximate. Next: photograph 20 to 30 real products in Regina stores; check certifications against Fairtrade Canada and organic registries; add real prices from store flyers and a weekly price tracker; and add more languages used by RODS clients, such as Arabic, Ukrainian, Tigrinya and Dari.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code, this presentation and the documentation are on GitHub. We are happy to take questions, or let you try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302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000" b="1" dirty="0">
                <a:solidFill>
                  <a:srgbClr val="14302A"/>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txBox="1"/>
          <p:nvPr/>
        </p:nvSpPr>
        <p:spPr>
          <a:xfrm>
            <a:off x="457200" y="4754880"/>
            <a:ext cx="2743200" cy="274320"/>
          </a:xfrm>
          <a:prstGeom prst="rect">
            <a:avLst/>
          </a:prstGeom>
          <a:noFill/>
          <a:ln/>
        </p:spPr>
        <p:txBody>
          <a:bodyPr wrap="square" lIns="0" tIns="0" rIns="0" bIns="0" rtlCol="0" anchor="ctr"/>
          <a:lstStyle/>
          <a:p>
            <a:pPr indent="0" marL="0">
              <a:buNone/>
            </a:pPr>
            <a:r>
              <a:rPr lang="en-US" sz="1000" b="1" dirty="0">
                <a:solidFill>
                  <a:srgbClr val="6B7A72"/>
                </a:solidFill>
              </a:rPr>
              <a:t>TruthShift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30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000" b="1" dirty="0">
                <a:solidFill>
                  <a:srgbClr val="F6F7F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txBox="1"/>
          <p:nvPr/>
        </p:nvSpPr>
        <p:spPr>
          <a:xfrm>
            <a:off x="457200" y="4754880"/>
            <a:ext cx="2743200" cy="274320"/>
          </a:xfrm>
          <a:prstGeom prst="rect">
            <a:avLst/>
          </a:prstGeom>
          <a:noFill/>
          <a:ln/>
        </p:spPr>
        <p:txBody>
          <a:bodyPr wrap="square" lIns="0" tIns="0" rIns="0" bIns="0" rtlCol="0" anchor="ctr"/>
          <a:lstStyle/>
          <a:p>
            <a:pPr indent="0" marL="0">
              <a:buNone/>
            </a:pPr>
            <a:r>
              <a:rPr lang="en-US" sz="1000" b="1" dirty="0">
                <a:solidFill>
                  <a:srgbClr val="8FA89B"/>
                </a:solidFill>
              </a:rPr>
              <a:t>TruthShift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89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Nachiket-96/truthshift" TargetMode="External"/><Relationship Id="rId1" Type="http://schemas.openxmlformats.org/officeDocument/2006/relationships/image" Target="../media/image-17-1.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5029200" cy="274320"/>
          </a:xfrm>
          <a:prstGeom prst="rect">
            <a:avLst/>
          </a:prstGeom>
          <a:noFill/>
          <a:ln/>
        </p:spPr>
        <p:txBody>
          <a:bodyPr wrap="square" lIns="0" tIns="0" rIns="0" bIns="0" rtlCol="0" anchor="t"/>
          <a:lstStyle/>
          <a:p>
            <a:pPr indent="0" marL="0">
              <a:buNone/>
            </a:pPr>
            <a:r>
              <a:rPr lang="en-US" sz="1200" b="1" spc="200" kern="0" dirty="0">
                <a:solidFill>
                  <a:srgbClr val="8FD4AE"/>
                </a:solidFill>
              </a:rPr>
              <a:t>RODS TECH SKILLS SHOWCASE 2026</a:t>
            </a:r>
            <a:endParaRPr lang="en-US" sz="1200" dirty="0"/>
          </a:p>
        </p:txBody>
      </p:sp>
      <p:sp>
        <p:nvSpPr>
          <p:cNvPr id="3" name="Text 1"/>
          <p:cNvSpPr txBox="1"/>
          <p:nvPr/>
        </p:nvSpPr>
        <p:spPr>
          <a:xfrm>
            <a:off x="548640" y="1417320"/>
            <a:ext cx="5120640" cy="1005840"/>
          </a:xfrm>
          <a:prstGeom prst="rect">
            <a:avLst/>
          </a:prstGeom>
          <a:noFill/>
          <a:ln/>
        </p:spPr>
        <p:txBody>
          <a:bodyPr wrap="square" lIns="0" tIns="0" rIns="0" bIns="0" rtlCol="0" anchor="t"/>
          <a:lstStyle/>
          <a:p>
            <a:pPr indent="0" marL="0">
              <a:buNone/>
            </a:pPr>
            <a:r>
              <a:rPr lang="en-US" sz="6400" b="1" dirty="0">
                <a:solidFill>
                  <a:srgbClr val="F6F7F2"/>
                </a:solidFill>
                <a:latin typeface="Cambria" pitchFamily="34" charset="0"/>
                <a:ea typeface="Cambria" pitchFamily="34" charset="-122"/>
                <a:cs typeface="Cambria" pitchFamily="34" charset="-120"/>
              </a:rPr>
              <a:t>TruthShift</a:t>
            </a:r>
            <a:endParaRPr lang="en-US" sz="6400" dirty="0"/>
          </a:p>
        </p:txBody>
      </p:sp>
      <p:sp>
        <p:nvSpPr>
          <p:cNvPr id="4" name="Text 2"/>
          <p:cNvSpPr txBox="1"/>
          <p:nvPr/>
        </p:nvSpPr>
        <p:spPr>
          <a:xfrm>
            <a:off x="548640" y="2514600"/>
            <a:ext cx="4754880" cy="914400"/>
          </a:xfrm>
          <a:prstGeom prst="rect">
            <a:avLst/>
          </a:prstGeom>
          <a:noFill/>
          <a:ln/>
        </p:spPr>
        <p:txBody>
          <a:bodyPr wrap="square" lIns="0" tIns="0" rIns="0" bIns="0" rtlCol="0" anchor="t"/>
          <a:lstStyle/>
          <a:p>
            <a:pPr indent="0" marL="0">
              <a:buNone/>
            </a:pPr>
            <a:r>
              <a:rPr lang="en-US" sz="2400" dirty="0">
                <a:solidFill>
                  <a:srgbClr val="C9DDD2"/>
                </a:solidFill>
              </a:rPr>
              <a:t>Shop by your values.</a:t>
            </a:r>
            <a:endParaRPr lang="en-US" sz="2400" dirty="0"/>
          </a:p>
          <a:p>
            <a:pPr indent="0" marL="0">
              <a:buNone/>
            </a:pPr>
            <a:r>
              <a:rPr lang="en-US" sz="2400" dirty="0">
                <a:solidFill>
                  <a:srgbClr val="C9DDD2"/>
                </a:solidFill>
              </a:rPr>
              <a:t>See what’s true.</a:t>
            </a:r>
            <a:endParaRPr lang="en-US" sz="2400" dirty="0"/>
          </a:p>
        </p:txBody>
      </p:sp>
      <p:sp>
        <p:nvSpPr>
          <p:cNvPr id="5" name="Text 3"/>
          <p:cNvSpPr txBox="1"/>
          <p:nvPr/>
        </p:nvSpPr>
        <p:spPr>
          <a:xfrm>
            <a:off x="548640" y="4434840"/>
            <a:ext cx="5120640" cy="274320"/>
          </a:xfrm>
          <a:prstGeom prst="rect">
            <a:avLst/>
          </a:prstGeom>
          <a:noFill/>
          <a:ln/>
        </p:spPr>
        <p:txBody>
          <a:bodyPr wrap="square" lIns="0" tIns="0" rIns="0" bIns="0" rtlCol="0" anchor="t"/>
          <a:lstStyle/>
          <a:p>
            <a:pPr indent="0" marL="0">
              <a:buNone/>
            </a:pPr>
            <a:r>
              <a:rPr lang="en-US" sz="1100" dirty="0">
                <a:solidFill>
                  <a:srgbClr val="C9DDD2"/>
                </a:solidFill>
              </a:rPr>
              <a:t>[Team name] · [Member 1], [Member 2], [Member 3], [Member 4], [Member 5]</a:t>
            </a:r>
            <a:endParaRPr lang="en-US" sz="1100" dirty="0"/>
          </a:p>
        </p:txBody>
      </p:sp>
      <p:sp>
        <p:nvSpPr>
          <p:cNvPr id="6" name="phone-frame"/>
          <p:cNvSpPr/>
          <p:nvPr/>
        </p:nvSpPr>
        <p:spPr>
          <a:xfrm>
            <a:off x="5989320" y="411480"/>
            <a:ext cx="2606040" cy="4315968"/>
          </a:xfrm>
          <a:prstGeom prst="roundRect">
            <a:avLst>
              <a:gd name="adj" fmla="val 7719"/>
            </a:avLst>
          </a:prstGeom>
          <a:solidFill>
            <a:srgbClr val="0B1B17"/>
          </a:solidFill>
          <a:ln w="19050">
            <a:solidFill>
              <a:srgbClr val="35574D"/>
            </a:solidFill>
            <a:prstDash val="solid"/>
          </a:ln>
          <a:effectLst>
            <a:outerShdw sx="100000" sy="100000" kx="0" ky="0" algn="bl" rotWithShape="0" blurRad="101600" dist="38100" dir="5400000">
              <a:srgbClr val="000000">
                <a:alpha val="18000"/>
              </a:srgbClr>
            </a:outerShdw>
          </a:effectLst>
        </p:spPr>
      </p:sp>
      <p:pic>
        <p:nvPicPr>
          <p:cNvPr id="7" name="phone-screenshot" descr="TruthShift on a phone: Prairie Creamy Peanut Butter scores 76 with Medium confidence">    </p:cNvPr>
          <p:cNvPicPr>
            <a:picLocks noChangeAspect="1"/>
          </p:cNvPicPr>
          <p:nvPr/>
        </p:nvPicPr>
        <p:blipFill>
          <a:blip r:embed="rId1"/>
          <a:stretch>
            <a:fillRect/>
          </a:stretch>
        </p:blipFill>
        <p:spPr>
          <a:xfrm>
            <a:off x="6099048" y="521208"/>
            <a:ext cx="2386584" cy="38770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457200" y="822960"/>
            <a:ext cx="8229600" cy="2011680"/>
          </a:xfrm>
          <a:prstGeom prst="rect">
            <a:avLst/>
          </a:prstGeom>
          <a:noFill/>
          <a:ln/>
        </p:spPr>
        <p:txBody>
          <a:bodyPr wrap="square" lIns="0" tIns="0" rIns="0" bIns="0" rtlCol="0" anchor="t"/>
          <a:lstStyle/>
          <a:p>
            <a:pPr algn="l" indent="0" marL="0">
              <a:buNone/>
            </a:pPr>
            <a:r>
              <a:rPr lang="en-US" sz="15000" b="1" dirty="0">
                <a:solidFill>
                  <a:srgbClr val="8FD4AE"/>
                </a:solidFill>
                <a:latin typeface="Cambria" pitchFamily="34" charset="0"/>
                <a:ea typeface="Cambria" pitchFamily="34" charset="-122"/>
                <a:cs typeface="Cambria" pitchFamily="34" charset="-120"/>
              </a:rPr>
              <a:t>94%</a:t>
            </a:r>
            <a:endParaRPr lang="en-US" sz="15000" dirty="0"/>
          </a:p>
        </p:txBody>
      </p:sp>
      <p:sp>
        <p:nvSpPr>
          <p:cNvPr id="4" name="Text 1"/>
          <p:cNvSpPr txBox="1"/>
          <p:nvPr/>
        </p:nvSpPr>
        <p:spPr>
          <a:xfrm>
            <a:off x="457200" y="2926080"/>
            <a:ext cx="7772400" cy="548640"/>
          </a:xfrm>
          <a:prstGeom prst="rect">
            <a:avLst/>
          </a:prstGeom>
          <a:noFill/>
          <a:ln/>
        </p:spPr>
        <p:txBody>
          <a:bodyPr wrap="square" lIns="0" tIns="0" rIns="0" bIns="0" rtlCol="0" anchor="t"/>
          <a:lstStyle/>
          <a:p>
            <a:pPr indent="0" marL="0">
              <a:buNone/>
            </a:pPr>
            <a:r>
              <a:rPr lang="en-US" sz="2800" dirty="0">
                <a:solidFill>
                  <a:srgbClr val="F6F7F2"/>
                </a:solidFill>
              </a:rPr>
              <a:t>of real products don’t say where they’re made</a:t>
            </a:r>
            <a:endParaRPr lang="en-US" sz="2800" dirty="0"/>
          </a:p>
        </p:txBody>
      </p:sp>
      <p:sp>
        <p:nvSpPr>
          <p:cNvPr id="5" name="Text 2"/>
          <p:cNvSpPr txBox="1"/>
          <p:nvPr/>
        </p:nvSpPr>
        <p:spPr>
          <a:xfrm>
            <a:off x="457200" y="3566160"/>
            <a:ext cx="7315200" cy="365760"/>
          </a:xfrm>
          <a:prstGeom prst="rect">
            <a:avLst/>
          </a:prstGeom>
          <a:noFill/>
          <a:ln/>
        </p:spPr>
        <p:txBody>
          <a:bodyPr wrap="square" lIns="0" tIns="0" rIns="0" bIns="0" rtlCol="0" anchor="t"/>
          <a:lstStyle/>
          <a:p>
            <a:pPr indent="0" marL="0">
              <a:buNone/>
            </a:pPr>
            <a:r>
              <a:rPr lang="en-US" sz="1400" dirty="0">
                <a:solidFill>
                  <a:srgbClr val="C9DDD2"/>
                </a:solidFill>
              </a:rPr>
              <a:t>68 of 72 Canadian products in Open Food Facts</a:t>
            </a:r>
            <a:endParaRPr lang="en-US" sz="1400" dirty="0"/>
          </a:p>
        </p:txBody>
      </p:sp>
      <p:sp>
        <p:nvSpPr>
          <p:cNvPr id="6"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89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Shoppers can’t see the facts</a:t>
            </a:r>
            <a:endParaRPr lang="en-US" sz="3000" dirty="0"/>
          </a:p>
        </p:txBody>
      </p:sp>
      <p:sp>
        <p:nvSpPr>
          <p:cNvPr id="4" name="question-1-circle"/>
          <p:cNvSpPr/>
          <p:nvPr/>
        </p:nvSpPr>
        <p:spPr>
          <a:xfrm>
            <a:off x="777240" y="1554480"/>
            <a:ext cx="1280160" cy="1280160"/>
          </a:xfrm>
          <a:prstGeom prst="ellipse">
            <a:avLst/>
          </a:prstGeom>
          <a:solidFill>
            <a:srgbClr val="E7EFE9"/>
          </a:solidFill>
          <a:ln w="12700">
            <a:solidFill>
              <a:srgbClr val="E7EFE9"/>
            </a:solidFill>
            <a:prstDash val="solid"/>
          </a:ln>
        </p:spPr>
      </p:sp>
      <p:pic>
        <p:nvPicPr>
          <p:cNvPr id="5" name="question-1-icon" descr="preencoded.png">    </p:cNvPr>
          <p:cNvPicPr>
            <a:picLocks noChangeAspect="1"/>
          </p:cNvPicPr>
          <p:nvPr/>
        </p:nvPicPr>
        <p:blipFill>
          <a:blip r:embed="rId1"/>
          <a:stretch>
            <a:fillRect/>
          </a:stretch>
        </p:blipFill>
        <p:spPr>
          <a:xfrm>
            <a:off x="1084478" y="1861718"/>
            <a:ext cx="665683" cy="665683"/>
          </a:xfrm>
          <a:prstGeom prst="rect">
            <a:avLst/>
          </a:prstGeom>
        </p:spPr>
      </p:pic>
      <p:sp>
        <p:nvSpPr>
          <p:cNvPr id="6" name="Text 2"/>
          <p:cNvSpPr txBox="1"/>
          <p:nvPr/>
        </p:nvSpPr>
        <p:spPr>
          <a:xfrm>
            <a:off x="457200" y="3063240"/>
            <a:ext cx="1920240" cy="457200"/>
          </a:xfrm>
          <a:prstGeom prst="rect">
            <a:avLst/>
          </a:prstGeom>
          <a:noFill/>
          <a:ln/>
        </p:spPr>
        <p:txBody>
          <a:bodyPr wrap="square" lIns="0" tIns="0" rIns="0" bIns="0" rtlCol="0" anchor="t"/>
          <a:lstStyle/>
          <a:p>
            <a:pPr algn="ctr" indent="0" marL="0">
              <a:buNone/>
            </a:pPr>
            <a:r>
              <a:rPr lang="en-US" sz="1800" b="1" dirty="0">
                <a:solidFill>
                  <a:srgbClr val="14302A"/>
                </a:solidFill>
              </a:rPr>
              <a:t>Made where?</a:t>
            </a:r>
            <a:endParaRPr lang="en-US" sz="1800" dirty="0"/>
          </a:p>
        </p:txBody>
      </p:sp>
      <p:sp>
        <p:nvSpPr>
          <p:cNvPr id="7" name="question-2-circle"/>
          <p:cNvSpPr/>
          <p:nvPr/>
        </p:nvSpPr>
        <p:spPr>
          <a:xfrm>
            <a:off x="2880360" y="1554480"/>
            <a:ext cx="1280160" cy="1280160"/>
          </a:xfrm>
          <a:prstGeom prst="ellipse">
            <a:avLst/>
          </a:prstGeom>
          <a:solidFill>
            <a:srgbClr val="E7EFE9"/>
          </a:solidFill>
          <a:ln w="12700">
            <a:solidFill>
              <a:srgbClr val="E7EFE9"/>
            </a:solidFill>
            <a:prstDash val="solid"/>
          </a:ln>
        </p:spPr>
      </p:sp>
      <p:pic>
        <p:nvPicPr>
          <p:cNvPr id="8" name="question-2-icon" descr="preencoded.png">    </p:cNvPr>
          <p:cNvPicPr>
            <a:picLocks noChangeAspect="1"/>
          </p:cNvPicPr>
          <p:nvPr/>
        </p:nvPicPr>
        <p:blipFill>
          <a:blip r:embed="rId2"/>
          <a:stretch>
            <a:fillRect/>
          </a:stretch>
        </p:blipFill>
        <p:spPr>
          <a:xfrm>
            <a:off x="3187598" y="1861718"/>
            <a:ext cx="665683" cy="665683"/>
          </a:xfrm>
          <a:prstGeom prst="rect">
            <a:avLst/>
          </a:prstGeom>
        </p:spPr>
      </p:pic>
      <p:sp>
        <p:nvSpPr>
          <p:cNvPr id="9" name="Text 4"/>
          <p:cNvSpPr txBox="1"/>
          <p:nvPr/>
        </p:nvSpPr>
        <p:spPr>
          <a:xfrm>
            <a:off x="2560320" y="3063240"/>
            <a:ext cx="1920240" cy="457200"/>
          </a:xfrm>
          <a:prstGeom prst="rect">
            <a:avLst/>
          </a:prstGeom>
          <a:noFill/>
          <a:ln/>
        </p:spPr>
        <p:txBody>
          <a:bodyPr wrap="square" lIns="0" tIns="0" rIns="0" bIns="0" rtlCol="0" anchor="t"/>
          <a:lstStyle/>
          <a:p>
            <a:pPr algn="ctr" indent="0" marL="0">
              <a:buNone/>
            </a:pPr>
            <a:r>
              <a:rPr lang="en-US" sz="1800" b="1" dirty="0">
                <a:solidFill>
                  <a:srgbClr val="14302A"/>
                </a:solidFill>
              </a:rPr>
              <a:t>Owned by whom?</a:t>
            </a:r>
            <a:endParaRPr lang="en-US" sz="1800" dirty="0"/>
          </a:p>
        </p:txBody>
      </p:sp>
      <p:sp>
        <p:nvSpPr>
          <p:cNvPr id="10" name="question-3-circle"/>
          <p:cNvSpPr/>
          <p:nvPr/>
        </p:nvSpPr>
        <p:spPr>
          <a:xfrm>
            <a:off x="4983480" y="1554480"/>
            <a:ext cx="1280160" cy="1280160"/>
          </a:xfrm>
          <a:prstGeom prst="ellipse">
            <a:avLst/>
          </a:prstGeom>
          <a:solidFill>
            <a:srgbClr val="E7EFE9"/>
          </a:solidFill>
          <a:ln w="12700">
            <a:solidFill>
              <a:srgbClr val="E7EFE9"/>
            </a:solidFill>
            <a:prstDash val="solid"/>
          </a:ln>
        </p:spPr>
      </p:sp>
      <p:pic>
        <p:nvPicPr>
          <p:cNvPr id="11" name="question-3-icon" descr="preencoded.png">    </p:cNvPr>
          <p:cNvPicPr>
            <a:picLocks noChangeAspect="1"/>
          </p:cNvPicPr>
          <p:nvPr/>
        </p:nvPicPr>
        <p:blipFill>
          <a:blip r:embed="rId3"/>
          <a:stretch>
            <a:fillRect/>
          </a:stretch>
        </p:blipFill>
        <p:spPr>
          <a:xfrm>
            <a:off x="5290718" y="1861718"/>
            <a:ext cx="665683" cy="665683"/>
          </a:xfrm>
          <a:prstGeom prst="rect">
            <a:avLst/>
          </a:prstGeom>
        </p:spPr>
      </p:pic>
      <p:sp>
        <p:nvSpPr>
          <p:cNvPr id="12" name="Text 6"/>
          <p:cNvSpPr txBox="1"/>
          <p:nvPr/>
        </p:nvSpPr>
        <p:spPr>
          <a:xfrm>
            <a:off x="4663440" y="3063240"/>
            <a:ext cx="1920240" cy="457200"/>
          </a:xfrm>
          <a:prstGeom prst="rect">
            <a:avLst/>
          </a:prstGeom>
          <a:noFill/>
          <a:ln/>
        </p:spPr>
        <p:txBody>
          <a:bodyPr wrap="square" lIns="0" tIns="0" rIns="0" bIns="0" rtlCol="0" anchor="t"/>
          <a:lstStyle/>
          <a:p>
            <a:pPr algn="ctr" indent="0" marL="0">
              <a:buNone/>
            </a:pPr>
            <a:r>
              <a:rPr lang="en-US" sz="1800" b="1" dirty="0">
                <a:solidFill>
                  <a:srgbClr val="14302A"/>
                </a:solidFill>
              </a:rPr>
              <a:t>Fair to workers?</a:t>
            </a:r>
            <a:endParaRPr lang="en-US" sz="1800" dirty="0"/>
          </a:p>
        </p:txBody>
      </p:sp>
      <p:sp>
        <p:nvSpPr>
          <p:cNvPr id="13" name="question-4-circle"/>
          <p:cNvSpPr/>
          <p:nvPr/>
        </p:nvSpPr>
        <p:spPr>
          <a:xfrm>
            <a:off x="7086600" y="1554480"/>
            <a:ext cx="1280160" cy="1280160"/>
          </a:xfrm>
          <a:prstGeom prst="ellipse">
            <a:avLst/>
          </a:prstGeom>
          <a:solidFill>
            <a:srgbClr val="E7EFE9"/>
          </a:solidFill>
          <a:ln w="12700">
            <a:solidFill>
              <a:srgbClr val="E7EFE9"/>
            </a:solidFill>
            <a:prstDash val="solid"/>
          </a:ln>
        </p:spPr>
      </p:sp>
      <p:pic>
        <p:nvPicPr>
          <p:cNvPr id="14" name="question-4-icon" descr="preencoded.png">    </p:cNvPr>
          <p:cNvPicPr>
            <a:picLocks noChangeAspect="1"/>
          </p:cNvPicPr>
          <p:nvPr/>
        </p:nvPicPr>
        <p:blipFill>
          <a:blip r:embed="rId4"/>
          <a:stretch>
            <a:fillRect/>
          </a:stretch>
        </p:blipFill>
        <p:spPr>
          <a:xfrm>
            <a:off x="7393838" y="1861718"/>
            <a:ext cx="665683" cy="665683"/>
          </a:xfrm>
          <a:prstGeom prst="rect">
            <a:avLst/>
          </a:prstGeom>
        </p:spPr>
      </p:pic>
      <p:sp>
        <p:nvSpPr>
          <p:cNvPr id="15" name="Text 8"/>
          <p:cNvSpPr txBox="1"/>
          <p:nvPr/>
        </p:nvSpPr>
        <p:spPr>
          <a:xfrm>
            <a:off x="6766560" y="3063240"/>
            <a:ext cx="1920240" cy="457200"/>
          </a:xfrm>
          <a:prstGeom prst="rect">
            <a:avLst/>
          </a:prstGeom>
          <a:noFill/>
          <a:ln/>
        </p:spPr>
        <p:txBody>
          <a:bodyPr wrap="square" lIns="0" tIns="0" rIns="0" bIns="0" rtlCol="0" anchor="t"/>
          <a:lstStyle/>
          <a:p>
            <a:pPr algn="ctr" indent="0" marL="0">
              <a:buNone/>
            </a:pPr>
            <a:r>
              <a:rPr lang="en-US" sz="1800" b="1" dirty="0">
                <a:solidFill>
                  <a:srgbClr val="14302A"/>
                </a:solidFill>
              </a:rPr>
              <a:t>Packaging waste?</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Built for newcomers to Regina</a:t>
            </a:r>
            <a:endParaRPr lang="en-US" sz="3000" dirty="0"/>
          </a:p>
        </p:txBody>
      </p:sp>
      <p:sp>
        <p:nvSpPr>
          <p:cNvPr id="4" name="newcomer-1-circle"/>
          <p:cNvSpPr/>
          <p:nvPr/>
        </p:nvSpPr>
        <p:spPr>
          <a:xfrm>
            <a:off x="1170432" y="1463040"/>
            <a:ext cx="1188720" cy="1188720"/>
          </a:xfrm>
          <a:prstGeom prst="ellipse">
            <a:avLst/>
          </a:prstGeom>
          <a:solidFill>
            <a:srgbClr val="1F7A4D"/>
          </a:solidFill>
          <a:ln w="12700">
            <a:solidFill>
              <a:srgbClr val="1F7A4D"/>
            </a:solidFill>
            <a:prstDash val="solid"/>
          </a:ln>
        </p:spPr>
      </p:sp>
      <p:pic>
        <p:nvPicPr>
          <p:cNvPr id="5" name="newcomer-1-icon" descr="preencoded.png">    </p:cNvPr>
          <p:cNvPicPr>
            <a:picLocks noChangeAspect="1"/>
          </p:cNvPicPr>
          <p:nvPr/>
        </p:nvPicPr>
        <p:blipFill>
          <a:blip r:embed="rId1"/>
          <a:stretch>
            <a:fillRect/>
          </a:stretch>
        </p:blipFill>
        <p:spPr>
          <a:xfrm>
            <a:off x="1455725" y="1748333"/>
            <a:ext cx="618134" cy="618134"/>
          </a:xfrm>
          <a:prstGeom prst="rect">
            <a:avLst/>
          </a:prstGeom>
        </p:spPr>
      </p:pic>
      <p:sp>
        <p:nvSpPr>
          <p:cNvPr id="6" name="Text 2"/>
          <p:cNvSpPr txBox="1"/>
          <p:nvPr/>
        </p:nvSpPr>
        <p:spPr>
          <a:xfrm>
            <a:off x="457200" y="2834640"/>
            <a:ext cx="2615184" cy="411480"/>
          </a:xfrm>
          <a:prstGeom prst="rect">
            <a:avLst/>
          </a:prstGeom>
          <a:noFill/>
          <a:ln/>
        </p:spPr>
        <p:txBody>
          <a:bodyPr wrap="square" lIns="0" tIns="0" rIns="0" bIns="0" rtlCol="0" anchor="t"/>
          <a:lstStyle/>
          <a:p>
            <a:pPr algn="ctr" indent="0" marL="0">
              <a:buNone/>
            </a:pPr>
            <a:r>
              <a:rPr lang="en-US" sz="2000" b="1" dirty="0">
                <a:solidFill>
                  <a:srgbClr val="14302A"/>
                </a:solidFill>
              </a:rPr>
              <a:t>3 languages</a:t>
            </a:r>
            <a:endParaRPr lang="en-US" sz="2000" dirty="0"/>
          </a:p>
        </p:txBody>
      </p:sp>
      <p:sp>
        <p:nvSpPr>
          <p:cNvPr id="7" name="Text 3"/>
          <p:cNvSpPr txBox="1"/>
          <p:nvPr/>
        </p:nvSpPr>
        <p:spPr>
          <a:xfrm>
            <a:off x="457200" y="3291840"/>
            <a:ext cx="2615184" cy="365760"/>
          </a:xfrm>
          <a:prstGeom prst="rect">
            <a:avLst/>
          </a:prstGeom>
          <a:noFill/>
          <a:ln/>
        </p:spPr>
        <p:txBody>
          <a:bodyPr wrap="square" lIns="0" tIns="0" rIns="0" bIns="0" rtlCol="0" anchor="t"/>
          <a:lstStyle/>
          <a:p>
            <a:pPr algn="ctr" indent="0" marL="0">
              <a:buNone/>
            </a:pPr>
            <a:r>
              <a:rPr lang="en-US" sz="1400" dirty="0">
                <a:solidFill>
                  <a:srgbClr val="4A5A52"/>
                </a:solidFill>
              </a:rPr>
              <a:t>English · Français · ગુજરાતી</a:t>
            </a:r>
            <a:endParaRPr lang="en-US" sz="1400" dirty="0"/>
          </a:p>
        </p:txBody>
      </p:sp>
      <p:sp>
        <p:nvSpPr>
          <p:cNvPr id="8" name="newcomer-2-circle"/>
          <p:cNvSpPr/>
          <p:nvPr/>
        </p:nvSpPr>
        <p:spPr>
          <a:xfrm>
            <a:off x="3977640" y="1463040"/>
            <a:ext cx="1188720" cy="1188720"/>
          </a:xfrm>
          <a:prstGeom prst="ellipse">
            <a:avLst/>
          </a:prstGeom>
          <a:solidFill>
            <a:srgbClr val="1F7A4D"/>
          </a:solidFill>
          <a:ln w="12700">
            <a:solidFill>
              <a:srgbClr val="1F7A4D"/>
            </a:solidFill>
            <a:prstDash val="solid"/>
          </a:ln>
        </p:spPr>
      </p:sp>
      <p:pic>
        <p:nvPicPr>
          <p:cNvPr id="9" name="newcomer-2-icon" descr="preencoded.png">    </p:cNvPr>
          <p:cNvPicPr>
            <a:picLocks noChangeAspect="1"/>
          </p:cNvPicPr>
          <p:nvPr/>
        </p:nvPicPr>
        <p:blipFill>
          <a:blip r:embed="rId2"/>
          <a:stretch>
            <a:fillRect/>
          </a:stretch>
        </p:blipFill>
        <p:spPr>
          <a:xfrm>
            <a:off x="4262933" y="1748333"/>
            <a:ext cx="618134" cy="618134"/>
          </a:xfrm>
          <a:prstGeom prst="rect">
            <a:avLst/>
          </a:prstGeom>
        </p:spPr>
      </p:pic>
      <p:sp>
        <p:nvSpPr>
          <p:cNvPr id="10" name="Text 5"/>
          <p:cNvSpPr txBox="1"/>
          <p:nvPr/>
        </p:nvSpPr>
        <p:spPr>
          <a:xfrm>
            <a:off x="3264408" y="2834640"/>
            <a:ext cx="2615184" cy="411480"/>
          </a:xfrm>
          <a:prstGeom prst="rect">
            <a:avLst/>
          </a:prstGeom>
          <a:noFill/>
          <a:ln/>
        </p:spPr>
        <p:txBody>
          <a:bodyPr wrap="square" lIns="0" tIns="0" rIns="0" bIns="0" rtlCol="0" anchor="t"/>
          <a:lstStyle/>
          <a:p>
            <a:pPr algn="ctr" indent="0" marL="0">
              <a:buNone/>
            </a:pPr>
            <a:r>
              <a:rPr lang="en-US" sz="2000" b="1" dirty="0">
                <a:solidFill>
                  <a:srgbClr val="14302A"/>
                </a:solidFill>
              </a:rPr>
              <a:t>Real budgets</a:t>
            </a:r>
            <a:endParaRPr lang="en-US" sz="2000" dirty="0"/>
          </a:p>
        </p:txBody>
      </p:sp>
      <p:sp>
        <p:nvSpPr>
          <p:cNvPr id="11" name="Text 6"/>
          <p:cNvSpPr txBox="1"/>
          <p:nvPr/>
        </p:nvSpPr>
        <p:spPr>
          <a:xfrm>
            <a:off x="3264408" y="3291840"/>
            <a:ext cx="2615184" cy="365760"/>
          </a:xfrm>
          <a:prstGeom prst="rect">
            <a:avLst/>
          </a:prstGeom>
          <a:noFill/>
          <a:ln/>
        </p:spPr>
        <p:txBody>
          <a:bodyPr wrap="square" lIns="0" tIns="0" rIns="0" bIns="0" rtlCol="0" anchor="t"/>
          <a:lstStyle/>
          <a:p>
            <a:pPr algn="ctr" indent="0" marL="0">
              <a:buNone/>
            </a:pPr>
            <a:r>
              <a:rPr lang="en-US" sz="1400" dirty="0">
                <a:solidFill>
                  <a:srgbClr val="4A5A52"/>
                </a:solidFill>
              </a:rPr>
              <a:t>Price is a priority too</a:t>
            </a:r>
            <a:endParaRPr lang="en-US" sz="1400" dirty="0"/>
          </a:p>
        </p:txBody>
      </p:sp>
      <p:sp>
        <p:nvSpPr>
          <p:cNvPr id="12" name="newcomer-3-circle"/>
          <p:cNvSpPr/>
          <p:nvPr/>
        </p:nvSpPr>
        <p:spPr>
          <a:xfrm>
            <a:off x="6784848" y="1463040"/>
            <a:ext cx="1188720" cy="1188720"/>
          </a:xfrm>
          <a:prstGeom prst="ellipse">
            <a:avLst/>
          </a:prstGeom>
          <a:solidFill>
            <a:srgbClr val="1F7A4D"/>
          </a:solidFill>
          <a:ln w="12700">
            <a:solidFill>
              <a:srgbClr val="1F7A4D"/>
            </a:solidFill>
            <a:prstDash val="solid"/>
          </a:ln>
        </p:spPr>
      </p:sp>
      <p:pic>
        <p:nvPicPr>
          <p:cNvPr id="13" name="newcomer-3-icon" descr="preencoded.png">    </p:cNvPr>
          <p:cNvPicPr>
            <a:picLocks noChangeAspect="1"/>
          </p:cNvPicPr>
          <p:nvPr/>
        </p:nvPicPr>
        <p:blipFill>
          <a:blip r:embed="rId3"/>
          <a:stretch>
            <a:fillRect/>
          </a:stretch>
        </p:blipFill>
        <p:spPr>
          <a:xfrm>
            <a:off x="7070141" y="1748333"/>
            <a:ext cx="618134" cy="618134"/>
          </a:xfrm>
          <a:prstGeom prst="rect">
            <a:avLst/>
          </a:prstGeom>
        </p:spPr>
      </p:pic>
      <p:sp>
        <p:nvSpPr>
          <p:cNvPr id="14" name="Text 8"/>
          <p:cNvSpPr txBox="1"/>
          <p:nvPr/>
        </p:nvSpPr>
        <p:spPr>
          <a:xfrm>
            <a:off x="6071616" y="2834640"/>
            <a:ext cx="2615184" cy="411480"/>
          </a:xfrm>
          <a:prstGeom prst="rect">
            <a:avLst/>
          </a:prstGeom>
          <a:noFill/>
          <a:ln/>
        </p:spPr>
        <p:txBody>
          <a:bodyPr wrap="square" lIns="0" tIns="0" rIns="0" bIns="0" rtlCol="0" anchor="t"/>
          <a:lstStyle/>
          <a:p>
            <a:pPr algn="ctr" indent="0" marL="0">
              <a:buNone/>
            </a:pPr>
            <a:r>
              <a:rPr lang="en-US" sz="2000" b="1" dirty="0">
                <a:solidFill>
                  <a:srgbClr val="14302A"/>
                </a:solidFill>
              </a:rPr>
              <a:t>Regina stores</a:t>
            </a:r>
            <a:endParaRPr lang="en-US" sz="2000" dirty="0"/>
          </a:p>
        </p:txBody>
      </p:sp>
      <p:sp>
        <p:nvSpPr>
          <p:cNvPr id="15" name="Text 9"/>
          <p:cNvSpPr txBox="1"/>
          <p:nvPr/>
        </p:nvSpPr>
        <p:spPr>
          <a:xfrm>
            <a:off x="6071616" y="3291840"/>
            <a:ext cx="2615184" cy="365760"/>
          </a:xfrm>
          <a:prstGeom prst="rect">
            <a:avLst/>
          </a:prstGeom>
          <a:noFill/>
          <a:ln/>
        </p:spPr>
        <p:txBody>
          <a:bodyPr wrap="square" lIns="0" tIns="0" rIns="0" bIns="0" rtlCol="0" anchor="t"/>
          <a:lstStyle/>
          <a:p>
            <a:pPr algn="ctr" indent="0" marL="0">
              <a:buNone/>
            </a:pPr>
            <a:r>
              <a:rPr lang="en-US" sz="1400" dirty="0">
                <a:solidFill>
                  <a:srgbClr val="4A5A52"/>
                </a:solidFill>
              </a:rPr>
              <a:t>Local shops on a map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Scan. See the score. See the proof.</a:t>
            </a:r>
            <a:endParaRPr lang="en-US" sz="3000" dirty="0"/>
          </a:p>
        </p:txBody>
      </p:sp>
      <p:sp>
        <p:nvSpPr>
          <p:cNvPr id="4" name="frame-detail"/>
          <p:cNvSpPr/>
          <p:nvPr/>
        </p:nvSpPr>
        <p:spPr>
          <a:xfrm>
            <a:off x="420624" y="1152144"/>
            <a:ext cx="5193792" cy="3383280"/>
          </a:xfrm>
          <a:prstGeom prst="roundRect">
            <a:avLst>
              <a:gd name="adj" fmla="val 2162"/>
            </a:avLst>
          </a:prstGeom>
          <a:solidFill>
            <a:srgbClr val="FFFFFF"/>
          </a:solidFill>
          <a:ln w="9525">
            <a:solidFill>
              <a:srgbClr val="D9E0DA"/>
            </a:solidFill>
            <a:prstDash val="solid"/>
          </a:ln>
          <a:effectLst>
            <a:outerShdw sx="100000" sy="100000" kx="0" ky="0" algn="bl" rotWithShape="0" blurRad="101600" dist="38100" dir="5400000">
              <a:srgbClr val="000000">
                <a:alpha val="18000"/>
              </a:srgbClr>
            </a:outerShdw>
          </a:effectLst>
        </p:spPr>
      </p:sp>
      <p:pic>
        <p:nvPicPr>
          <p:cNvPr id="5" name="screenshot-detail" descr="Product screen: score 76, Medium confidence, evidence badges for each factor">    </p:cNvPr>
          <p:cNvPicPr>
            <a:picLocks noChangeAspect="1"/>
          </p:cNvPicPr>
          <p:nvPr/>
        </p:nvPicPr>
        <p:blipFill>
          <a:blip r:embed="rId1"/>
          <a:stretch>
            <a:fillRect/>
          </a:stretch>
        </p:blipFill>
        <p:spPr>
          <a:xfrm>
            <a:off x="457200" y="1188720"/>
            <a:ext cx="5120640" cy="3310128"/>
          </a:xfrm>
          <a:prstGeom prst="rect">
            <a:avLst/>
          </a:prstGeom>
        </p:spPr>
      </p:pic>
      <p:sp>
        <p:nvSpPr>
          <p:cNvPr id="6" name="solution-1-circle"/>
          <p:cNvSpPr/>
          <p:nvPr/>
        </p:nvSpPr>
        <p:spPr>
          <a:xfrm>
            <a:off x="5989320" y="1417320"/>
            <a:ext cx="685800" cy="685800"/>
          </a:xfrm>
          <a:prstGeom prst="ellipse">
            <a:avLst/>
          </a:prstGeom>
          <a:solidFill>
            <a:srgbClr val="1F7A4D"/>
          </a:solidFill>
          <a:ln w="12700">
            <a:solidFill>
              <a:srgbClr val="1F7A4D"/>
            </a:solidFill>
            <a:prstDash val="solid"/>
          </a:ln>
        </p:spPr>
      </p:sp>
      <p:pic>
        <p:nvPicPr>
          <p:cNvPr id="7" name="solution-1-icon" descr="preencoded.png">    </p:cNvPr>
          <p:cNvPicPr>
            <a:picLocks noChangeAspect="1"/>
          </p:cNvPicPr>
          <p:nvPr/>
        </p:nvPicPr>
        <p:blipFill>
          <a:blip r:embed="rId2"/>
          <a:stretch>
            <a:fillRect/>
          </a:stretch>
        </p:blipFill>
        <p:spPr>
          <a:xfrm>
            <a:off x="6153912" y="1581912"/>
            <a:ext cx="356616" cy="356616"/>
          </a:xfrm>
          <a:prstGeom prst="rect">
            <a:avLst/>
          </a:prstGeom>
        </p:spPr>
      </p:pic>
      <p:sp>
        <p:nvSpPr>
          <p:cNvPr id="8" name="Text 3"/>
          <p:cNvSpPr txBox="1"/>
          <p:nvPr/>
        </p:nvSpPr>
        <p:spPr>
          <a:xfrm>
            <a:off x="6812280" y="1417320"/>
            <a:ext cx="1920240" cy="685800"/>
          </a:xfrm>
          <a:prstGeom prst="rect">
            <a:avLst/>
          </a:prstGeom>
          <a:noFill/>
          <a:ln/>
        </p:spPr>
        <p:txBody>
          <a:bodyPr wrap="square" lIns="0" tIns="0" rIns="0" bIns="0" rtlCol="0" anchor="ctr"/>
          <a:lstStyle/>
          <a:p>
            <a:pPr indent="0" marL="0">
              <a:buNone/>
            </a:pPr>
            <a:r>
              <a:rPr lang="en-US" sz="1600" b="1" dirty="0">
                <a:solidFill>
                  <a:srgbClr val="14302A"/>
                </a:solidFill>
              </a:rPr>
              <a:t>Scan or search</a:t>
            </a:r>
            <a:endParaRPr lang="en-US" sz="1600" dirty="0"/>
          </a:p>
        </p:txBody>
      </p:sp>
      <p:sp>
        <p:nvSpPr>
          <p:cNvPr id="9" name="solution-2-circle"/>
          <p:cNvSpPr/>
          <p:nvPr/>
        </p:nvSpPr>
        <p:spPr>
          <a:xfrm>
            <a:off x="5989320" y="2423160"/>
            <a:ext cx="685800" cy="685800"/>
          </a:xfrm>
          <a:prstGeom prst="ellipse">
            <a:avLst/>
          </a:prstGeom>
          <a:solidFill>
            <a:srgbClr val="1F7A4D"/>
          </a:solidFill>
          <a:ln w="12700">
            <a:solidFill>
              <a:srgbClr val="1F7A4D"/>
            </a:solidFill>
            <a:prstDash val="solid"/>
          </a:ln>
        </p:spPr>
      </p:sp>
      <p:pic>
        <p:nvPicPr>
          <p:cNvPr id="10" name="solution-2-icon" descr="preencoded.png">    </p:cNvPr>
          <p:cNvPicPr>
            <a:picLocks noChangeAspect="1"/>
          </p:cNvPicPr>
          <p:nvPr/>
        </p:nvPicPr>
        <p:blipFill>
          <a:blip r:embed="rId3"/>
          <a:stretch>
            <a:fillRect/>
          </a:stretch>
        </p:blipFill>
        <p:spPr>
          <a:xfrm>
            <a:off x="6153912" y="2587752"/>
            <a:ext cx="356616" cy="356616"/>
          </a:xfrm>
          <a:prstGeom prst="rect">
            <a:avLst/>
          </a:prstGeom>
        </p:spPr>
      </p:pic>
      <p:sp>
        <p:nvSpPr>
          <p:cNvPr id="11" name="Text 5"/>
          <p:cNvSpPr txBox="1"/>
          <p:nvPr/>
        </p:nvSpPr>
        <p:spPr>
          <a:xfrm>
            <a:off x="6812280" y="2423160"/>
            <a:ext cx="1920240" cy="685800"/>
          </a:xfrm>
          <a:prstGeom prst="rect">
            <a:avLst/>
          </a:prstGeom>
          <a:noFill/>
          <a:ln/>
        </p:spPr>
        <p:txBody>
          <a:bodyPr wrap="square" lIns="0" tIns="0" rIns="0" bIns="0" rtlCol="0" anchor="ctr"/>
          <a:lstStyle/>
          <a:p>
            <a:pPr indent="0" marL="0">
              <a:buNone/>
            </a:pPr>
            <a:r>
              <a:rPr lang="en-US" sz="1600" b="1" dirty="0">
                <a:solidFill>
                  <a:srgbClr val="14302A"/>
                </a:solidFill>
              </a:rPr>
              <a:t>Evidence on every fact</a:t>
            </a:r>
            <a:endParaRPr lang="en-US" sz="1600" dirty="0"/>
          </a:p>
        </p:txBody>
      </p:sp>
      <p:sp>
        <p:nvSpPr>
          <p:cNvPr id="12" name="solution-3-circle"/>
          <p:cNvSpPr/>
          <p:nvPr/>
        </p:nvSpPr>
        <p:spPr>
          <a:xfrm>
            <a:off x="5989320" y="3429000"/>
            <a:ext cx="685800" cy="685800"/>
          </a:xfrm>
          <a:prstGeom prst="ellipse">
            <a:avLst/>
          </a:prstGeom>
          <a:solidFill>
            <a:srgbClr val="1F7A4D"/>
          </a:solidFill>
          <a:ln w="12700">
            <a:solidFill>
              <a:srgbClr val="1F7A4D"/>
            </a:solidFill>
            <a:prstDash val="solid"/>
          </a:ln>
        </p:spPr>
      </p:sp>
      <p:pic>
        <p:nvPicPr>
          <p:cNvPr id="13" name="solution-3-icon" descr="preencoded.png">    </p:cNvPr>
          <p:cNvPicPr>
            <a:picLocks noChangeAspect="1"/>
          </p:cNvPicPr>
          <p:nvPr/>
        </p:nvPicPr>
        <p:blipFill>
          <a:blip r:embed="rId4"/>
          <a:stretch>
            <a:fillRect/>
          </a:stretch>
        </p:blipFill>
        <p:spPr>
          <a:xfrm>
            <a:off x="6153912" y="3593592"/>
            <a:ext cx="356616" cy="356616"/>
          </a:xfrm>
          <a:prstGeom prst="rect">
            <a:avLst/>
          </a:prstGeom>
        </p:spPr>
      </p:pic>
      <p:sp>
        <p:nvSpPr>
          <p:cNvPr id="14" name="Text 7"/>
          <p:cNvSpPr txBox="1"/>
          <p:nvPr/>
        </p:nvSpPr>
        <p:spPr>
          <a:xfrm>
            <a:off x="6812280" y="3429000"/>
            <a:ext cx="1920240" cy="685800"/>
          </a:xfrm>
          <a:prstGeom prst="rect">
            <a:avLst/>
          </a:prstGeom>
          <a:noFill/>
          <a:ln/>
        </p:spPr>
        <p:txBody>
          <a:bodyPr wrap="square" lIns="0" tIns="0" rIns="0" bIns="0" rtlCol="0" anchor="ctr"/>
          <a:lstStyle/>
          <a:p>
            <a:pPr indent="0" marL="0">
              <a:buNone/>
            </a:pPr>
            <a:r>
              <a:rPr lang="en-US" sz="1600" b="1" dirty="0">
                <a:solidFill>
                  <a:srgbClr val="14302A"/>
                </a:solidFill>
              </a:rPr>
              <a:t>Better options nearby</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F6F7F2"/>
                </a:solidFill>
                <a:latin typeface="Cambria" pitchFamily="34" charset="0"/>
                <a:ea typeface="Cambria" pitchFamily="34" charset="-122"/>
                <a:cs typeface="Cambria" pitchFamily="34" charset="-120"/>
              </a:rPr>
              <a:t>Every fact shows its evidence</a:t>
            </a:r>
            <a:endParaRPr lang="en-US" sz="3000" dirty="0"/>
          </a:p>
        </p:txBody>
      </p:sp>
      <p:pic>
        <p:nvPicPr>
          <p:cNvPr id="4" name="evidence-icon-1" descr="preencoded.png">    </p:cNvPr>
          <p:cNvPicPr>
            <a:picLocks noChangeAspect="1"/>
          </p:cNvPicPr>
          <p:nvPr/>
        </p:nvPicPr>
        <p:blipFill>
          <a:blip r:embed="rId1"/>
          <a:stretch>
            <a:fillRect/>
          </a:stretch>
        </p:blipFill>
        <p:spPr>
          <a:xfrm>
            <a:off x="1261872" y="1325880"/>
            <a:ext cx="1005840" cy="1005840"/>
          </a:xfrm>
          <a:prstGeom prst="rect">
            <a:avLst/>
          </a:prstGeom>
        </p:spPr>
      </p:pic>
      <p:sp>
        <p:nvSpPr>
          <p:cNvPr id="5" name="Text 1"/>
          <p:cNvSpPr txBox="1"/>
          <p:nvPr/>
        </p:nvSpPr>
        <p:spPr>
          <a:xfrm>
            <a:off x="457200" y="2514600"/>
            <a:ext cx="2615184" cy="457200"/>
          </a:xfrm>
          <a:prstGeom prst="rect">
            <a:avLst/>
          </a:prstGeom>
          <a:noFill/>
          <a:ln/>
        </p:spPr>
        <p:txBody>
          <a:bodyPr wrap="square" lIns="0" tIns="0" rIns="0" bIns="0" rtlCol="0" anchor="t"/>
          <a:lstStyle/>
          <a:p>
            <a:pPr algn="ctr" indent="0" marL="0">
              <a:buNone/>
            </a:pPr>
            <a:r>
              <a:rPr lang="en-US" sz="2400" b="1" dirty="0">
                <a:solidFill>
                  <a:srgbClr val="8FD4AE"/>
                </a:solidFill>
              </a:rPr>
              <a:t>Verified</a:t>
            </a:r>
            <a:endParaRPr lang="en-US" sz="2400" dirty="0"/>
          </a:p>
        </p:txBody>
      </p:sp>
      <p:sp>
        <p:nvSpPr>
          <p:cNvPr id="6" name="Text 2"/>
          <p:cNvSpPr txBox="1"/>
          <p:nvPr/>
        </p:nvSpPr>
        <p:spPr>
          <a:xfrm>
            <a:off x="457200" y="2971800"/>
            <a:ext cx="2615184" cy="365760"/>
          </a:xfrm>
          <a:prstGeom prst="rect">
            <a:avLst/>
          </a:prstGeom>
          <a:noFill/>
          <a:ln/>
        </p:spPr>
        <p:txBody>
          <a:bodyPr wrap="square" lIns="0" tIns="0" rIns="0" bIns="0" rtlCol="0" anchor="t"/>
          <a:lstStyle/>
          <a:p>
            <a:pPr algn="ctr" indent="0" marL="0">
              <a:buNone/>
            </a:pPr>
            <a:r>
              <a:rPr lang="en-US" sz="1500" dirty="0">
                <a:solidFill>
                  <a:srgbClr val="C9DDD2"/>
                </a:solidFill>
              </a:rPr>
              <a:t>counts 100%</a:t>
            </a:r>
            <a:endParaRPr lang="en-US" sz="1500" dirty="0"/>
          </a:p>
        </p:txBody>
      </p:sp>
      <p:pic>
        <p:nvPicPr>
          <p:cNvPr id="7" name="evidence-icon-2" descr="preencoded.png">    </p:cNvPr>
          <p:cNvPicPr>
            <a:picLocks noChangeAspect="1"/>
          </p:cNvPicPr>
          <p:nvPr/>
        </p:nvPicPr>
        <p:blipFill>
          <a:blip r:embed="rId2"/>
          <a:stretch>
            <a:fillRect/>
          </a:stretch>
        </p:blipFill>
        <p:spPr>
          <a:xfrm>
            <a:off x="4069080" y="1325880"/>
            <a:ext cx="1005840" cy="1005840"/>
          </a:xfrm>
          <a:prstGeom prst="rect">
            <a:avLst/>
          </a:prstGeom>
        </p:spPr>
      </p:pic>
      <p:sp>
        <p:nvSpPr>
          <p:cNvPr id="8" name="Text 3"/>
          <p:cNvSpPr txBox="1"/>
          <p:nvPr/>
        </p:nvSpPr>
        <p:spPr>
          <a:xfrm>
            <a:off x="3264408" y="2514600"/>
            <a:ext cx="2615184" cy="457200"/>
          </a:xfrm>
          <a:prstGeom prst="rect">
            <a:avLst/>
          </a:prstGeom>
          <a:noFill/>
          <a:ln/>
        </p:spPr>
        <p:txBody>
          <a:bodyPr wrap="square" lIns="0" tIns="0" rIns="0" bIns="0" rtlCol="0" anchor="t"/>
          <a:lstStyle/>
          <a:p>
            <a:pPr algn="ctr" indent="0" marL="0">
              <a:buNone/>
            </a:pPr>
            <a:r>
              <a:rPr lang="en-US" sz="2400" b="1" dirty="0">
                <a:solidFill>
                  <a:srgbClr val="F2C27B"/>
                </a:solidFill>
              </a:rPr>
              <a:t>Claimed</a:t>
            </a:r>
            <a:endParaRPr lang="en-US" sz="2400" dirty="0"/>
          </a:p>
        </p:txBody>
      </p:sp>
      <p:sp>
        <p:nvSpPr>
          <p:cNvPr id="9" name="Text 4"/>
          <p:cNvSpPr txBox="1"/>
          <p:nvPr/>
        </p:nvSpPr>
        <p:spPr>
          <a:xfrm>
            <a:off x="3264408" y="2971800"/>
            <a:ext cx="2615184" cy="365760"/>
          </a:xfrm>
          <a:prstGeom prst="rect">
            <a:avLst/>
          </a:prstGeom>
          <a:noFill/>
          <a:ln/>
        </p:spPr>
        <p:txBody>
          <a:bodyPr wrap="square" lIns="0" tIns="0" rIns="0" bIns="0" rtlCol="0" anchor="t"/>
          <a:lstStyle/>
          <a:p>
            <a:pPr algn="ctr" indent="0" marL="0">
              <a:buNone/>
            </a:pPr>
            <a:r>
              <a:rPr lang="en-US" sz="1500" dirty="0">
                <a:solidFill>
                  <a:srgbClr val="C9DDD2"/>
                </a:solidFill>
              </a:rPr>
              <a:t>counts 60%</a:t>
            </a:r>
            <a:endParaRPr lang="en-US" sz="1500" dirty="0"/>
          </a:p>
        </p:txBody>
      </p:sp>
      <p:pic>
        <p:nvPicPr>
          <p:cNvPr id="10" name="evidence-icon-3" descr="preencoded.png">    </p:cNvPr>
          <p:cNvPicPr>
            <a:picLocks noChangeAspect="1"/>
          </p:cNvPicPr>
          <p:nvPr/>
        </p:nvPicPr>
        <p:blipFill>
          <a:blip r:embed="rId3"/>
          <a:stretch>
            <a:fillRect/>
          </a:stretch>
        </p:blipFill>
        <p:spPr>
          <a:xfrm>
            <a:off x="6876288" y="1325880"/>
            <a:ext cx="1005840" cy="1005840"/>
          </a:xfrm>
          <a:prstGeom prst="rect">
            <a:avLst/>
          </a:prstGeom>
        </p:spPr>
      </p:pic>
      <p:sp>
        <p:nvSpPr>
          <p:cNvPr id="11" name="Text 5"/>
          <p:cNvSpPr txBox="1"/>
          <p:nvPr/>
        </p:nvSpPr>
        <p:spPr>
          <a:xfrm>
            <a:off x="6071616" y="2514600"/>
            <a:ext cx="2615184" cy="457200"/>
          </a:xfrm>
          <a:prstGeom prst="rect">
            <a:avLst/>
          </a:prstGeom>
          <a:noFill/>
          <a:ln/>
        </p:spPr>
        <p:txBody>
          <a:bodyPr wrap="square" lIns="0" tIns="0" rIns="0" bIns="0" rtlCol="0" anchor="t"/>
          <a:lstStyle/>
          <a:p>
            <a:pPr algn="ctr" indent="0" marL="0">
              <a:buNone/>
            </a:pPr>
            <a:r>
              <a:rPr lang="en-US" sz="2400" b="1" dirty="0">
                <a:solidFill>
                  <a:srgbClr val="C9D0CC"/>
                </a:solidFill>
              </a:rPr>
              <a:t>Unknown</a:t>
            </a:r>
            <a:endParaRPr lang="en-US" sz="2400" dirty="0"/>
          </a:p>
        </p:txBody>
      </p:sp>
      <p:sp>
        <p:nvSpPr>
          <p:cNvPr id="12" name="Text 6"/>
          <p:cNvSpPr txBox="1"/>
          <p:nvPr/>
        </p:nvSpPr>
        <p:spPr>
          <a:xfrm>
            <a:off x="6071616" y="2971800"/>
            <a:ext cx="2615184" cy="365760"/>
          </a:xfrm>
          <a:prstGeom prst="rect">
            <a:avLst/>
          </a:prstGeom>
          <a:noFill/>
          <a:ln/>
        </p:spPr>
        <p:txBody>
          <a:bodyPr wrap="square" lIns="0" tIns="0" rIns="0" bIns="0" rtlCol="0" anchor="t"/>
          <a:lstStyle/>
          <a:p>
            <a:pPr algn="ctr" indent="0" marL="0">
              <a:buNone/>
            </a:pPr>
            <a:r>
              <a:rPr lang="en-US" sz="1500" dirty="0">
                <a:solidFill>
                  <a:srgbClr val="C9DDD2"/>
                </a:solidFill>
              </a:rPr>
              <a:t>not counted</a:t>
            </a:r>
            <a:endParaRPr lang="en-US" sz="1500" dirty="0"/>
          </a:p>
        </p:txBody>
      </p:sp>
      <p:sp>
        <p:nvSpPr>
          <p:cNvPr id="13" name="Text 7"/>
          <p:cNvSpPr txBox="1"/>
          <p:nvPr/>
        </p:nvSpPr>
        <p:spPr>
          <a:xfrm>
            <a:off x="457200" y="3794760"/>
            <a:ext cx="8229600" cy="548640"/>
          </a:xfrm>
          <a:prstGeom prst="rect">
            <a:avLst/>
          </a:prstGeom>
          <a:noFill/>
          <a:ln/>
        </p:spPr>
        <p:txBody>
          <a:bodyPr wrap="square" lIns="0" tIns="0" rIns="0" bIns="0" rtlCol="0" anchor="t"/>
          <a:lstStyle/>
          <a:p>
            <a:pPr algn="ctr" indent="0" marL="0">
              <a:buNone/>
            </a:pPr>
            <a:r>
              <a:rPr lang="en-US" sz="2800" b="1" dirty="0">
                <a:solidFill>
                  <a:srgbClr val="F6F7F2"/>
                </a:solidFill>
                <a:latin typeface="Cambria" pitchFamily="34" charset="0"/>
                <a:ea typeface="Cambria" pitchFamily="34" charset="-122"/>
                <a:cs typeface="Cambria" pitchFamily="34" charset="-120"/>
              </a:rPr>
              <a:t>Unknown ≠ bad</a:t>
            </a:r>
            <a:endParaRPr lang="en-US" sz="2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89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Different shopper, different winner</a:t>
            </a:r>
            <a:endParaRPr lang="en-US" sz="3000" dirty="0"/>
          </a:p>
        </p:txBody>
      </p:sp>
      <p:graphicFrame>
        <p:nvGraphicFramePr>
          <p:cNvPr id="4" name="personal-score-chart" descr=""/>
          <p:cNvGraphicFramePr/>
          <p:nvPr/>
        </p:nvGraphicFramePr>
        <p:xfrm>
          <a:off x="457200" y="1143000"/>
          <a:ext cx="822960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Live demo</a:t>
            </a:r>
            <a:endParaRPr lang="en-US" sz="3000" dirty="0"/>
          </a:p>
        </p:txBody>
      </p:sp>
      <p:sp>
        <p:nvSpPr>
          <p:cNvPr id="4" name="frame-priorities"/>
          <p:cNvSpPr/>
          <p:nvPr/>
        </p:nvSpPr>
        <p:spPr>
          <a:xfrm>
            <a:off x="1078992" y="1060704"/>
            <a:ext cx="3346704" cy="1737360"/>
          </a:xfrm>
          <a:prstGeom prst="roundRect">
            <a:avLst>
              <a:gd name="adj" fmla="val 4211"/>
            </a:avLst>
          </a:prstGeom>
          <a:solidFill>
            <a:srgbClr val="FFFFFF"/>
          </a:solidFill>
          <a:ln w="9525">
            <a:solidFill>
              <a:srgbClr val="D9E0DA"/>
            </a:solidFill>
            <a:prstDash val="solid"/>
          </a:ln>
          <a:effectLst>
            <a:outerShdw sx="100000" sy="100000" kx="0" ky="0" algn="bl" rotWithShape="0" blurRad="101600" dist="38100" dir="5400000">
              <a:srgbClr val="000000">
                <a:alpha val="18000"/>
              </a:srgbClr>
            </a:outerShdw>
          </a:effectLst>
        </p:spPr>
      </p:sp>
      <p:pic>
        <p:nvPicPr>
          <p:cNvPr id="5" name="screenshot-priorities" descr="Priorities screen of the TruthShift app">    </p:cNvPr>
          <p:cNvPicPr>
            <a:picLocks noChangeAspect="1"/>
          </p:cNvPicPr>
          <p:nvPr/>
        </p:nvPicPr>
        <p:blipFill>
          <a:blip r:embed="rId1"/>
          <a:stretch>
            <a:fillRect/>
          </a:stretch>
        </p:blipFill>
        <p:spPr>
          <a:xfrm>
            <a:off x="1115568" y="1097280"/>
            <a:ext cx="3273552" cy="1664208"/>
          </a:xfrm>
          <a:prstGeom prst="rect">
            <a:avLst/>
          </a:prstGeom>
        </p:spPr>
      </p:pic>
      <p:sp>
        <p:nvSpPr>
          <p:cNvPr id="6" name="label-pill-priorities"/>
          <p:cNvSpPr/>
          <p:nvPr/>
        </p:nvSpPr>
        <p:spPr>
          <a:xfrm>
            <a:off x="1225296" y="2331720"/>
            <a:ext cx="1143000" cy="320040"/>
          </a:xfrm>
          <a:prstGeom prst="roundRect">
            <a:avLst>
              <a:gd name="adj" fmla="val 48571"/>
            </a:avLst>
          </a:prstGeom>
          <a:solidFill>
            <a:srgbClr val="14302A"/>
          </a:solidFill>
          <a:ln w="12700">
            <a:solidFill>
              <a:srgbClr val="14302A"/>
            </a:solidFill>
            <a:prstDash val="solid"/>
          </a:ln>
        </p:spPr>
      </p:sp>
      <p:sp>
        <p:nvSpPr>
          <p:cNvPr id="7" name="Text 3"/>
          <p:cNvSpPr txBox="1"/>
          <p:nvPr/>
        </p:nvSpPr>
        <p:spPr>
          <a:xfrm>
            <a:off x="1225296" y="2331720"/>
            <a:ext cx="1143000" cy="320040"/>
          </a:xfrm>
          <a:prstGeom prst="rect">
            <a:avLst/>
          </a:prstGeom>
          <a:noFill/>
          <a:ln/>
        </p:spPr>
        <p:txBody>
          <a:bodyPr wrap="square" lIns="0" tIns="0" rIns="0" bIns="0" rtlCol="0" anchor="ctr"/>
          <a:lstStyle/>
          <a:p>
            <a:pPr algn="ctr" indent="0" marL="0">
              <a:buNone/>
            </a:pPr>
            <a:r>
              <a:rPr lang="en-US" sz="1300" b="1" dirty="0">
                <a:solidFill>
                  <a:srgbClr val="FFFFFF"/>
                </a:solidFill>
              </a:rPr>
              <a:t>Priorities</a:t>
            </a:r>
            <a:endParaRPr lang="en-US" sz="1300" dirty="0"/>
          </a:p>
        </p:txBody>
      </p:sp>
      <p:sp>
        <p:nvSpPr>
          <p:cNvPr id="8" name="frame-compare"/>
          <p:cNvSpPr/>
          <p:nvPr/>
        </p:nvSpPr>
        <p:spPr>
          <a:xfrm>
            <a:off x="4718304" y="1060704"/>
            <a:ext cx="3346704" cy="1737360"/>
          </a:xfrm>
          <a:prstGeom prst="roundRect">
            <a:avLst>
              <a:gd name="adj" fmla="val 4211"/>
            </a:avLst>
          </a:prstGeom>
          <a:solidFill>
            <a:srgbClr val="FFFFFF"/>
          </a:solidFill>
          <a:ln w="9525">
            <a:solidFill>
              <a:srgbClr val="D9E0DA"/>
            </a:solidFill>
            <a:prstDash val="solid"/>
          </a:ln>
          <a:effectLst>
            <a:outerShdw sx="100000" sy="100000" kx="0" ky="0" algn="bl" rotWithShape="0" blurRad="101600" dist="38100" dir="5400000">
              <a:srgbClr val="000000">
                <a:alpha val="18000"/>
              </a:srgbClr>
            </a:outerShdw>
          </a:effectLst>
        </p:spPr>
      </p:sp>
      <p:pic>
        <p:nvPicPr>
          <p:cNvPr id="9" name="screenshot-compare" descr="Compare screen of the TruthShift app">    </p:cNvPr>
          <p:cNvPicPr>
            <a:picLocks noChangeAspect="1"/>
          </p:cNvPicPr>
          <p:nvPr/>
        </p:nvPicPr>
        <p:blipFill>
          <a:blip r:embed="rId2"/>
          <a:stretch>
            <a:fillRect/>
          </a:stretch>
        </p:blipFill>
        <p:spPr>
          <a:xfrm>
            <a:off x="4754880" y="1097280"/>
            <a:ext cx="3273552" cy="1664208"/>
          </a:xfrm>
          <a:prstGeom prst="rect">
            <a:avLst/>
          </a:prstGeom>
        </p:spPr>
      </p:pic>
      <p:sp>
        <p:nvSpPr>
          <p:cNvPr id="10" name="label-pill-compare"/>
          <p:cNvSpPr/>
          <p:nvPr/>
        </p:nvSpPr>
        <p:spPr>
          <a:xfrm>
            <a:off x="4864608" y="2331720"/>
            <a:ext cx="1143000" cy="320040"/>
          </a:xfrm>
          <a:prstGeom prst="roundRect">
            <a:avLst>
              <a:gd name="adj" fmla="val 48571"/>
            </a:avLst>
          </a:prstGeom>
          <a:solidFill>
            <a:srgbClr val="14302A"/>
          </a:solidFill>
          <a:ln w="12700">
            <a:solidFill>
              <a:srgbClr val="14302A"/>
            </a:solidFill>
            <a:prstDash val="solid"/>
          </a:ln>
        </p:spPr>
      </p:sp>
      <p:sp>
        <p:nvSpPr>
          <p:cNvPr id="11" name="Text 6"/>
          <p:cNvSpPr txBox="1"/>
          <p:nvPr/>
        </p:nvSpPr>
        <p:spPr>
          <a:xfrm>
            <a:off x="4864608" y="2331720"/>
            <a:ext cx="1143000" cy="320040"/>
          </a:xfrm>
          <a:prstGeom prst="rect">
            <a:avLst/>
          </a:prstGeom>
          <a:noFill/>
          <a:ln/>
        </p:spPr>
        <p:txBody>
          <a:bodyPr wrap="square" lIns="0" tIns="0" rIns="0" bIns="0" rtlCol="0" anchor="ctr"/>
          <a:lstStyle/>
          <a:p>
            <a:pPr algn="ctr" indent="0" marL="0">
              <a:buNone/>
            </a:pPr>
            <a:r>
              <a:rPr lang="en-US" sz="1300" b="1" dirty="0">
                <a:solidFill>
                  <a:srgbClr val="FFFFFF"/>
                </a:solidFill>
              </a:rPr>
              <a:t>Compare</a:t>
            </a:r>
            <a:endParaRPr lang="en-US" sz="1300" dirty="0"/>
          </a:p>
        </p:txBody>
      </p:sp>
      <p:sp>
        <p:nvSpPr>
          <p:cNvPr id="12" name="frame-ask"/>
          <p:cNvSpPr/>
          <p:nvPr/>
        </p:nvSpPr>
        <p:spPr>
          <a:xfrm>
            <a:off x="1078992" y="2907792"/>
            <a:ext cx="3346704" cy="1737360"/>
          </a:xfrm>
          <a:prstGeom prst="roundRect">
            <a:avLst>
              <a:gd name="adj" fmla="val 4211"/>
            </a:avLst>
          </a:prstGeom>
          <a:solidFill>
            <a:srgbClr val="FFFFFF"/>
          </a:solidFill>
          <a:ln w="9525">
            <a:solidFill>
              <a:srgbClr val="D9E0DA"/>
            </a:solidFill>
            <a:prstDash val="solid"/>
          </a:ln>
          <a:effectLst>
            <a:outerShdw sx="100000" sy="100000" kx="0" ky="0" algn="bl" rotWithShape="0" blurRad="101600" dist="38100" dir="5400000">
              <a:srgbClr val="000000">
                <a:alpha val="18000"/>
              </a:srgbClr>
            </a:outerShdw>
          </a:effectLst>
        </p:spPr>
      </p:sp>
      <p:pic>
        <p:nvPicPr>
          <p:cNvPr id="13" name="screenshot-ask" descr="Ask screen of the TruthShift app">    </p:cNvPr>
          <p:cNvPicPr>
            <a:picLocks noChangeAspect="1"/>
          </p:cNvPicPr>
          <p:nvPr/>
        </p:nvPicPr>
        <p:blipFill>
          <a:blip r:embed="rId3"/>
          <a:stretch>
            <a:fillRect/>
          </a:stretch>
        </p:blipFill>
        <p:spPr>
          <a:xfrm>
            <a:off x="1115568" y="2944368"/>
            <a:ext cx="3273552" cy="1664208"/>
          </a:xfrm>
          <a:prstGeom prst="rect">
            <a:avLst/>
          </a:prstGeom>
        </p:spPr>
      </p:pic>
      <p:sp>
        <p:nvSpPr>
          <p:cNvPr id="14" name="label-pill-ask"/>
          <p:cNvSpPr/>
          <p:nvPr/>
        </p:nvSpPr>
        <p:spPr>
          <a:xfrm>
            <a:off x="1225296" y="4178808"/>
            <a:ext cx="1143000" cy="320040"/>
          </a:xfrm>
          <a:prstGeom prst="roundRect">
            <a:avLst>
              <a:gd name="adj" fmla="val 48571"/>
            </a:avLst>
          </a:prstGeom>
          <a:solidFill>
            <a:srgbClr val="14302A"/>
          </a:solidFill>
          <a:ln w="12700">
            <a:solidFill>
              <a:srgbClr val="14302A"/>
            </a:solidFill>
            <a:prstDash val="solid"/>
          </a:ln>
        </p:spPr>
      </p:sp>
      <p:sp>
        <p:nvSpPr>
          <p:cNvPr id="15" name="Text 9"/>
          <p:cNvSpPr txBox="1"/>
          <p:nvPr/>
        </p:nvSpPr>
        <p:spPr>
          <a:xfrm>
            <a:off x="1225296" y="4178808"/>
            <a:ext cx="1143000" cy="320040"/>
          </a:xfrm>
          <a:prstGeom prst="rect">
            <a:avLst/>
          </a:prstGeom>
          <a:noFill/>
          <a:ln/>
        </p:spPr>
        <p:txBody>
          <a:bodyPr wrap="square" lIns="0" tIns="0" rIns="0" bIns="0" rtlCol="0" anchor="ctr"/>
          <a:lstStyle/>
          <a:p>
            <a:pPr algn="ctr" indent="0" marL="0">
              <a:buNone/>
            </a:pPr>
            <a:r>
              <a:rPr lang="en-US" sz="1300" b="1" dirty="0">
                <a:solidFill>
                  <a:srgbClr val="FFFFFF"/>
                </a:solidFill>
              </a:rPr>
              <a:t>Ask</a:t>
            </a:r>
            <a:endParaRPr lang="en-US" sz="1300" dirty="0"/>
          </a:p>
        </p:txBody>
      </p:sp>
      <p:sp>
        <p:nvSpPr>
          <p:cNvPr id="16" name="frame-nearby"/>
          <p:cNvSpPr/>
          <p:nvPr/>
        </p:nvSpPr>
        <p:spPr>
          <a:xfrm>
            <a:off x="4718304" y="2907792"/>
            <a:ext cx="3346704" cy="1737360"/>
          </a:xfrm>
          <a:prstGeom prst="roundRect">
            <a:avLst>
              <a:gd name="adj" fmla="val 4211"/>
            </a:avLst>
          </a:prstGeom>
          <a:solidFill>
            <a:srgbClr val="FFFFFF"/>
          </a:solidFill>
          <a:ln w="9525">
            <a:solidFill>
              <a:srgbClr val="D9E0DA"/>
            </a:solidFill>
            <a:prstDash val="solid"/>
          </a:ln>
          <a:effectLst>
            <a:outerShdw sx="100000" sy="100000" kx="0" ky="0" algn="bl" rotWithShape="0" blurRad="101600" dist="38100" dir="5400000">
              <a:srgbClr val="000000">
                <a:alpha val="18000"/>
              </a:srgbClr>
            </a:outerShdw>
          </a:effectLst>
        </p:spPr>
      </p:sp>
      <p:pic>
        <p:nvPicPr>
          <p:cNvPr id="17" name="screenshot-nearby" descr="Nearby screen of the TruthShift app">    </p:cNvPr>
          <p:cNvPicPr>
            <a:picLocks noChangeAspect="1"/>
          </p:cNvPicPr>
          <p:nvPr/>
        </p:nvPicPr>
        <p:blipFill>
          <a:blip r:embed="rId4"/>
          <a:stretch>
            <a:fillRect/>
          </a:stretch>
        </p:blipFill>
        <p:spPr>
          <a:xfrm>
            <a:off x="4754880" y="2944368"/>
            <a:ext cx="3273552" cy="1664208"/>
          </a:xfrm>
          <a:prstGeom prst="rect">
            <a:avLst/>
          </a:prstGeom>
        </p:spPr>
      </p:pic>
      <p:sp>
        <p:nvSpPr>
          <p:cNvPr id="18" name="label-pill-nearby"/>
          <p:cNvSpPr/>
          <p:nvPr/>
        </p:nvSpPr>
        <p:spPr>
          <a:xfrm>
            <a:off x="4864608" y="4178808"/>
            <a:ext cx="1143000" cy="320040"/>
          </a:xfrm>
          <a:prstGeom prst="roundRect">
            <a:avLst>
              <a:gd name="adj" fmla="val 48571"/>
            </a:avLst>
          </a:prstGeom>
          <a:solidFill>
            <a:srgbClr val="14302A"/>
          </a:solidFill>
          <a:ln w="12700">
            <a:solidFill>
              <a:srgbClr val="14302A"/>
            </a:solidFill>
            <a:prstDash val="solid"/>
          </a:ln>
        </p:spPr>
      </p:sp>
      <p:sp>
        <p:nvSpPr>
          <p:cNvPr id="19" name="Text 12"/>
          <p:cNvSpPr txBox="1"/>
          <p:nvPr/>
        </p:nvSpPr>
        <p:spPr>
          <a:xfrm>
            <a:off x="4864608" y="4178808"/>
            <a:ext cx="1143000" cy="320040"/>
          </a:xfrm>
          <a:prstGeom prst="rect">
            <a:avLst/>
          </a:prstGeom>
          <a:noFill/>
          <a:ln/>
        </p:spPr>
        <p:txBody>
          <a:bodyPr wrap="square" lIns="0" tIns="0" rIns="0" bIns="0" rtlCol="0" anchor="ctr"/>
          <a:lstStyle/>
          <a:p>
            <a:pPr algn="ctr" indent="0" marL="0">
              <a:buNone/>
            </a:pPr>
            <a:r>
              <a:rPr lang="en-US" sz="1300" b="1" dirty="0">
                <a:solidFill>
                  <a:srgbClr val="FFFFFF"/>
                </a:solidFill>
              </a:rPr>
              <a:t>Nearby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How it works</a:t>
            </a:r>
            <a:endParaRPr lang="en-US" sz="3000" dirty="0"/>
          </a:p>
        </p:txBody>
      </p:sp>
      <p:sp>
        <p:nvSpPr>
          <p:cNvPr id="4" name="arch-react-circle"/>
          <p:cNvSpPr/>
          <p:nvPr/>
        </p:nvSpPr>
        <p:spPr>
          <a:xfrm>
            <a:off x="868680" y="1920240"/>
            <a:ext cx="914400" cy="914400"/>
          </a:xfrm>
          <a:prstGeom prst="ellipse">
            <a:avLst/>
          </a:prstGeom>
          <a:solidFill>
            <a:srgbClr val="E7EFE9"/>
          </a:solidFill>
          <a:ln w="12700">
            <a:solidFill>
              <a:srgbClr val="E7EFE9"/>
            </a:solidFill>
            <a:prstDash val="solid"/>
          </a:ln>
        </p:spPr>
      </p:sp>
      <p:pic>
        <p:nvPicPr>
          <p:cNvPr id="5" name="arch-react-icon" descr="preencoded.png">    </p:cNvPr>
          <p:cNvPicPr>
            <a:picLocks noChangeAspect="1"/>
          </p:cNvPicPr>
          <p:nvPr/>
        </p:nvPicPr>
        <p:blipFill>
          <a:blip r:embed="rId1"/>
          <a:stretch>
            <a:fillRect/>
          </a:stretch>
        </p:blipFill>
        <p:spPr>
          <a:xfrm>
            <a:off x="1088136" y="2139696"/>
            <a:ext cx="475488" cy="475488"/>
          </a:xfrm>
          <a:prstGeom prst="rect">
            <a:avLst/>
          </a:prstGeom>
        </p:spPr>
      </p:pic>
      <p:sp>
        <p:nvSpPr>
          <p:cNvPr id="6" name="Text 2"/>
          <p:cNvSpPr txBox="1"/>
          <p:nvPr/>
        </p:nvSpPr>
        <p:spPr>
          <a:xfrm>
            <a:off x="457200" y="2907792"/>
            <a:ext cx="1737360" cy="320040"/>
          </a:xfrm>
          <a:prstGeom prst="rect">
            <a:avLst/>
          </a:prstGeom>
          <a:noFill/>
          <a:ln/>
        </p:spPr>
        <p:txBody>
          <a:bodyPr wrap="square" lIns="0" tIns="0" rIns="0" bIns="0" rtlCol="0" anchor="t"/>
          <a:lstStyle/>
          <a:p>
            <a:pPr algn="ctr" indent="0" marL="0">
              <a:buNone/>
            </a:pPr>
            <a:r>
              <a:rPr lang="en-US" sz="1500" b="1" dirty="0">
                <a:solidFill>
                  <a:srgbClr val="14302A"/>
                </a:solidFill>
              </a:rPr>
              <a:t>React app</a:t>
            </a:r>
            <a:endParaRPr lang="en-US" sz="1500" dirty="0"/>
          </a:p>
        </p:txBody>
      </p:sp>
      <p:sp>
        <p:nvSpPr>
          <p:cNvPr id="7" name="Text 3"/>
          <p:cNvSpPr txBox="1"/>
          <p:nvPr/>
        </p:nvSpPr>
        <p:spPr>
          <a:xfrm>
            <a:off x="457200" y="3218688"/>
            <a:ext cx="1737360" cy="274320"/>
          </a:xfrm>
          <a:prstGeom prst="rect">
            <a:avLst/>
          </a:prstGeom>
          <a:noFill/>
          <a:ln/>
        </p:spPr>
        <p:txBody>
          <a:bodyPr wrap="square" lIns="0" tIns="0" rIns="0" bIns="0" rtlCol="0" anchor="t"/>
          <a:lstStyle/>
          <a:p>
            <a:pPr algn="ctr" indent="0" marL="0">
              <a:buNone/>
            </a:pPr>
            <a:r>
              <a:rPr lang="en-US" sz="1100" dirty="0">
                <a:solidFill>
                  <a:srgbClr val="4A5A52"/>
                </a:solidFill>
              </a:rPr>
              <a:t>phone or laptop</a:t>
            </a:r>
            <a:endParaRPr lang="en-US" sz="1100" dirty="0"/>
          </a:p>
        </p:txBody>
      </p:sp>
      <p:sp>
        <p:nvSpPr>
          <p:cNvPr id="8" name="arch-api-circle"/>
          <p:cNvSpPr/>
          <p:nvPr/>
        </p:nvSpPr>
        <p:spPr>
          <a:xfrm>
            <a:off x="3520440" y="1920240"/>
            <a:ext cx="914400" cy="914400"/>
          </a:xfrm>
          <a:prstGeom prst="ellipse">
            <a:avLst/>
          </a:prstGeom>
          <a:solidFill>
            <a:srgbClr val="14302A"/>
          </a:solidFill>
          <a:ln w="12700">
            <a:solidFill>
              <a:srgbClr val="14302A"/>
            </a:solidFill>
            <a:prstDash val="solid"/>
          </a:ln>
        </p:spPr>
      </p:sp>
      <p:pic>
        <p:nvPicPr>
          <p:cNvPr id="9" name="arch-api-icon" descr="preencoded.png">    </p:cNvPr>
          <p:cNvPicPr>
            <a:picLocks noChangeAspect="1"/>
          </p:cNvPicPr>
          <p:nvPr/>
        </p:nvPicPr>
        <p:blipFill>
          <a:blip r:embed="rId2"/>
          <a:stretch>
            <a:fillRect/>
          </a:stretch>
        </p:blipFill>
        <p:spPr>
          <a:xfrm>
            <a:off x="3739896" y="2139696"/>
            <a:ext cx="475488" cy="475488"/>
          </a:xfrm>
          <a:prstGeom prst="rect">
            <a:avLst/>
          </a:prstGeom>
        </p:spPr>
      </p:pic>
      <p:sp>
        <p:nvSpPr>
          <p:cNvPr id="10" name="Text 5"/>
          <p:cNvSpPr txBox="1"/>
          <p:nvPr/>
        </p:nvSpPr>
        <p:spPr>
          <a:xfrm>
            <a:off x="3108960" y="2907792"/>
            <a:ext cx="1737360" cy="320040"/>
          </a:xfrm>
          <a:prstGeom prst="rect">
            <a:avLst/>
          </a:prstGeom>
          <a:noFill/>
          <a:ln/>
        </p:spPr>
        <p:txBody>
          <a:bodyPr wrap="square" lIns="0" tIns="0" rIns="0" bIns="0" rtlCol="0" anchor="t"/>
          <a:lstStyle/>
          <a:p>
            <a:pPr algn="ctr" indent="0" marL="0">
              <a:buNone/>
            </a:pPr>
            <a:r>
              <a:rPr lang="en-US" sz="1500" b="1" dirty="0">
                <a:solidFill>
                  <a:srgbClr val="14302A"/>
                </a:solidFill>
              </a:rPr>
              <a:t>FastAPI</a:t>
            </a:r>
            <a:endParaRPr lang="en-US" sz="1500" dirty="0"/>
          </a:p>
        </p:txBody>
      </p:sp>
      <p:sp>
        <p:nvSpPr>
          <p:cNvPr id="11" name="Text 6"/>
          <p:cNvSpPr txBox="1"/>
          <p:nvPr/>
        </p:nvSpPr>
        <p:spPr>
          <a:xfrm>
            <a:off x="3108960" y="3218688"/>
            <a:ext cx="1737360" cy="274320"/>
          </a:xfrm>
          <a:prstGeom prst="rect">
            <a:avLst/>
          </a:prstGeom>
          <a:noFill/>
          <a:ln/>
        </p:spPr>
        <p:txBody>
          <a:bodyPr wrap="square" lIns="0" tIns="0" rIns="0" bIns="0" rtlCol="0" anchor="t"/>
          <a:lstStyle/>
          <a:p>
            <a:pPr algn="ctr" indent="0" marL="0">
              <a:buNone/>
            </a:pPr>
            <a:r>
              <a:rPr lang="en-US" sz="1100" dirty="0">
                <a:solidFill>
                  <a:srgbClr val="4A5A52"/>
                </a:solidFill>
              </a:rPr>
              <a:t>scoring engine</a:t>
            </a:r>
            <a:endParaRPr lang="en-US" sz="1100" dirty="0"/>
          </a:p>
        </p:txBody>
      </p:sp>
      <p:sp>
        <p:nvSpPr>
          <p:cNvPr id="12" name="arch-data-circle"/>
          <p:cNvSpPr/>
          <p:nvPr/>
        </p:nvSpPr>
        <p:spPr>
          <a:xfrm>
            <a:off x="6949440" y="1051560"/>
            <a:ext cx="914400" cy="914400"/>
          </a:xfrm>
          <a:prstGeom prst="ellipse">
            <a:avLst/>
          </a:prstGeom>
          <a:solidFill>
            <a:srgbClr val="E7EFE9"/>
          </a:solidFill>
          <a:ln w="12700">
            <a:solidFill>
              <a:srgbClr val="E7EFE9"/>
            </a:solidFill>
            <a:prstDash val="solid"/>
          </a:ln>
        </p:spPr>
      </p:sp>
      <p:pic>
        <p:nvPicPr>
          <p:cNvPr id="13" name="arch-data-icon" descr="preencoded.png">    </p:cNvPr>
          <p:cNvPicPr>
            <a:picLocks noChangeAspect="1"/>
          </p:cNvPicPr>
          <p:nvPr/>
        </p:nvPicPr>
        <p:blipFill>
          <a:blip r:embed="rId3"/>
          <a:stretch>
            <a:fillRect/>
          </a:stretch>
        </p:blipFill>
        <p:spPr>
          <a:xfrm>
            <a:off x="7168896" y="1271016"/>
            <a:ext cx="475488" cy="475488"/>
          </a:xfrm>
          <a:prstGeom prst="rect">
            <a:avLst/>
          </a:prstGeom>
        </p:spPr>
      </p:pic>
      <p:sp>
        <p:nvSpPr>
          <p:cNvPr id="14" name="Text 8"/>
          <p:cNvSpPr txBox="1"/>
          <p:nvPr/>
        </p:nvSpPr>
        <p:spPr>
          <a:xfrm>
            <a:off x="6537960" y="2039112"/>
            <a:ext cx="1737360" cy="320040"/>
          </a:xfrm>
          <a:prstGeom prst="rect">
            <a:avLst/>
          </a:prstGeom>
          <a:noFill/>
          <a:ln/>
        </p:spPr>
        <p:txBody>
          <a:bodyPr wrap="square" lIns="0" tIns="0" rIns="0" bIns="0" rtlCol="0" anchor="t"/>
          <a:lstStyle/>
          <a:p>
            <a:pPr algn="ctr" indent="0" marL="0">
              <a:buNone/>
            </a:pPr>
            <a:r>
              <a:rPr lang="en-US" sz="1500" b="1" dirty="0">
                <a:solidFill>
                  <a:srgbClr val="14302A"/>
                </a:solidFill>
              </a:rPr>
              <a:t>Our data</a:t>
            </a:r>
            <a:endParaRPr lang="en-US" sz="1500" dirty="0"/>
          </a:p>
        </p:txBody>
      </p:sp>
      <p:sp>
        <p:nvSpPr>
          <p:cNvPr id="15" name="Text 9"/>
          <p:cNvSpPr txBox="1"/>
          <p:nvPr/>
        </p:nvSpPr>
        <p:spPr>
          <a:xfrm>
            <a:off x="6537960" y="2350008"/>
            <a:ext cx="1737360" cy="274320"/>
          </a:xfrm>
          <a:prstGeom prst="rect">
            <a:avLst/>
          </a:prstGeom>
          <a:noFill/>
          <a:ln/>
        </p:spPr>
        <p:txBody>
          <a:bodyPr wrap="square" lIns="0" tIns="0" rIns="0" bIns="0" rtlCol="0" anchor="t"/>
          <a:lstStyle/>
          <a:p>
            <a:pPr algn="ctr" indent="0" marL="0">
              <a:buNone/>
            </a:pPr>
            <a:r>
              <a:rPr lang="en-US" sz="1100" dirty="0">
                <a:solidFill>
                  <a:srgbClr val="4A5A52"/>
                </a:solidFill>
              </a:rPr>
              <a:t>118 products</a:t>
            </a:r>
            <a:endParaRPr lang="en-US" sz="1100" dirty="0"/>
          </a:p>
        </p:txBody>
      </p:sp>
      <p:sp>
        <p:nvSpPr>
          <p:cNvPr id="16" name="arch-off-circle"/>
          <p:cNvSpPr/>
          <p:nvPr/>
        </p:nvSpPr>
        <p:spPr>
          <a:xfrm>
            <a:off x="6949440" y="2697480"/>
            <a:ext cx="914400" cy="914400"/>
          </a:xfrm>
          <a:prstGeom prst="ellipse">
            <a:avLst/>
          </a:prstGeom>
          <a:solidFill>
            <a:srgbClr val="E7EFE9"/>
          </a:solidFill>
          <a:ln w="12700">
            <a:solidFill>
              <a:srgbClr val="E7EFE9"/>
            </a:solidFill>
            <a:prstDash val="solid"/>
          </a:ln>
        </p:spPr>
      </p:sp>
      <p:pic>
        <p:nvPicPr>
          <p:cNvPr id="17" name="arch-off-icon" descr="preencoded.png">    </p:cNvPr>
          <p:cNvPicPr>
            <a:picLocks noChangeAspect="1"/>
          </p:cNvPicPr>
          <p:nvPr/>
        </p:nvPicPr>
        <p:blipFill>
          <a:blip r:embed="rId4"/>
          <a:stretch>
            <a:fillRect/>
          </a:stretch>
        </p:blipFill>
        <p:spPr>
          <a:xfrm>
            <a:off x="7168896" y="2916936"/>
            <a:ext cx="475488" cy="475488"/>
          </a:xfrm>
          <a:prstGeom prst="rect">
            <a:avLst/>
          </a:prstGeom>
        </p:spPr>
      </p:pic>
      <p:sp>
        <p:nvSpPr>
          <p:cNvPr id="18" name="Text 11"/>
          <p:cNvSpPr txBox="1"/>
          <p:nvPr/>
        </p:nvSpPr>
        <p:spPr>
          <a:xfrm>
            <a:off x="6537960" y="3685032"/>
            <a:ext cx="1737360" cy="320040"/>
          </a:xfrm>
          <a:prstGeom prst="rect">
            <a:avLst/>
          </a:prstGeom>
          <a:noFill/>
          <a:ln/>
        </p:spPr>
        <p:txBody>
          <a:bodyPr wrap="square" lIns="0" tIns="0" rIns="0" bIns="0" rtlCol="0" anchor="t"/>
          <a:lstStyle/>
          <a:p>
            <a:pPr algn="ctr" indent="0" marL="0">
              <a:buNone/>
            </a:pPr>
            <a:r>
              <a:rPr lang="en-US" sz="1500" b="1" dirty="0">
                <a:solidFill>
                  <a:srgbClr val="14302A"/>
                </a:solidFill>
              </a:rPr>
              <a:t>Open Food Facts</a:t>
            </a:r>
            <a:endParaRPr lang="en-US" sz="1500" dirty="0"/>
          </a:p>
        </p:txBody>
      </p:sp>
      <p:sp>
        <p:nvSpPr>
          <p:cNvPr id="19" name="Text 12"/>
          <p:cNvSpPr txBox="1"/>
          <p:nvPr/>
        </p:nvSpPr>
        <p:spPr>
          <a:xfrm>
            <a:off x="6537960" y="3995928"/>
            <a:ext cx="1737360" cy="274320"/>
          </a:xfrm>
          <a:prstGeom prst="rect">
            <a:avLst/>
          </a:prstGeom>
          <a:noFill/>
          <a:ln/>
        </p:spPr>
        <p:txBody>
          <a:bodyPr wrap="square" lIns="0" tIns="0" rIns="0" bIns="0" rtlCol="0" anchor="t"/>
          <a:lstStyle/>
          <a:p>
            <a:pPr algn="ctr" indent="0" marL="0">
              <a:buNone/>
            </a:pPr>
            <a:r>
              <a:rPr lang="en-US" sz="1100" dirty="0">
                <a:solidFill>
                  <a:srgbClr val="4A5A52"/>
                </a:solidFill>
              </a:rPr>
              <a:t>real products</a:t>
            </a:r>
            <a:endParaRPr lang="en-US" sz="1100" dirty="0"/>
          </a:p>
        </p:txBody>
      </p:sp>
      <p:sp>
        <p:nvSpPr>
          <p:cNvPr id="20" name="arch-claude-circle"/>
          <p:cNvSpPr/>
          <p:nvPr/>
        </p:nvSpPr>
        <p:spPr>
          <a:xfrm>
            <a:off x="5349240" y="3246120"/>
            <a:ext cx="914400" cy="914400"/>
          </a:xfrm>
          <a:prstGeom prst="ellipse">
            <a:avLst/>
          </a:prstGeom>
          <a:solidFill>
            <a:srgbClr val="E7EFE9"/>
          </a:solidFill>
          <a:ln w="12700">
            <a:solidFill>
              <a:srgbClr val="E7EFE9"/>
            </a:solidFill>
            <a:prstDash val="solid"/>
          </a:ln>
        </p:spPr>
      </p:sp>
      <p:pic>
        <p:nvPicPr>
          <p:cNvPr id="21" name="arch-claude-icon" descr="preencoded.png">    </p:cNvPr>
          <p:cNvPicPr>
            <a:picLocks noChangeAspect="1"/>
          </p:cNvPicPr>
          <p:nvPr/>
        </p:nvPicPr>
        <p:blipFill>
          <a:blip r:embed="rId5"/>
          <a:stretch>
            <a:fillRect/>
          </a:stretch>
        </p:blipFill>
        <p:spPr>
          <a:xfrm>
            <a:off x="5568696" y="3465576"/>
            <a:ext cx="475488" cy="475488"/>
          </a:xfrm>
          <a:prstGeom prst="rect">
            <a:avLst/>
          </a:prstGeom>
        </p:spPr>
      </p:pic>
      <p:sp>
        <p:nvSpPr>
          <p:cNvPr id="22" name="Text 14"/>
          <p:cNvSpPr txBox="1"/>
          <p:nvPr/>
        </p:nvSpPr>
        <p:spPr>
          <a:xfrm>
            <a:off x="4937760" y="4233672"/>
            <a:ext cx="1737360" cy="320040"/>
          </a:xfrm>
          <a:prstGeom prst="rect">
            <a:avLst/>
          </a:prstGeom>
          <a:noFill/>
          <a:ln/>
        </p:spPr>
        <p:txBody>
          <a:bodyPr wrap="square" lIns="0" tIns="0" rIns="0" bIns="0" rtlCol="0" anchor="t"/>
          <a:lstStyle/>
          <a:p>
            <a:pPr algn="ctr" indent="0" marL="0">
              <a:buNone/>
            </a:pPr>
            <a:r>
              <a:rPr lang="en-US" sz="1500" b="1" dirty="0">
                <a:solidFill>
                  <a:srgbClr val="14302A"/>
                </a:solidFill>
              </a:rPr>
              <a:t>Claude</a:t>
            </a:r>
            <a:endParaRPr lang="en-US" sz="1500" dirty="0"/>
          </a:p>
        </p:txBody>
      </p:sp>
      <p:sp>
        <p:nvSpPr>
          <p:cNvPr id="23" name="Text 15"/>
          <p:cNvSpPr txBox="1"/>
          <p:nvPr/>
        </p:nvSpPr>
        <p:spPr>
          <a:xfrm>
            <a:off x="4937760" y="4544568"/>
            <a:ext cx="1737360" cy="274320"/>
          </a:xfrm>
          <a:prstGeom prst="rect">
            <a:avLst/>
          </a:prstGeom>
          <a:noFill/>
          <a:ln/>
        </p:spPr>
        <p:txBody>
          <a:bodyPr wrap="square" lIns="0" tIns="0" rIns="0" bIns="0" rtlCol="0" anchor="t"/>
          <a:lstStyle/>
          <a:p>
            <a:pPr algn="ctr" indent="0" marL="0">
              <a:buNone/>
            </a:pPr>
            <a:r>
              <a:rPr lang="en-US" sz="1100" dirty="0">
                <a:solidFill>
                  <a:srgbClr val="4A5A52"/>
                </a:solidFill>
              </a:rPr>
              <a:t>AI answers</a:t>
            </a:r>
            <a:endParaRPr lang="en-US" sz="1100" dirty="0"/>
          </a:p>
        </p:txBody>
      </p:sp>
      <p:sp>
        <p:nvSpPr>
          <p:cNvPr id="24" name="arrow-react-api"/>
          <p:cNvSpPr/>
          <p:nvPr/>
        </p:nvSpPr>
        <p:spPr>
          <a:xfrm>
            <a:off x="1920240" y="2377440"/>
            <a:ext cx="1463040" cy="0"/>
          </a:xfrm>
          <a:prstGeom prst="line">
            <a:avLst/>
          </a:prstGeom>
          <a:noFill/>
          <a:ln w="28575">
            <a:solidFill>
              <a:srgbClr val="1F7A4D"/>
            </a:solidFill>
            <a:prstDash val="solid"/>
            <a:tailEnd type="triangle"/>
          </a:ln>
        </p:spPr>
      </p:sp>
      <p:sp>
        <p:nvSpPr>
          <p:cNvPr id="25" name="arrow-api-data"/>
          <p:cNvSpPr/>
          <p:nvPr/>
        </p:nvSpPr>
        <p:spPr>
          <a:xfrm flipV="1">
            <a:off x="4572000" y="1600200"/>
            <a:ext cx="2240280" cy="548640"/>
          </a:xfrm>
          <a:prstGeom prst="line">
            <a:avLst/>
          </a:prstGeom>
          <a:noFill/>
          <a:ln w="28575">
            <a:solidFill>
              <a:srgbClr val="1F7A4D"/>
            </a:solidFill>
            <a:prstDash val="solid"/>
            <a:tailEnd type="triangle"/>
          </a:ln>
        </p:spPr>
      </p:sp>
      <p:sp>
        <p:nvSpPr>
          <p:cNvPr id="26" name="arrow-api-off"/>
          <p:cNvSpPr/>
          <p:nvPr/>
        </p:nvSpPr>
        <p:spPr>
          <a:xfrm>
            <a:off x="4572000" y="2606040"/>
            <a:ext cx="2240280" cy="548640"/>
          </a:xfrm>
          <a:prstGeom prst="line">
            <a:avLst/>
          </a:prstGeom>
          <a:noFill/>
          <a:ln w="28575">
            <a:solidFill>
              <a:srgbClr val="1F7A4D"/>
            </a:solidFill>
            <a:prstDash val="solid"/>
            <a:tailEnd type="triangle"/>
          </a:ln>
        </p:spPr>
      </p:sp>
      <p:sp>
        <p:nvSpPr>
          <p:cNvPr id="27" name="arrow-api-claude"/>
          <p:cNvSpPr/>
          <p:nvPr/>
        </p:nvSpPr>
        <p:spPr>
          <a:xfrm>
            <a:off x="4343400" y="2834640"/>
            <a:ext cx="914400" cy="685800"/>
          </a:xfrm>
          <a:prstGeom prst="line">
            <a:avLst/>
          </a:prstGeom>
          <a:noFill/>
          <a:ln w="28575">
            <a:solidFill>
              <a:srgbClr val="1F7A4D"/>
            </a:solidFill>
            <a:prstDash val="solid"/>
            <a:tailEnd type="triangle"/>
          </a:ln>
        </p:spPr>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[Model name]: what it does</a:t>
            </a:r>
            <a:endParaRPr lang="en-US" sz="3000" dirty="0"/>
          </a:p>
        </p:txBody>
      </p:sp>
      <p:sp>
        <p:nvSpPr>
          <p:cNvPr id="4" name="model-1-visual-area"/>
          <p:cNvSpPr/>
          <p:nvPr/>
        </p:nvSpPr>
        <p:spPr>
          <a:xfrm>
            <a:off x="457200" y="1188720"/>
            <a:ext cx="5120640" cy="3291840"/>
          </a:xfrm>
          <a:prstGeom prst="roundRect">
            <a:avLst>
              <a:gd name="adj" fmla="val 3333"/>
            </a:avLst>
          </a:prstGeom>
          <a:solidFill>
            <a:srgbClr val="E7EFE9"/>
          </a:solidFill>
          <a:ln w="15875">
            <a:solidFill>
              <a:srgbClr val="1F7A4D"/>
            </a:solidFill>
            <a:prstDash val="dash"/>
          </a:ln>
        </p:spPr>
      </p:sp>
      <p:pic>
        <p:nvPicPr>
          <p:cNvPr id="5" name="model-1-visual-icon" descr="preencoded.png">    </p:cNvPr>
          <p:cNvPicPr>
            <a:picLocks noChangeAspect="1"/>
          </p:cNvPicPr>
          <p:nvPr/>
        </p:nvPicPr>
        <p:blipFill>
          <a:blip r:embed="rId1"/>
          <a:stretch>
            <a:fillRect/>
          </a:stretch>
        </p:blipFill>
        <p:spPr>
          <a:xfrm>
            <a:off x="2697480" y="2148840"/>
            <a:ext cx="640080" cy="640080"/>
          </a:xfrm>
          <a:prstGeom prst="rect">
            <a:avLst/>
          </a:prstGeom>
        </p:spPr>
      </p:pic>
      <p:sp>
        <p:nvSpPr>
          <p:cNvPr id="6" name="Text 2"/>
          <p:cNvSpPr txBox="1"/>
          <p:nvPr/>
        </p:nvSpPr>
        <p:spPr>
          <a:xfrm>
            <a:off x="822960" y="2926080"/>
            <a:ext cx="4389120" cy="548640"/>
          </a:xfrm>
          <a:prstGeom prst="rect">
            <a:avLst/>
          </a:prstGeom>
          <a:noFill/>
          <a:ln/>
        </p:spPr>
        <p:txBody>
          <a:bodyPr wrap="square" lIns="0" tIns="0" rIns="0" bIns="0" rtlCol="0" anchor="t"/>
          <a:lstStyle/>
          <a:p>
            <a:pPr algn="ctr" indent="0" marL="0">
              <a:buNone/>
            </a:pPr>
            <a:r>
              <a:rPr lang="en-US" sz="1400" dirty="0">
                <a:solidFill>
                  <a:srgbClr val="1F7A4D"/>
                </a:solidFill>
              </a:rPr>
              <a:t>Replace with a diagram, chart or screenshot of the model</a:t>
            </a:r>
            <a:endParaRPr lang="en-US" sz="1400" dirty="0"/>
          </a:p>
        </p:txBody>
      </p:sp>
      <p:sp>
        <p:nvSpPr>
          <p:cNvPr id="7" name="model-1-point-1-circle"/>
          <p:cNvSpPr/>
          <p:nvPr/>
        </p:nvSpPr>
        <p:spPr>
          <a:xfrm>
            <a:off x="5989320" y="1371600"/>
            <a:ext cx="548640" cy="548640"/>
          </a:xfrm>
          <a:prstGeom prst="ellipse">
            <a:avLst/>
          </a:prstGeom>
          <a:solidFill>
            <a:srgbClr val="1F7A4D"/>
          </a:solidFill>
          <a:ln w="12700">
            <a:solidFill>
              <a:srgbClr val="1F7A4D"/>
            </a:solidFill>
            <a:prstDash val="solid"/>
          </a:ln>
        </p:spPr>
      </p:sp>
      <p:pic>
        <p:nvPicPr>
          <p:cNvPr id="8" name="model-1-point-1-icon" descr="preencoded.png">    </p:cNvPr>
          <p:cNvPicPr>
            <a:picLocks noChangeAspect="1"/>
          </p:cNvPicPr>
          <p:nvPr/>
        </p:nvPicPr>
        <p:blipFill>
          <a:blip r:embed="rId2"/>
          <a:stretch>
            <a:fillRect/>
          </a:stretch>
        </p:blipFill>
        <p:spPr>
          <a:xfrm>
            <a:off x="6120994" y="1503274"/>
            <a:ext cx="285293" cy="285293"/>
          </a:xfrm>
          <a:prstGeom prst="rect">
            <a:avLst/>
          </a:prstGeom>
        </p:spPr>
      </p:pic>
      <p:sp>
        <p:nvSpPr>
          <p:cNvPr id="9" name="Text 4"/>
          <p:cNvSpPr txBox="1"/>
          <p:nvPr/>
        </p:nvSpPr>
        <p:spPr>
          <a:xfrm>
            <a:off x="6675120" y="1371600"/>
            <a:ext cx="2011680" cy="548640"/>
          </a:xfrm>
          <a:prstGeom prst="rect">
            <a:avLst/>
          </a:prstGeom>
          <a:noFill/>
          <a:ln/>
        </p:spPr>
        <p:txBody>
          <a:bodyPr wrap="square" lIns="0" tIns="0" rIns="0" bIns="0" rtlCol="0" anchor="ctr"/>
          <a:lstStyle/>
          <a:p>
            <a:pPr indent="0" marL="0">
              <a:buNone/>
            </a:pPr>
            <a:r>
              <a:rPr lang="en-US" sz="1500" b="1" dirty="0">
                <a:solidFill>
                  <a:srgbClr val="14302A"/>
                </a:solidFill>
              </a:rPr>
              <a:t>[Input: what goes in]</a:t>
            </a:r>
            <a:endParaRPr lang="en-US" sz="1500" dirty="0"/>
          </a:p>
        </p:txBody>
      </p:sp>
      <p:sp>
        <p:nvSpPr>
          <p:cNvPr id="10" name="model-1-point-2-circle"/>
          <p:cNvSpPr/>
          <p:nvPr/>
        </p:nvSpPr>
        <p:spPr>
          <a:xfrm>
            <a:off x="5989320" y="2423160"/>
            <a:ext cx="548640" cy="548640"/>
          </a:xfrm>
          <a:prstGeom prst="ellipse">
            <a:avLst/>
          </a:prstGeom>
          <a:solidFill>
            <a:srgbClr val="1F7A4D"/>
          </a:solidFill>
          <a:ln w="12700">
            <a:solidFill>
              <a:srgbClr val="1F7A4D"/>
            </a:solidFill>
            <a:prstDash val="solid"/>
          </a:ln>
        </p:spPr>
      </p:sp>
      <p:pic>
        <p:nvPicPr>
          <p:cNvPr id="11" name="model-1-point-2-icon" descr="preencoded.png">    </p:cNvPr>
          <p:cNvPicPr>
            <a:picLocks noChangeAspect="1"/>
          </p:cNvPicPr>
          <p:nvPr/>
        </p:nvPicPr>
        <p:blipFill>
          <a:blip r:embed="rId3"/>
          <a:stretch>
            <a:fillRect/>
          </a:stretch>
        </p:blipFill>
        <p:spPr>
          <a:xfrm>
            <a:off x="6120994" y="2554834"/>
            <a:ext cx="285293" cy="285293"/>
          </a:xfrm>
          <a:prstGeom prst="rect">
            <a:avLst/>
          </a:prstGeom>
        </p:spPr>
      </p:pic>
      <p:sp>
        <p:nvSpPr>
          <p:cNvPr id="12" name="Text 6"/>
          <p:cNvSpPr txBox="1"/>
          <p:nvPr/>
        </p:nvSpPr>
        <p:spPr>
          <a:xfrm>
            <a:off x="6675120" y="2423160"/>
            <a:ext cx="2011680" cy="548640"/>
          </a:xfrm>
          <a:prstGeom prst="rect">
            <a:avLst/>
          </a:prstGeom>
          <a:noFill/>
          <a:ln/>
        </p:spPr>
        <p:txBody>
          <a:bodyPr wrap="square" lIns="0" tIns="0" rIns="0" bIns="0" rtlCol="0" anchor="ctr"/>
          <a:lstStyle/>
          <a:p>
            <a:pPr indent="0" marL="0">
              <a:buNone/>
            </a:pPr>
            <a:r>
              <a:rPr lang="en-US" sz="1500" b="1" dirty="0">
                <a:solidFill>
                  <a:srgbClr val="14302A"/>
                </a:solidFill>
              </a:rPr>
              <a:t>[Output: what comes out]</a:t>
            </a:r>
            <a:endParaRPr lang="en-US" sz="1500" dirty="0"/>
          </a:p>
        </p:txBody>
      </p:sp>
      <p:sp>
        <p:nvSpPr>
          <p:cNvPr id="13" name="model-1-point-3-circle"/>
          <p:cNvSpPr/>
          <p:nvPr/>
        </p:nvSpPr>
        <p:spPr>
          <a:xfrm>
            <a:off x="5989320" y="3474720"/>
            <a:ext cx="548640" cy="548640"/>
          </a:xfrm>
          <a:prstGeom prst="ellipse">
            <a:avLst/>
          </a:prstGeom>
          <a:solidFill>
            <a:srgbClr val="1F7A4D"/>
          </a:solidFill>
          <a:ln w="12700">
            <a:solidFill>
              <a:srgbClr val="1F7A4D"/>
            </a:solidFill>
            <a:prstDash val="solid"/>
          </a:ln>
        </p:spPr>
      </p:sp>
      <p:pic>
        <p:nvPicPr>
          <p:cNvPr id="14" name="model-1-point-3-icon" descr="preencoded.png">    </p:cNvPr>
          <p:cNvPicPr>
            <a:picLocks noChangeAspect="1"/>
          </p:cNvPicPr>
          <p:nvPr/>
        </p:nvPicPr>
        <p:blipFill>
          <a:blip r:embed="rId4"/>
          <a:stretch>
            <a:fillRect/>
          </a:stretch>
        </p:blipFill>
        <p:spPr>
          <a:xfrm>
            <a:off x="6120994" y="3606394"/>
            <a:ext cx="285293" cy="285293"/>
          </a:xfrm>
          <a:prstGeom prst="rect">
            <a:avLst/>
          </a:prstGeom>
        </p:spPr>
      </p:pic>
      <p:sp>
        <p:nvSpPr>
          <p:cNvPr id="15" name="Text 8"/>
          <p:cNvSpPr txBox="1"/>
          <p:nvPr/>
        </p:nvSpPr>
        <p:spPr>
          <a:xfrm>
            <a:off x="6675120" y="3474720"/>
            <a:ext cx="2011680" cy="548640"/>
          </a:xfrm>
          <a:prstGeom prst="rect">
            <a:avLst/>
          </a:prstGeom>
          <a:noFill/>
          <a:ln/>
        </p:spPr>
        <p:txBody>
          <a:bodyPr wrap="square" lIns="0" tIns="0" rIns="0" bIns="0" rtlCol="0" anchor="ctr"/>
          <a:lstStyle/>
          <a:p>
            <a:pPr indent="0" marL="0">
              <a:buNone/>
            </a:pPr>
            <a:r>
              <a:rPr lang="en-US" sz="1500" b="1" dirty="0">
                <a:solidFill>
                  <a:srgbClr val="14302A"/>
                </a:solidFill>
              </a:rPr>
              <a:t>[Why it helps shoppers]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How the model works</a:t>
            </a:r>
            <a:endParaRPr lang="en-US" sz="3000" dirty="0"/>
          </a:p>
        </p:txBody>
      </p:sp>
      <p:sp>
        <p:nvSpPr>
          <p:cNvPr id="4" name="model-2-visual-area"/>
          <p:cNvSpPr/>
          <p:nvPr/>
        </p:nvSpPr>
        <p:spPr>
          <a:xfrm>
            <a:off x="457200" y="1188720"/>
            <a:ext cx="5120640" cy="3291840"/>
          </a:xfrm>
          <a:prstGeom prst="roundRect">
            <a:avLst>
              <a:gd name="adj" fmla="val 3333"/>
            </a:avLst>
          </a:prstGeom>
          <a:solidFill>
            <a:srgbClr val="E7EFE9"/>
          </a:solidFill>
          <a:ln w="15875">
            <a:solidFill>
              <a:srgbClr val="1F7A4D"/>
            </a:solidFill>
            <a:prstDash val="dash"/>
          </a:ln>
        </p:spPr>
      </p:sp>
      <p:pic>
        <p:nvPicPr>
          <p:cNvPr id="5" name="model-2-visual-icon" descr="preencoded.png">    </p:cNvPr>
          <p:cNvPicPr>
            <a:picLocks noChangeAspect="1"/>
          </p:cNvPicPr>
          <p:nvPr/>
        </p:nvPicPr>
        <p:blipFill>
          <a:blip r:embed="rId1"/>
          <a:stretch>
            <a:fillRect/>
          </a:stretch>
        </p:blipFill>
        <p:spPr>
          <a:xfrm>
            <a:off x="2697480" y="2148840"/>
            <a:ext cx="640080" cy="640080"/>
          </a:xfrm>
          <a:prstGeom prst="rect">
            <a:avLst/>
          </a:prstGeom>
        </p:spPr>
      </p:pic>
      <p:sp>
        <p:nvSpPr>
          <p:cNvPr id="6" name="Text 2"/>
          <p:cNvSpPr txBox="1"/>
          <p:nvPr/>
        </p:nvSpPr>
        <p:spPr>
          <a:xfrm>
            <a:off x="822960" y="2926080"/>
            <a:ext cx="4389120" cy="548640"/>
          </a:xfrm>
          <a:prstGeom prst="rect">
            <a:avLst/>
          </a:prstGeom>
          <a:noFill/>
          <a:ln/>
        </p:spPr>
        <p:txBody>
          <a:bodyPr wrap="square" lIns="0" tIns="0" rIns="0" bIns="0" rtlCol="0" anchor="t"/>
          <a:lstStyle/>
          <a:p>
            <a:pPr algn="ctr" indent="0" marL="0">
              <a:buNone/>
            </a:pPr>
            <a:r>
              <a:rPr lang="en-US" sz="1400" dirty="0">
                <a:solidFill>
                  <a:srgbClr val="1F7A4D"/>
                </a:solidFill>
              </a:rPr>
              <a:t>Replace with the model's steps or architecture</a:t>
            </a:r>
            <a:endParaRPr lang="en-US" sz="1400" dirty="0"/>
          </a:p>
        </p:txBody>
      </p:sp>
      <p:sp>
        <p:nvSpPr>
          <p:cNvPr id="7" name="model-2-point-1-circle"/>
          <p:cNvSpPr/>
          <p:nvPr/>
        </p:nvSpPr>
        <p:spPr>
          <a:xfrm>
            <a:off x="5989320" y="1371600"/>
            <a:ext cx="548640" cy="548640"/>
          </a:xfrm>
          <a:prstGeom prst="ellipse">
            <a:avLst/>
          </a:prstGeom>
          <a:solidFill>
            <a:srgbClr val="1F7A4D"/>
          </a:solidFill>
          <a:ln w="12700">
            <a:solidFill>
              <a:srgbClr val="1F7A4D"/>
            </a:solidFill>
            <a:prstDash val="solid"/>
          </a:ln>
        </p:spPr>
      </p:sp>
      <p:pic>
        <p:nvPicPr>
          <p:cNvPr id="8" name="model-2-point-1-icon" descr="preencoded.png">    </p:cNvPr>
          <p:cNvPicPr>
            <a:picLocks noChangeAspect="1"/>
          </p:cNvPicPr>
          <p:nvPr/>
        </p:nvPicPr>
        <p:blipFill>
          <a:blip r:embed="rId2"/>
          <a:stretch>
            <a:fillRect/>
          </a:stretch>
        </p:blipFill>
        <p:spPr>
          <a:xfrm>
            <a:off x="6120994" y="1503274"/>
            <a:ext cx="285293" cy="285293"/>
          </a:xfrm>
          <a:prstGeom prst="rect">
            <a:avLst/>
          </a:prstGeom>
        </p:spPr>
      </p:pic>
      <p:sp>
        <p:nvSpPr>
          <p:cNvPr id="9" name="Text 4"/>
          <p:cNvSpPr txBox="1"/>
          <p:nvPr/>
        </p:nvSpPr>
        <p:spPr>
          <a:xfrm>
            <a:off x="6675120" y="1371600"/>
            <a:ext cx="2011680" cy="548640"/>
          </a:xfrm>
          <a:prstGeom prst="rect">
            <a:avLst/>
          </a:prstGeom>
          <a:noFill/>
          <a:ln/>
        </p:spPr>
        <p:txBody>
          <a:bodyPr wrap="square" lIns="0" tIns="0" rIns="0" bIns="0" rtlCol="0" anchor="ctr"/>
          <a:lstStyle/>
          <a:p>
            <a:pPr indent="0" marL="0">
              <a:buNone/>
            </a:pPr>
            <a:r>
              <a:rPr lang="en-US" sz="1500" b="1" dirty="0">
                <a:solidFill>
                  <a:srgbClr val="14302A"/>
                </a:solidFill>
              </a:rPr>
              <a:t>[Step 1]</a:t>
            </a:r>
            <a:endParaRPr lang="en-US" sz="1500" dirty="0"/>
          </a:p>
        </p:txBody>
      </p:sp>
      <p:sp>
        <p:nvSpPr>
          <p:cNvPr id="10" name="model-2-point-2-circle"/>
          <p:cNvSpPr/>
          <p:nvPr/>
        </p:nvSpPr>
        <p:spPr>
          <a:xfrm>
            <a:off x="5989320" y="2423160"/>
            <a:ext cx="548640" cy="548640"/>
          </a:xfrm>
          <a:prstGeom prst="ellipse">
            <a:avLst/>
          </a:prstGeom>
          <a:solidFill>
            <a:srgbClr val="1F7A4D"/>
          </a:solidFill>
          <a:ln w="12700">
            <a:solidFill>
              <a:srgbClr val="1F7A4D"/>
            </a:solidFill>
            <a:prstDash val="solid"/>
          </a:ln>
        </p:spPr>
      </p:sp>
      <p:pic>
        <p:nvPicPr>
          <p:cNvPr id="11" name="model-2-point-2-icon" descr="preencoded.png">    </p:cNvPr>
          <p:cNvPicPr>
            <a:picLocks noChangeAspect="1"/>
          </p:cNvPicPr>
          <p:nvPr/>
        </p:nvPicPr>
        <p:blipFill>
          <a:blip r:embed="rId3"/>
          <a:stretch>
            <a:fillRect/>
          </a:stretch>
        </p:blipFill>
        <p:spPr>
          <a:xfrm>
            <a:off x="6120994" y="2554834"/>
            <a:ext cx="285293" cy="285293"/>
          </a:xfrm>
          <a:prstGeom prst="rect">
            <a:avLst/>
          </a:prstGeom>
        </p:spPr>
      </p:pic>
      <p:sp>
        <p:nvSpPr>
          <p:cNvPr id="12" name="Text 6"/>
          <p:cNvSpPr txBox="1"/>
          <p:nvPr/>
        </p:nvSpPr>
        <p:spPr>
          <a:xfrm>
            <a:off x="6675120" y="2423160"/>
            <a:ext cx="2011680" cy="548640"/>
          </a:xfrm>
          <a:prstGeom prst="rect">
            <a:avLst/>
          </a:prstGeom>
          <a:noFill/>
          <a:ln/>
        </p:spPr>
        <p:txBody>
          <a:bodyPr wrap="square" lIns="0" tIns="0" rIns="0" bIns="0" rtlCol="0" anchor="ctr"/>
          <a:lstStyle/>
          <a:p>
            <a:pPr indent="0" marL="0">
              <a:buNone/>
            </a:pPr>
            <a:r>
              <a:rPr lang="en-US" sz="1500" b="1" dirty="0">
                <a:solidFill>
                  <a:srgbClr val="14302A"/>
                </a:solidFill>
              </a:rPr>
              <a:t>[Step 2]</a:t>
            </a:r>
            <a:endParaRPr lang="en-US" sz="1500" dirty="0"/>
          </a:p>
        </p:txBody>
      </p:sp>
      <p:sp>
        <p:nvSpPr>
          <p:cNvPr id="13" name="model-2-point-3-circle"/>
          <p:cNvSpPr/>
          <p:nvPr/>
        </p:nvSpPr>
        <p:spPr>
          <a:xfrm>
            <a:off x="5989320" y="3474720"/>
            <a:ext cx="548640" cy="548640"/>
          </a:xfrm>
          <a:prstGeom prst="ellipse">
            <a:avLst/>
          </a:prstGeom>
          <a:solidFill>
            <a:srgbClr val="1F7A4D"/>
          </a:solidFill>
          <a:ln w="12700">
            <a:solidFill>
              <a:srgbClr val="1F7A4D"/>
            </a:solidFill>
            <a:prstDash val="solid"/>
          </a:ln>
        </p:spPr>
      </p:sp>
      <p:pic>
        <p:nvPicPr>
          <p:cNvPr id="14" name="model-2-point-3-icon" descr="preencoded.png">    </p:cNvPr>
          <p:cNvPicPr>
            <a:picLocks noChangeAspect="1"/>
          </p:cNvPicPr>
          <p:nvPr/>
        </p:nvPicPr>
        <p:blipFill>
          <a:blip r:embed="rId4"/>
          <a:stretch>
            <a:fillRect/>
          </a:stretch>
        </p:blipFill>
        <p:spPr>
          <a:xfrm>
            <a:off x="6120994" y="3606394"/>
            <a:ext cx="285293" cy="285293"/>
          </a:xfrm>
          <a:prstGeom prst="rect">
            <a:avLst/>
          </a:prstGeom>
        </p:spPr>
      </p:pic>
      <p:sp>
        <p:nvSpPr>
          <p:cNvPr id="15" name="Text 8"/>
          <p:cNvSpPr txBox="1"/>
          <p:nvPr/>
        </p:nvSpPr>
        <p:spPr>
          <a:xfrm>
            <a:off x="6675120" y="3474720"/>
            <a:ext cx="2011680" cy="548640"/>
          </a:xfrm>
          <a:prstGeom prst="rect">
            <a:avLst/>
          </a:prstGeom>
          <a:noFill/>
          <a:ln/>
        </p:spPr>
        <p:txBody>
          <a:bodyPr wrap="square" lIns="0" tIns="0" rIns="0" bIns="0" rtlCol="0" anchor="ctr"/>
          <a:lstStyle/>
          <a:p>
            <a:pPr indent="0" marL="0">
              <a:buNone/>
            </a:pPr>
            <a:r>
              <a:rPr lang="en-US" sz="1500" b="1" dirty="0">
                <a:solidFill>
                  <a:srgbClr val="14302A"/>
                </a:solidFill>
              </a:rPr>
              <a:t>[Result or accuracy]</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118 products, honestly labelled</a:t>
            </a:r>
            <a:endParaRPr lang="en-US" sz="3000" dirty="0"/>
          </a:p>
        </p:txBody>
      </p:sp>
      <p:sp>
        <p:nvSpPr>
          <p:cNvPr id="4" name="Text 1"/>
          <p:cNvSpPr txBox="1"/>
          <p:nvPr/>
        </p:nvSpPr>
        <p:spPr>
          <a:xfrm>
            <a:off x="457200" y="1234440"/>
            <a:ext cx="1280160" cy="731520"/>
          </a:xfrm>
          <a:prstGeom prst="rect">
            <a:avLst/>
          </a:prstGeom>
          <a:noFill/>
          <a:ln/>
        </p:spPr>
        <p:txBody>
          <a:bodyPr wrap="square" lIns="0" tIns="0" rIns="0" bIns="0" rtlCol="0" anchor="t"/>
          <a:lstStyle/>
          <a:p>
            <a:pPr indent="0" marL="0">
              <a:buNone/>
            </a:pPr>
            <a:r>
              <a:rPr lang="en-US" sz="4400" b="1" dirty="0">
                <a:solidFill>
                  <a:srgbClr val="14302A"/>
                </a:solidFill>
                <a:latin typeface="Cambria" pitchFamily="34" charset="0"/>
                <a:ea typeface="Cambria" pitchFamily="34" charset="-122"/>
                <a:cs typeface="Cambria" pitchFamily="34" charset="-120"/>
              </a:rPr>
              <a:t>46</a:t>
            </a:r>
            <a:endParaRPr lang="en-US" sz="4400" dirty="0"/>
          </a:p>
        </p:txBody>
      </p:sp>
      <p:sp>
        <p:nvSpPr>
          <p:cNvPr id="5" name="Text 2"/>
          <p:cNvSpPr txBox="1"/>
          <p:nvPr/>
        </p:nvSpPr>
        <p:spPr>
          <a:xfrm>
            <a:off x="1783080" y="1417320"/>
            <a:ext cx="1463040" cy="411480"/>
          </a:xfrm>
          <a:prstGeom prst="rect">
            <a:avLst/>
          </a:prstGeom>
          <a:noFill/>
          <a:ln/>
        </p:spPr>
        <p:txBody>
          <a:bodyPr wrap="square" lIns="0" tIns="0" rIns="0" bIns="0" rtlCol="0" anchor="t"/>
          <a:lstStyle/>
          <a:p>
            <a:pPr indent="0" marL="0">
              <a:buNone/>
            </a:pPr>
            <a:r>
              <a:rPr lang="en-US" sz="1500" dirty="0">
                <a:solidFill>
                  <a:srgbClr val="4A5A52"/>
                </a:solidFill>
              </a:rPr>
              <a:t>demo products</a:t>
            </a:r>
            <a:endParaRPr lang="en-US" sz="1500" dirty="0"/>
          </a:p>
        </p:txBody>
      </p:sp>
      <p:sp>
        <p:nvSpPr>
          <p:cNvPr id="6" name="Text 3"/>
          <p:cNvSpPr txBox="1"/>
          <p:nvPr/>
        </p:nvSpPr>
        <p:spPr>
          <a:xfrm>
            <a:off x="457200" y="2331720"/>
            <a:ext cx="1280160" cy="731520"/>
          </a:xfrm>
          <a:prstGeom prst="rect">
            <a:avLst/>
          </a:prstGeom>
          <a:noFill/>
          <a:ln/>
        </p:spPr>
        <p:txBody>
          <a:bodyPr wrap="square" lIns="0" tIns="0" rIns="0" bIns="0" rtlCol="0" anchor="t"/>
          <a:lstStyle/>
          <a:p>
            <a:pPr indent="0" marL="0">
              <a:buNone/>
            </a:pPr>
            <a:r>
              <a:rPr lang="en-US" sz="4400" b="1" dirty="0">
                <a:solidFill>
                  <a:srgbClr val="1F7A4D"/>
                </a:solidFill>
                <a:latin typeface="Cambria" pitchFamily="34" charset="0"/>
                <a:ea typeface="Cambria" pitchFamily="34" charset="-122"/>
                <a:cs typeface="Cambria" pitchFamily="34" charset="-120"/>
              </a:rPr>
              <a:t>72</a:t>
            </a:r>
            <a:endParaRPr lang="en-US" sz="4400" dirty="0"/>
          </a:p>
        </p:txBody>
      </p:sp>
      <p:sp>
        <p:nvSpPr>
          <p:cNvPr id="7" name="Text 4"/>
          <p:cNvSpPr txBox="1"/>
          <p:nvPr/>
        </p:nvSpPr>
        <p:spPr>
          <a:xfrm>
            <a:off x="1783080" y="2514600"/>
            <a:ext cx="1463040" cy="411480"/>
          </a:xfrm>
          <a:prstGeom prst="rect">
            <a:avLst/>
          </a:prstGeom>
          <a:noFill/>
          <a:ln/>
        </p:spPr>
        <p:txBody>
          <a:bodyPr wrap="square" lIns="0" tIns="0" rIns="0" bIns="0" rtlCol="0" anchor="t"/>
          <a:lstStyle/>
          <a:p>
            <a:pPr indent="0" marL="0">
              <a:buNone/>
            </a:pPr>
            <a:r>
              <a:rPr lang="en-US" sz="1500" dirty="0">
                <a:solidFill>
                  <a:srgbClr val="4A5A52"/>
                </a:solidFill>
              </a:rPr>
              <a:t>real products</a:t>
            </a:r>
            <a:endParaRPr lang="en-US" sz="1500" dirty="0"/>
          </a:p>
        </p:txBody>
      </p:sp>
      <p:sp>
        <p:nvSpPr>
          <p:cNvPr id="8" name="Text 5"/>
          <p:cNvSpPr txBox="1"/>
          <p:nvPr/>
        </p:nvSpPr>
        <p:spPr>
          <a:xfrm>
            <a:off x="457200" y="3429000"/>
            <a:ext cx="1280160" cy="731520"/>
          </a:xfrm>
          <a:prstGeom prst="rect">
            <a:avLst/>
          </a:prstGeom>
          <a:noFill/>
          <a:ln/>
        </p:spPr>
        <p:txBody>
          <a:bodyPr wrap="square" lIns="0" tIns="0" rIns="0" bIns="0" rtlCol="0" anchor="t"/>
          <a:lstStyle/>
          <a:p>
            <a:pPr indent="0" marL="0">
              <a:buNone/>
            </a:pPr>
            <a:r>
              <a:rPr lang="en-US" sz="4400" b="1" dirty="0">
                <a:solidFill>
                  <a:srgbClr val="14302A"/>
                </a:solidFill>
                <a:latin typeface="Cambria" pitchFamily="34" charset="0"/>
                <a:ea typeface="Cambria" pitchFamily="34" charset="-122"/>
                <a:cs typeface="Cambria" pitchFamily="34" charset="-120"/>
              </a:rPr>
              <a:t>10</a:t>
            </a:r>
            <a:endParaRPr lang="en-US" sz="4400" dirty="0"/>
          </a:p>
        </p:txBody>
      </p:sp>
      <p:sp>
        <p:nvSpPr>
          <p:cNvPr id="9" name="Text 6"/>
          <p:cNvSpPr txBox="1"/>
          <p:nvPr/>
        </p:nvSpPr>
        <p:spPr>
          <a:xfrm>
            <a:off x="1783080" y="3611880"/>
            <a:ext cx="1463040" cy="411480"/>
          </a:xfrm>
          <a:prstGeom prst="rect">
            <a:avLst/>
          </a:prstGeom>
          <a:noFill/>
          <a:ln/>
        </p:spPr>
        <p:txBody>
          <a:bodyPr wrap="square" lIns="0" tIns="0" rIns="0" bIns="0" rtlCol="0" anchor="t"/>
          <a:lstStyle/>
          <a:p>
            <a:pPr indent="0" marL="0">
              <a:buNone/>
            </a:pPr>
            <a:r>
              <a:rPr lang="en-US" sz="1500" dirty="0">
                <a:solidFill>
                  <a:srgbClr val="4A5A52"/>
                </a:solidFill>
              </a:rPr>
              <a:t>Regina stores</a:t>
            </a:r>
            <a:endParaRPr lang="en-US" sz="1500" dirty="0"/>
          </a:p>
        </p:txBody>
      </p:sp>
      <p:graphicFrame>
        <p:nvGraphicFramePr>
          <p:cNvPr id="10" name="known-facts-chart" descr=""/>
          <p:cNvGraphicFramePr/>
          <p:nvPr/>
        </p:nvGraphicFramePr>
        <p:xfrm>
          <a:off x="329184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Free for every shopper</a:t>
            </a:r>
            <a:endParaRPr lang="en-US" sz="3000" dirty="0"/>
          </a:p>
        </p:txBody>
      </p:sp>
      <p:sp>
        <p:nvSpPr>
          <p:cNvPr id="4" name="model-1-circle"/>
          <p:cNvSpPr/>
          <p:nvPr/>
        </p:nvSpPr>
        <p:spPr>
          <a:xfrm>
            <a:off x="1216152" y="1234440"/>
            <a:ext cx="1097280" cy="1097280"/>
          </a:xfrm>
          <a:prstGeom prst="ellipse">
            <a:avLst/>
          </a:prstGeom>
          <a:solidFill>
            <a:srgbClr val="1F7A4D"/>
          </a:solidFill>
          <a:ln w="12700">
            <a:solidFill>
              <a:srgbClr val="1F7A4D"/>
            </a:solidFill>
            <a:prstDash val="solid"/>
          </a:ln>
        </p:spPr>
      </p:sp>
      <p:pic>
        <p:nvPicPr>
          <p:cNvPr id="5" name="model-1-icon" descr="preencoded.png">    </p:cNvPr>
          <p:cNvPicPr>
            <a:picLocks noChangeAspect="1"/>
          </p:cNvPicPr>
          <p:nvPr/>
        </p:nvPicPr>
        <p:blipFill>
          <a:blip r:embed="rId1"/>
          <a:stretch>
            <a:fillRect/>
          </a:stretch>
        </p:blipFill>
        <p:spPr>
          <a:xfrm>
            <a:off x="1479499" y="1497787"/>
            <a:ext cx="570586" cy="570586"/>
          </a:xfrm>
          <a:prstGeom prst="rect">
            <a:avLst/>
          </a:prstGeom>
        </p:spPr>
      </p:pic>
      <p:sp>
        <p:nvSpPr>
          <p:cNvPr id="6" name="Text 2"/>
          <p:cNvSpPr txBox="1"/>
          <p:nvPr/>
        </p:nvSpPr>
        <p:spPr>
          <a:xfrm>
            <a:off x="457200" y="2468880"/>
            <a:ext cx="2615184" cy="411480"/>
          </a:xfrm>
          <a:prstGeom prst="rect">
            <a:avLst/>
          </a:prstGeom>
          <a:noFill/>
          <a:ln/>
        </p:spPr>
        <p:txBody>
          <a:bodyPr wrap="square" lIns="0" tIns="0" rIns="0" bIns="0" rtlCol="0" anchor="t"/>
          <a:lstStyle/>
          <a:p>
            <a:pPr algn="ctr" indent="0" marL="0">
              <a:buNone/>
            </a:pPr>
            <a:r>
              <a:rPr lang="en-US" sz="2000" b="1" dirty="0">
                <a:solidFill>
                  <a:srgbClr val="14302A"/>
                </a:solidFill>
              </a:rPr>
              <a:t>Grants</a:t>
            </a:r>
            <a:endParaRPr lang="en-US" sz="2000" dirty="0"/>
          </a:p>
        </p:txBody>
      </p:sp>
      <p:sp>
        <p:nvSpPr>
          <p:cNvPr id="7" name="Text 3"/>
          <p:cNvSpPr txBox="1"/>
          <p:nvPr/>
        </p:nvSpPr>
        <p:spPr>
          <a:xfrm>
            <a:off x="457200" y="2880360"/>
            <a:ext cx="2615184" cy="365760"/>
          </a:xfrm>
          <a:prstGeom prst="rect">
            <a:avLst/>
          </a:prstGeom>
          <a:noFill/>
          <a:ln/>
        </p:spPr>
        <p:txBody>
          <a:bodyPr wrap="square" lIns="0" tIns="0" rIns="0" bIns="0" rtlCol="0" anchor="t"/>
          <a:lstStyle/>
          <a:p>
            <a:pPr algn="ctr" indent="0" marL="0">
              <a:buNone/>
            </a:pPr>
            <a:r>
              <a:rPr lang="en-US" sz="1400" dirty="0">
                <a:solidFill>
                  <a:srgbClr val="4A5A52"/>
                </a:solidFill>
              </a:rPr>
              <a:t>Settlement &amp; city funding</a:t>
            </a:r>
            <a:endParaRPr lang="en-US" sz="1400" dirty="0"/>
          </a:p>
        </p:txBody>
      </p:sp>
      <p:sp>
        <p:nvSpPr>
          <p:cNvPr id="8" name="model-2-circle"/>
          <p:cNvSpPr/>
          <p:nvPr/>
        </p:nvSpPr>
        <p:spPr>
          <a:xfrm>
            <a:off x="4023360" y="1234440"/>
            <a:ext cx="1097280" cy="1097280"/>
          </a:xfrm>
          <a:prstGeom prst="ellipse">
            <a:avLst/>
          </a:prstGeom>
          <a:solidFill>
            <a:srgbClr val="1F7A4D"/>
          </a:solidFill>
          <a:ln w="12700">
            <a:solidFill>
              <a:srgbClr val="1F7A4D"/>
            </a:solidFill>
            <a:prstDash val="solid"/>
          </a:ln>
        </p:spPr>
      </p:sp>
      <p:pic>
        <p:nvPicPr>
          <p:cNvPr id="9" name="model-2-icon" descr="preencoded.png">    </p:cNvPr>
          <p:cNvPicPr>
            <a:picLocks noChangeAspect="1"/>
          </p:cNvPicPr>
          <p:nvPr/>
        </p:nvPicPr>
        <p:blipFill>
          <a:blip r:embed="rId2"/>
          <a:stretch>
            <a:fillRect/>
          </a:stretch>
        </p:blipFill>
        <p:spPr>
          <a:xfrm>
            <a:off x="4286707" y="1497787"/>
            <a:ext cx="570586" cy="570586"/>
          </a:xfrm>
          <a:prstGeom prst="rect">
            <a:avLst/>
          </a:prstGeom>
        </p:spPr>
      </p:pic>
      <p:sp>
        <p:nvSpPr>
          <p:cNvPr id="10" name="Text 5"/>
          <p:cNvSpPr txBox="1"/>
          <p:nvPr/>
        </p:nvSpPr>
        <p:spPr>
          <a:xfrm>
            <a:off x="3264408" y="2468880"/>
            <a:ext cx="2615184" cy="411480"/>
          </a:xfrm>
          <a:prstGeom prst="rect">
            <a:avLst/>
          </a:prstGeom>
          <a:noFill/>
          <a:ln/>
        </p:spPr>
        <p:txBody>
          <a:bodyPr wrap="square" lIns="0" tIns="0" rIns="0" bIns="0" rtlCol="0" anchor="t"/>
          <a:lstStyle/>
          <a:p>
            <a:pPr algn="ctr" indent="0" marL="0">
              <a:buNone/>
            </a:pPr>
            <a:r>
              <a:rPr lang="en-US" sz="2000" b="1" dirty="0">
                <a:solidFill>
                  <a:srgbClr val="14302A"/>
                </a:solidFill>
              </a:rPr>
              <a:t>Verified listings</a:t>
            </a:r>
            <a:endParaRPr lang="en-US" sz="2000" dirty="0"/>
          </a:p>
        </p:txBody>
      </p:sp>
      <p:sp>
        <p:nvSpPr>
          <p:cNvPr id="11" name="Text 6"/>
          <p:cNvSpPr txBox="1"/>
          <p:nvPr/>
        </p:nvSpPr>
        <p:spPr>
          <a:xfrm>
            <a:off x="3264408" y="2880360"/>
            <a:ext cx="2615184" cy="365760"/>
          </a:xfrm>
          <a:prstGeom prst="rect">
            <a:avLst/>
          </a:prstGeom>
          <a:noFill/>
          <a:ln/>
        </p:spPr>
        <p:txBody>
          <a:bodyPr wrap="square" lIns="0" tIns="0" rIns="0" bIns="0" rtlCol="0" anchor="t"/>
          <a:lstStyle/>
          <a:p>
            <a:pPr algn="ctr" indent="0" marL="0">
              <a:buNone/>
            </a:pPr>
            <a:r>
              <a:rPr lang="en-US" sz="1400" dirty="0">
                <a:solidFill>
                  <a:srgbClr val="4A5A52"/>
                </a:solidFill>
              </a:rPr>
              <a:t>Local businesses pay for checks</a:t>
            </a:r>
            <a:endParaRPr lang="en-US" sz="1400" dirty="0"/>
          </a:p>
        </p:txBody>
      </p:sp>
      <p:sp>
        <p:nvSpPr>
          <p:cNvPr id="12" name="model-3-circle"/>
          <p:cNvSpPr/>
          <p:nvPr/>
        </p:nvSpPr>
        <p:spPr>
          <a:xfrm>
            <a:off x="6830568" y="1234440"/>
            <a:ext cx="1097280" cy="1097280"/>
          </a:xfrm>
          <a:prstGeom prst="ellipse">
            <a:avLst/>
          </a:prstGeom>
          <a:solidFill>
            <a:srgbClr val="1F7A4D"/>
          </a:solidFill>
          <a:ln w="12700">
            <a:solidFill>
              <a:srgbClr val="1F7A4D"/>
            </a:solidFill>
            <a:prstDash val="solid"/>
          </a:ln>
        </p:spPr>
      </p:sp>
      <p:pic>
        <p:nvPicPr>
          <p:cNvPr id="13" name="model-3-icon" descr="preencoded.png">    </p:cNvPr>
          <p:cNvPicPr>
            <a:picLocks noChangeAspect="1"/>
          </p:cNvPicPr>
          <p:nvPr/>
        </p:nvPicPr>
        <p:blipFill>
          <a:blip r:embed="rId3"/>
          <a:stretch>
            <a:fillRect/>
          </a:stretch>
        </p:blipFill>
        <p:spPr>
          <a:xfrm>
            <a:off x="7093915" y="1497787"/>
            <a:ext cx="570586" cy="570586"/>
          </a:xfrm>
          <a:prstGeom prst="rect">
            <a:avLst/>
          </a:prstGeom>
        </p:spPr>
      </p:pic>
      <p:sp>
        <p:nvSpPr>
          <p:cNvPr id="14" name="Text 8"/>
          <p:cNvSpPr txBox="1"/>
          <p:nvPr/>
        </p:nvSpPr>
        <p:spPr>
          <a:xfrm>
            <a:off x="6071616" y="2468880"/>
            <a:ext cx="2615184" cy="411480"/>
          </a:xfrm>
          <a:prstGeom prst="rect">
            <a:avLst/>
          </a:prstGeom>
          <a:noFill/>
          <a:ln/>
        </p:spPr>
        <p:txBody>
          <a:bodyPr wrap="square" lIns="0" tIns="0" rIns="0" bIns="0" rtlCol="0" anchor="t"/>
          <a:lstStyle/>
          <a:p>
            <a:pPr algn="ctr" indent="0" marL="0">
              <a:buNone/>
            </a:pPr>
            <a:r>
              <a:rPr lang="en-US" sz="2000" b="1" dirty="0">
                <a:solidFill>
                  <a:srgbClr val="14302A"/>
                </a:solidFill>
              </a:rPr>
              <a:t>TruthShift Plus</a:t>
            </a:r>
            <a:endParaRPr lang="en-US" sz="2000" dirty="0"/>
          </a:p>
        </p:txBody>
      </p:sp>
      <p:sp>
        <p:nvSpPr>
          <p:cNvPr id="15" name="Text 9"/>
          <p:cNvSpPr txBox="1"/>
          <p:nvPr/>
        </p:nvSpPr>
        <p:spPr>
          <a:xfrm>
            <a:off x="6071616" y="2880360"/>
            <a:ext cx="2615184" cy="365760"/>
          </a:xfrm>
          <a:prstGeom prst="rect">
            <a:avLst/>
          </a:prstGeom>
          <a:noFill/>
          <a:ln/>
        </p:spPr>
        <p:txBody>
          <a:bodyPr wrap="square" lIns="0" tIns="0" rIns="0" bIns="0" rtlCol="0" anchor="t"/>
          <a:lstStyle/>
          <a:p>
            <a:pPr algn="ctr" indent="0" marL="0">
              <a:buNone/>
            </a:pPr>
            <a:r>
              <a:rPr lang="en-US" sz="1400" dirty="0">
                <a:solidFill>
                  <a:srgbClr val="4A5A52"/>
                </a:solidFill>
              </a:rPr>
              <a:t>Optional premium features</a:t>
            </a:r>
            <a:endParaRPr lang="en-US" sz="1400" dirty="0"/>
          </a:p>
        </p:txBody>
      </p:sp>
      <p:sp>
        <p:nvSpPr>
          <p:cNvPr id="16" name="rule-pill"/>
          <p:cNvSpPr/>
          <p:nvPr/>
        </p:nvSpPr>
        <p:spPr>
          <a:xfrm>
            <a:off x="2057400" y="3703320"/>
            <a:ext cx="5029200" cy="594360"/>
          </a:xfrm>
          <a:prstGeom prst="roundRect">
            <a:avLst>
              <a:gd name="adj" fmla="val 49231"/>
            </a:avLst>
          </a:prstGeom>
          <a:solidFill>
            <a:srgbClr val="14302A"/>
          </a:solidFill>
          <a:ln w="12700">
            <a:solidFill>
              <a:srgbClr val="14302A"/>
            </a:solidFill>
            <a:prstDash val="solid"/>
          </a:ln>
        </p:spPr>
      </p:sp>
      <p:sp>
        <p:nvSpPr>
          <p:cNvPr id="17" name="Text 11"/>
          <p:cNvSpPr txBox="1"/>
          <p:nvPr/>
        </p:nvSpPr>
        <p:spPr>
          <a:xfrm>
            <a:off x="2057400" y="3703320"/>
            <a:ext cx="5029200" cy="594360"/>
          </a:xfrm>
          <a:prstGeom prst="rect">
            <a:avLst/>
          </a:prstGeom>
          <a:noFill/>
          <a:ln/>
        </p:spPr>
        <p:txBody>
          <a:bodyPr wrap="square" lIns="0" tIns="0" rIns="0" bIns="0" rtlCol="0" anchor="ctr"/>
          <a:lstStyle/>
          <a:p>
            <a:pPr algn="ctr" indent="0" marL="0">
              <a:buNone/>
            </a:pPr>
            <a:r>
              <a:rPr lang="en-US" sz="2000" b="1" dirty="0">
                <a:solidFill>
                  <a:srgbClr val="8FD4AE"/>
                </a:solidFill>
              </a:rPr>
              <a:t>Money never changes a score</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Free today. Plus tomorrow.</a:t>
            </a:r>
            <a:endParaRPr lang="en-US" sz="3000" dirty="0"/>
          </a:p>
        </p:txBody>
      </p:sp>
      <p:sp>
        <p:nvSpPr>
          <p:cNvPr id="4" name="plan-1"/>
          <p:cNvSpPr/>
          <p:nvPr/>
        </p:nvSpPr>
        <p:spPr>
          <a:xfrm>
            <a:off x="457200" y="1143000"/>
            <a:ext cx="4023360" cy="3383280"/>
          </a:xfrm>
          <a:prstGeom prst="roundRect">
            <a:avLst>
              <a:gd name="adj" fmla="val 3243"/>
            </a:avLst>
          </a:prstGeom>
          <a:solidFill>
            <a:srgbClr val="FFFFFF"/>
          </a:solidFill>
          <a:ln w="9525">
            <a:solidFill>
              <a:srgbClr val="D9E0DA"/>
            </a:solidFill>
            <a:prstDash val="solid"/>
          </a:ln>
          <a:effectLst>
            <a:outerShdw sx="100000" sy="100000" kx="0" ky="0" algn="bl" rotWithShape="0" blurRad="101600" dist="38100" dir="5400000">
              <a:srgbClr val="000000">
                <a:alpha val="18000"/>
              </a:srgbClr>
            </a:outerShdw>
          </a:effectLst>
        </p:spPr>
      </p:sp>
      <p:sp>
        <p:nvSpPr>
          <p:cNvPr id="5" name="Text 2"/>
          <p:cNvSpPr txBox="1"/>
          <p:nvPr/>
        </p:nvSpPr>
        <p:spPr>
          <a:xfrm>
            <a:off x="731520" y="1325880"/>
            <a:ext cx="2194560" cy="411480"/>
          </a:xfrm>
          <a:prstGeom prst="rect">
            <a:avLst/>
          </a:prstGeom>
          <a:noFill/>
          <a:ln/>
        </p:spPr>
        <p:txBody>
          <a:bodyPr wrap="square" lIns="0" tIns="0" rIns="0" bIns="0" rtlCol="0" anchor="t"/>
          <a:lstStyle/>
          <a:p>
            <a:pPr indent="0" marL="0">
              <a:buNone/>
            </a:pPr>
            <a:r>
              <a:rPr lang="en-US" sz="2000" b="1" dirty="0">
                <a:solidFill>
                  <a:srgbClr val="14302A"/>
                </a:solidFill>
              </a:rPr>
              <a:t>Free</a:t>
            </a:r>
            <a:endParaRPr lang="en-US" sz="2000" dirty="0"/>
          </a:p>
        </p:txBody>
      </p:sp>
      <p:sp>
        <p:nvSpPr>
          <p:cNvPr id="6" name="Text 3"/>
          <p:cNvSpPr txBox="1"/>
          <p:nvPr/>
        </p:nvSpPr>
        <p:spPr>
          <a:xfrm>
            <a:off x="2651760" y="1280160"/>
            <a:ext cx="1600200" cy="502920"/>
          </a:xfrm>
          <a:prstGeom prst="rect">
            <a:avLst/>
          </a:prstGeom>
          <a:noFill/>
          <a:ln/>
        </p:spPr>
        <p:txBody>
          <a:bodyPr wrap="square" lIns="0" tIns="0" rIns="0" bIns="0" rtlCol="0" anchor="t"/>
          <a:lstStyle/>
          <a:p>
            <a:pPr algn="r" indent="0" marL="0">
              <a:buNone/>
            </a:pPr>
            <a:r>
              <a:rPr lang="en-US" sz="2600" b="1" dirty="0">
                <a:solidFill>
                  <a:srgbClr val="1F7A4D"/>
                </a:solidFill>
                <a:latin typeface="Cambria" pitchFamily="34" charset="0"/>
                <a:ea typeface="Cambria" pitchFamily="34" charset="-122"/>
                <a:cs typeface="Cambria" pitchFamily="34" charset="-120"/>
              </a:rPr>
              <a:t>$0</a:t>
            </a:r>
            <a:endParaRPr lang="en-US" sz="2600" dirty="0"/>
          </a:p>
        </p:txBody>
      </p:sp>
      <p:sp>
        <p:nvSpPr>
          <p:cNvPr id="7" name="Text 4"/>
          <p:cNvSpPr txBox="1"/>
          <p:nvPr/>
        </p:nvSpPr>
        <p:spPr>
          <a:xfrm>
            <a:off x="731520" y="1755648"/>
            <a:ext cx="3520440" cy="274320"/>
          </a:xfrm>
          <a:prstGeom prst="rect">
            <a:avLst/>
          </a:prstGeom>
          <a:noFill/>
          <a:ln/>
        </p:spPr>
        <p:txBody>
          <a:bodyPr wrap="square" lIns="0" tIns="0" rIns="0" bIns="0" rtlCol="0" anchor="t"/>
          <a:lstStyle/>
          <a:p>
            <a:pPr indent="0" marL="0">
              <a:buNone/>
            </a:pPr>
            <a:r>
              <a:rPr lang="en-US" sz="1200" dirty="0">
                <a:solidFill>
                  <a:srgbClr val="4A5A52"/>
                </a:solidFill>
              </a:rPr>
              <a:t>for everyone, always</a:t>
            </a:r>
            <a:endParaRPr lang="en-US" sz="1200" dirty="0"/>
          </a:p>
        </p:txBody>
      </p:sp>
      <p:sp>
        <p:nvSpPr>
          <p:cNvPr id="8" name="plan-1-item-1-circle"/>
          <p:cNvSpPr/>
          <p:nvPr/>
        </p:nvSpPr>
        <p:spPr>
          <a:xfrm>
            <a:off x="731520" y="2194560"/>
            <a:ext cx="411480" cy="411480"/>
          </a:xfrm>
          <a:prstGeom prst="ellipse">
            <a:avLst/>
          </a:prstGeom>
          <a:solidFill>
            <a:srgbClr val="E7EFE9"/>
          </a:solidFill>
          <a:ln w="12700">
            <a:solidFill>
              <a:srgbClr val="E7EFE9"/>
            </a:solidFill>
            <a:prstDash val="solid"/>
          </a:ln>
        </p:spPr>
      </p:sp>
      <p:pic>
        <p:nvPicPr>
          <p:cNvPr id="9" name="plan-1-item-1-icon" descr="preencoded.png">    </p:cNvPr>
          <p:cNvPicPr>
            <a:picLocks noChangeAspect="1"/>
          </p:cNvPicPr>
          <p:nvPr/>
        </p:nvPicPr>
        <p:blipFill>
          <a:blip r:embed="rId1"/>
          <a:stretch>
            <a:fillRect/>
          </a:stretch>
        </p:blipFill>
        <p:spPr>
          <a:xfrm>
            <a:off x="830275" y="2293315"/>
            <a:ext cx="213970" cy="213970"/>
          </a:xfrm>
          <a:prstGeom prst="rect">
            <a:avLst/>
          </a:prstGeom>
        </p:spPr>
      </p:pic>
      <p:sp>
        <p:nvSpPr>
          <p:cNvPr id="10" name="Text 6"/>
          <p:cNvSpPr txBox="1"/>
          <p:nvPr/>
        </p:nvSpPr>
        <p:spPr>
          <a:xfrm>
            <a:off x="1280160" y="2194560"/>
            <a:ext cx="3017520" cy="411480"/>
          </a:xfrm>
          <a:prstGeom prst="rect">
            <a:avLst/>
          </a:prstGeom>
          <a:noFill/>
          <a:ln/>
        </p:spPr>
        <p:txBody>
          <a:bodyPr wrap="square" lIns="0" tIns="0" rIns="0" bIns="0" rtlCol="0" anchor="ctr"/>
          <a:lstStyle/>
          <a:p>
            <a:pPr indent="0" marL="0">
              <a:buNone/>
            </a:pPr>
            <a:r>
              <a:rPr lang="en-US" sz="1500" dirty="0">
                <a:solidFill>
                  <a:srgbClr val="14302A"/>
                </a:solidFill>
              </a:rPr>
              <a:t>Scan &amp; personal scores</a:t>
            </a:r>
            <a:endParaRPr lang="en-US" sz="1500" dirty="0"/>
          </a:p>
        </p:txBody>
      </p:sp>
      <p:sp>
        <p:nvSpPr>
          <p:cNvPr id="11" name="plan-1-item-2-circle"/>
          <p:cNvSpPr/>
          <p:nvPr/>
        </p:nvSpPr>
        <p:spPr>
          <a:xfrm>
            <a:off x="731520" y="2743200"/>
            <a:ext cx="411480" cy="411480"/>
          </a:xfrm>
          <a:prstGeom prst="ellipse">
            <a:avLst/>
          </a:prstGeom>
          <a:solidFill>
            <a:srgbClr val="E7EFE9"/>
          </a:solidFill>
          <a:ln w="12700">
            <a:solidFill>
              <a:srgbClr val="E7EFE9"/>
            </a:solidFill>
            <a:prstDash val="solid"/>
          </a:ln>
        </p:spPr>
      </p:sp>
      <p:pic>
        <p:nvPicPr>
          <p:cNvPr id="12" name="plan-1-item-2-icon" descr="preencoded.png">    </p:cNvPr>
          <p:cNvPicPr>
            <a:picLocks noChangeAspect="1"/>
          </p:cNvPicPr>
          <p:nvPr/>
        </p:nvPicPr>
        <p:blipFill>
          <a:blip r:embed="rId2"/>
          <a:stretch>
            <a:fillRect/>
          </a:stretch>
        </p:blipFill>
        <p:spPr>
          <a:xfrm>
            <a:off x="830275" y="2841955"/>
            <a:ext cx="213970" cy="213970"/>
          </a:xfrm>
          <a:prstGeom prst="rect">
            <a:avLst/>
          </a:prstGeom>
        </p:spPr>
      </p:pic>
      <p:sp>
        <p:nvSpPr>
          <p:cNvPr id="13" name="Text 8"/>
          <p:cNvSpPr txBox="1"/>
          <p:nvPr/>
        </p:nvSpPr>
        <p:spPr>
          <a:xfrm>
            <a:off x="1280160" y="2743200"/>
            <a:ext cx="3017520" cy="411480"/>
          </a:xfrm>
          <a:prstGeom prst="rect">
            <a:avLst/>
          </a:prstGeom>
          <a:noFill/>
          <a:ln/>
        </p:spPr>
        <p:txBody>
          <a:bodyPr wrap="square" lIns="0" tIns="0" rIns="0" bIns="0" rtlCol="0" anchor="ctr"/>
          <a:lstStyle/>
          <a:p>
            <a:pPr indent="0" marL="0">
              <a:buNone/>
            </a:pPr>
            <a:r>
              <a:rPr lang="en-US" sz="1500" dirty="0">
                <a:solidFill>
                  <a:srgbClr val="14302A"/>
                </a:solidFill>
              </a:rPr>
              <a:t>Evidence on every fact</a:t>
            </a:r>
            <a:endParaRPr lang="en-US" sz="1500" dirty="0"/>
          </a:p>
        </p:txBody>
      </p:sp>
      <p:sp>
        <p:nvSpPr>
          <p:cNvPr id="14" name="plan-1-item-3-circle"/>
          <p:cNvSpPr/>
          <p:nvPr/>
        </p:nvSpPr>
        <p:spPr>
          <a:xfrm>
            <a:off x="731520" y="3291840"/>
            <a:ext cx="411480" cy="411480"/>
          </a:xfrm>
          <a:prstGeom prst="ellipse">
            <a:avLst/>
          </a:prstGeom>
          <a:solidFill>
            <a:srgbClr val="E7EFE9"/>
          </a:solidFill>
          <a:ln w="12700">
            <a:solidFill>
              <a:srgbClr val="E7EFE9"/>
            </a:solidFill>
            <a:prstDash val="solid"/>
          </a:ln>
        </p:spPr>
      </p:sp>
      <p:pic>
        <p:nvPicPr>
          <p:cNvPr id="15" name="plan-1-item-3-icon" descr="preencoded.png">    </p:cNvPr>
          <p:cNvPicPr>
            <a:picLocks noChangeAspect="1"/>
          </p:cNvPicPr>
          <p:nvPr/>
        </p:nvPicPr>
        <p:blipFill>
          <a:blip r:embed="rId3"/>
          <a:stretch>
            <a:fillRect/>
          </a:stretch>
        </p:blipFill>
        <p:spPr>
          <a:xfrm>
            <a:off x="830275" y="3390595"/>
            <a:ext cx="213970" cy="213970"/>
          </a:xfrm>
          <a:prstGeom prst="rect">
            <a:avLst/>
          </a:prstGeom>
        </p:spPr>
      </p:pic>
      <p:sp>
        <p:nvSpPr>
          <p:cNvPr id="16" name="Text 10"/>
          <p:cNvSpPr txBox="1"/>
          <p:nvPr/>
        </p:nvSpPr>
        <p:spPr>
          <a:xfrm>
            <a:off x="1280160" y="3291840"/>
            <a:ext cx="3017520" cy="411480"/>
          </a:xfrm>
          <a:prstGeom prst="rect">
            <a:avLst/>
          </a:prstGeom>
          <a:noFill/>
          <a:ln/>
        </p:spPr>
        <p:txBody>
          <a:bodyPr wrap="square" lIns="0" tIns="0" rIns="0" bIns="0" rtlCol="0" anchor="ctr"/>
          <a:lstStyle/>
          <a:p>
            <a:pPr indent="0" marL="0">
              <a:buNone/>
            </a:pPr>
            <a:r>
              <a:rPr lang="en-US" sz="1500" dirty="0">
                <a:solidFill>
                  <a:srgbClr val="14302A"/>
                </a:solidFill>
              </a:rPr>
              <a:t>Compare &amp; store map</a:t>
            </a:r>
            <a:endParaRPr lang="en-US" sz="1500" dirty="0"/>
          </a:p>
        </p:txBody>
      </p:sp>
      <p:sp>
        <p:nvSpPr>
          <p:cNvPr id="17" name="plan-1-item-4-circle"/>
          <p:cNvSpPr/>
          <p:nvPr/>
        </p:nvSpPr>
        <p:spPr>
          <a:xfrm>
            <a:off x="731520" y="3840480"/>
            <a:ext cx="411480" cy="411480"/>
          </a:xfrm>
          <a:prstGeom prst="ellipse">
            <a:avLst/>
          </a:prstGeom>
          <a:solidFill>
            <a:srgbClr val="E7EFE9"/>
          </a:solidFill>
          <a:ln w="12700">
            <a:solidFill>
              <a:srgbClr val="E7EFE9"/>
            </a:solidFill>
            <a:prstDash val="solid"/>
          </a:ln>
        </p:spPr>
      </p:sp>
      <p:pic>
        <p:nvPicPr>
          <p:cNvPr id="18" name="plan-1-item-4-icon" descr="preencoded.png">    </p:cNvPr>
          <p:cNvPicPr>
            <a:picLocks noChangeAspect="1"/>
          </p:cNvPicPr>
          <p:nvPr/>
        </p:nvPicPr>
        <p:blipFill>
          <a:blip r:embed="rId4"/>
          <a:stretch>
            <a:fillRect/>
          </a:stretch>
        </p:blipFill>
        <p:spPr>
          <a:xfrm>
            <a:off x="830275" y="3939235"/>
            <a:ext cx="213970" cy="213970"/>
          </a:xfrm>
          <a:prstGeom prst="rect">
            <a:avLst/>
          </a:prstGeom>
        </p:spPr>
      </p:pic>
      <p:sp>
        <p:nvSpPr>
          <p:cNvPr id="19" name="Text 12"/>
          <p:cNvSpPr txBox="1"/>
          <p:nvPr/>
        </p:nvSpPr>
        <p:spPr>
          <a:xfrm>
            <a:off x="1280160" y="3840480"/>
            <a:ext cx="3017520" cy="411480"/>
          </a:xfrm>
          <a:prstGeom prst="rect">
            <a:avLst/>
          </a:prstGeom>
          <a:noFill/>
          <a:ln/>
        </p:spPr>
        <p:txBody>
          <a:bodyPr wrap="square" lIns="0" tIns="0" rIns="0" bIns="0" rtlCol="0" anchor="ctr"/>
          <a:lstStyle/>
          <a:p>
            <a:pPr indent="0" marL="0">
              <a:buNone/>
            </a:pPr>
            <a:r>
              <a:rPr lang="en-US" sz="1500" dirty="0">
                <a:solidFill>
                  <a:srgbClr val="14302A"/>
                </a:solidFill>
              </a:rPr>
              <a:t>5 AI questions a day</a:t>
            </a:r>
            <a:endParaRPr lang="en-US" sz="1500" dirty="0"/>
          </a:p>
        </p:txBody>
      </p:sp>
      <p:sp>
        <p:nvSpPr>
          <p:cNvPr id="20" name="plan-2"/>
          <p:cNvSpPr/>
          <p:nvPr/>
        </p:nvSpPr>
        <p:spPr>
          <a:xfrm>
            <a:off x="4663440" y="1143000"/>
            <a:ext cx="4023360" cy="3383280"/>
          </a:xfrm>
          <a:prstGeom prst="roundRect">
            <a:avLst>
              <a:gd name="adj" fmla="val 3243"/>
            </a:avLst>
          </a:prstGeom>
          <a:solidFill>
            <a:srgbClr val="14302A"/>
          </a:solidFill>
          <a:ln w="9525">
            <a:solidFill>
              <a:srgbClr val="14302A"/>
            </a:solidFill>
            <a:prstDash val="solid"/>
          </a:ln>
          <a:effectLst>
            <a:outerShdw sx="100000" sy="100000" kx="0" ky="0" algn="bl" rotWithShape="0" blurRad="101600" dist="38100" dir="5400000">
              <a:srgbClr val="000000">
                <a:alpha val="18000"/>
              </a:srgbClr>
            </a:outerShdw>
          </a:effectLst>
        </p:spPr>
      </p:sp>
      <p:sp>
        <p:nvSpPr>
          <p:cNvPr id="21" name="Text 14"/>
          <p:cNvSpPr txBox="1"/>
          <p:nvPr/>
        </p:nvSpPr>
        <p:spPr>
          <a:xfrm>
            <a:off x="4937760" y="1325880"/>
            <a:ext cx="2194560" cy="411480"/>
          </a:xfrm>
          <a:prstGeom prst="rect">
            <a:avLst/>
          </a:prstGeom>
          <a:noFill/>
          <a:ln/>
        </p:spPr>
        <p:txBody>
          <a:bodyPr wrap="square" lIns="0" tIns="0" rIns="0" bIns="0" rtlCol="0" anchor="t"/>
          <a:lstStyle/>
          <a:p>
            <a:pPr indent="0" marL="0">
              <a:buNone/>
            </a:pPr>
            <a:r>
              <a:rPr lang="en-US" sz="2000" b="1" dirty="0">
                <a:solidFill>
                  <a:srgbClr val="F6F7F2"/>
                </a:solidFill>
              </a:rPr>
              <a:t>TruthShift Plus</a:t>
            </a:r>
            <a:endParaRPr lang="en-US" sz="2000" dirty="0"/>
          </a:p>
        </p:txBody>
      </p:sp>
      <p:sp>
        <p:nvSpPr>
          <p:cNvPr id="22" name="Text 15"/>
          <p:cNvSpPr txBox="1"/>
          <p:nvPr/>
        </p:nvSpPr>
        <p:spPr>
          <a:xfrm>
            <a:off x="6858000" y="1280160"/>
            <a:ext cx="1600200" cy="502920"/>
          </a:xfrm>
          <a:prstGeom prst="rect">
            <a:avLst/>
          </a:prstGeom>
          <a:noFill/>
          <a:ln/>
        </p:spPr>
        <p:txBody>
          <a:bodyPr wrap="square" lIns="0" tIns="0" rIns="0" bIns="0" rtlCol="0" anchor="t"/>
          <a:lstStyle/>
          <a:p>
            <a:pPr algn="r" indent="0" marL="0">
              <a:buNone/>
            </a:pPr>
            <a:r>
              <a:rPr lang="en-US" sz="2600" b="1" dirty="0">
                <a:solidFill>
                  <a:srgbClr val="8FD4AE"/>
                </a:solidFill>
                <a:latin typeface="Cambria" pitchFamily="34" charset="0"/>
                <a:ea typeface="Cambria" pitchFamily="34" charset="-122"/>
                <a:cs typeface="Cambria" pitchFamily="34" charset="-120"/>
              </a:rPr>
              <a:t>~$3/mo</a:t>
            </a:r>
            <a:endParaRPr lang="en-US" sz="2600" dirty="0"/>
          </a:p>
        </p:txBody>
      </p:sp>
      <p:sp>
        <p:nvSpPr>
          <p:cNvPr id="23" name="Text 16"/>
          <p:cNvSpPr txBox="1"/>
          <p:nvPr/>
        </p:nvSpPr>
        <p:spPr>
          <a:xfrm>
            <a:off x="4937760" y="1755648"/>
            <a:ext cx="3520440" cy="274320"/>
          </a:xfrm>
          <a:prstGeom prst="rect">
            <a:avLst/>
          </a:prstGeom>
          <a:noFill/>
          <a:ln/>
        </p:spPr>
        <p:txBody>
          <a:bodyPr wrap="square" lIns="0" tIns="0" rIns="0" bIns="0" rtlCol="0" anchor="t"/>
          <a:lstStyle/>
          <a:p>
            <a:pPr indent="0" marL="0">
              <a:buNone/>
            </a:pPr>
            <a:r>
              <a:rPr lang="en-US" sz="1200" dirty="0">
                <a:solidFill>
                  <a:srgbClr val="C9DDD2"/>
                </a:solidFill>
              </a:rPr>
              <a:t>proposed · free for RODS clients</a:t>
            </a:r>
            <a:endParaRPr lang="en-US" sz="1200" dirty="0"/>
          </a:p>
        </p:txBody>
      </p:sp>
      <p:sp>
        <p:nvSpPr>
          <p:cNvPr id="24" name="plan-2-item-1-circle"/>
          <p:cNvSpPr/>
          <p:nvPr/>
        </p:nvSpPr>
        <p:spPr>
          <a:xfrm>
            <a:off x="4937760" y="2194560"/>
            <a:ext cx="411480" cy="411480"/>
          </a:xfrm>
          <a:prstGeom prst="ellipse">
            <a:avLst/>
          </a:prstGeom>
          <a:solidFill>
            <a:srgbClr val="1D4038"/>
          </a:solidFill>
          <a:ln w="12700">
            <a:solidFill>
              <a:srgbClr val="1D4038"/>
            </a:solidFill>
            <a:prstDash val="solid"/>
          </a:ln>
        </p:spPr>
      </p:sp>
      <p:pic>
        <p:nvPicPr>
          <p:cNvPr id="25" name="plan-2-item-1-icon" descr="preencoded.png">    </p:cNvPr>
          <p:cNvPicPr>
            <a:picLocks noChangeAspect="1"/>
          </p:cNvPicPr>
          <p:nvPr/>
        </p:nvPicPr>
        <p:blipFill>
          <a:blip r:embed="rId5"/>
          <a:stretch>
            <a:fillRect/>
          </a:stretch>
        </p:blipFill>
        <p:spPr>
          <a:xfrm>
            <a:off x="5036515" y="2293315"/>
            <a:ext cx="213970" cy="213970"/>
          </a:xfrm>
          <a:prstGeom prst="rect">
            <a:avLst/>
          </a:prstGeom>
        </p:spPr>
      </p:pic>
      <p:sp>
        <p:nvSpPr>
          <p:cNvPr id="26" name="Text 18"/>
          <p:cNvSpPr txBox="1"/>
          <p:nvPr/>
        </p:nvSpPr>
        <p:spPr>
          <a:xfrm>
            <a:off x="5486400" y="2194560"/>
            <a:ext cx="3017520" cy="411480"/>
          </a:xfrm>
          <a:prstGeom prst="rect">
            <a:avLst/>
          </a:prstGeom>
          <a:noFill/>
          <a:ln/>
        </p:spPr>
        <p:txBody>
          <a:bodyPr wrap="square" lIns="0" tIns="0" rIns="0" bIns="0" rtlCol="0" anchor="ctr"/>
          <a:lstStyle/>
          <a:p>
            <a:pPr indent="0" marL="0">
              <a:buNone/>
            </a:pPr>
            <a:r>
              <a:rPr lang="en-US" sz="1500" dirty="0">
                <a:solidFill>
                  <a:srgbClr val="F6F7F2"/>
                </a:solidFill>
              </a:rPr>
              <a:t>Unlimited AI assistant</a:t>
            </a:r>
            <a:endParaRPr lang="en-US" sz="1500" dirty="0"/>
          </a:p>
        </p:txBody>
      </p:sp>
      <p:sp>
        <p:nvSpPr>
          <p:cNvPr id="27" name="plan-2-item-2-circle"/>
          <p:cNvSpPr/>
          <p:nvPr/>
        </p:nvSpPr>
        <p:spPr>
          <a:xfrm>
            <a:off x="4937760" y="2743200"/>
            <a:ext cx="411480" cy="411480"/>
          </a:xfrm>
          <a:prstGeom prst="ellipse">
            <a:avLst/>
          </a:prstGeom>
          <a:solidFill>
            <a:srgbClr val="1D4038"/>
          </a:solidFill>
          <a:ln w="12700">
            <a:solidFill>
              <a:srgbClr val="1D4038"/>
            </a:solidFill>
            <a:prstDash val="solid"/>
          </a:ln>
        </p:spPr>
      </p:sp>
      <p:pic>
        <p:nvPicPr>
          <p:cNvPr id="28" name="plan-2-item-2-icon" descr="preencoded.png">    </p:cNvPr>
          <p:cNvPicPr>
            <a:picLocks noChangeAspect="1"/>
          </p:cNvPicPr>
          <p:nvPr/>
        </p:nvPicPr>
        <p:blipFill>
          <a:blip r:embed="rId6"/>
          <a:stretch>
            <a:fillRect/>
          </a:stretch>
        </p:blipFill>
        <p:spPr>
          <a:xfrm>
            <a:off x="5036515" y="2841955"/>
            <a:ext cx="213970" cy="213970"/>
          </a:xfrm>
          <a:prstGeom prst="rect">
            <a:avLst/>
          </a:prstGeom>
        </p:spPr>
      </p:pic>
      <p:sp>
        <p:nvSpPr>
          <p:cNvPr id="29" name="Text 20"/>
          <p:cNvSpPr txBox="1"/>
          <p:nvPr/>
        </p:nvSpPr>
        <p:spPr>
          <a:xfrm>
            <a:off x="5486400" y="2743200"/>
            <a:ext cx="3017520" cy="411480"/>
          </a:xfrm>
          <a:prstGeom prst="rect">
            <a:avLst/>
          </a:prstGeom>
          <a:noFill/>
          <a:ln/>
        </p:spPr>
        <p:txBody>
          <a:bodyPr wrap="square" lIns="0" tIns="0" rIns="0" bIns="0" rtlCol="0" anchor="ctr"/>
          <a:lstStyle/>
          <a:p>
            <a:pPr indent="0" marL="0">
              <a:buNone/>
            </a:pPr>
            <a:r>
              <a:rPr lang="en-US" sz="1500" dirty="0">
                <a:solidFill>
                  <a:srgbClr val="F6F7F2"/>
                </a:solidFill>
              </a:rPr>
              <a:t>Best-store shopping list</a:t>
            </a:r>
            <a:endParaRPr lang="en-US" sz="1500" dirty="0"/>
          </a:p>
        </p:txBody>
      </p:sp>
      <p:sp>
        <p:nvSpPr>
          <p:cNvPr id="30" name="plan-2-item-3-circle"/>
          <p:cNvSpPr/>
          <p:nvPr/>
        </p:nvSpPr>
        <p:spPr>
          <a:xfrm>
            <a:off x="4937760" y="3291840"/>
            <a:ext cx="411480" cy="411480"/>
          </a:xfrm>
          <a:prstGeom prst="ellipse">
            <a:avLst/>
          </a:prstGeom>
          <a:solidFill>
            <a:srgbClr val="1D4038"/>
          </a:solidFill>
          <a:ln w="12700">
            <a:solidFill>
              <a:srgbClr val="1D4038"/>
            </a:solidFill>
            <a:prstDash val="solid"/>
          </a:ln>
        </p:spPr>
      </p:sp>
      <p:pic>
        <p:nvPicPr>
          <p:cNvPr id="31" name="plan-2-item-3-icon" descr="preencoded.png">    </p:cNvPr>
          <p:cNvPicPr>
            <a:picLocks noChangeAspect="1"/>
          </p:cNvPicPr>
          <p:nvPr/>
        </p:nvPicPr>
        <p:blipFill>
          <a:blip r:embed="rId7"/>
          <a:stretch>
            <a:fillRect/>
          </a:stretch>
        </p:blipFill>
        <p:spPr>
          <a:xfrm>
            <a:off x="5036515" y="3390595"/>
            <a:ext cx="213970" cy="213970"/>
          </a:xfrm>
          <a:prstGeom prst="rect">
            <a:avLst/>
          </a:prstGeom>
        </p:spPr>
      </p:pic>
      <p:sp>
        <p:nvSpPr>
          <p:cNvPr id="32" name="Text 22"/>
          <p:cNvSpPr txBox="1"/>
          <p:nvPr/>
        </p:nvSpPr>
        <p:spPr>
          <a:xfrm>
            <a:off x="5486400" y="3291840"/>
            <a:ext cx="3017520" cy="411480"/>
          </a:xfrm>
          <a:prstGeom prst="rect">
            <a:avLst/>
          </a:prstGeom>
          <a:noFill/>
          <a:ln/>
        </p:spPr>
        <p:txBody>
          <a:bodyPr wrap="square" lIns="0" tIns="0" rIns="0" bIns="0" rtlCol="0" anchor="ctr"/>
          <a:lstStyle/>
          <a:p>
            <a:pPr indent="0" marL="0">
              <a:buNone/>
            </a:pPr>
            <a:r>
              <a:rPr lang="en-US" sz="1500" dirty="0">
                <a:solidFill>
                  <a:srgbClr val="F6F7F2"/>
                </a:solidFill>
              </a:rPr>
              <a:t>Price-drop alerts</a:t>
            </a:r>
            <a:endParaRPr lang="en-US" sz="1500" dirty="0"/>
          </a:p>
        </p:txBody>
      </p:sp>
      <p:sp>
        <p:nvSpPr>
          <p:cNvPr id="33" name="plan-2-item-4-circle"/>
          <p:cNvSpPr/>
          <p:nvPr/>
        </p:nvSpPr>
        <p:spPr>
          <a:xfrm>
            <a:off x="4937760" y="3840480"/>
            <a:ext cx="411480" cy="411480"/>
          </a:xfrm>
          <a:prstGeom prst="ellipse">
            <a:avLst/>
          </a:prstGeom>
          <a:solidFill>
            <a:srgbClr val="1D4038"/>
          </a:solidFill>
          <a:ln w="12700">
            <a:solidFill>
              <a:srgbClr val="1D4038"/>
            </a:solidFill>
            <a:prstDash val="solid"/>
          </a:ln>
        </p:spPr>
      </p:sp>
      <p:pic>
        <p:nvPicPr>
          <p:cNvPr id="34" name="plan-2-item-4-icon" descr="preencoded.png">    </p:cNvPr>
          <p:cNvPicPr>
            <a:picLocks noChangeAspect="1"/>
          </p:cNvPicPr>
          <p:nvPr/>
        </p:nvPicPr>
        <p:blipFill>
          <a:blip r:embed="rId8"/>
          <a:stretch>
            <a:fillRect/>
          </a:stretch>
        </p:blipFill>
        <p:spPr>
          <a:xfrm>
            <a:off x="5036515" y="3939235"/>
            <a:ext cx="213970" cy="213970"/>
          </a:xfrm>
          <a:prstGeom prst="rect">
            <a:avLst/>
          </a:prstGeom>
        </p:spPr>
      </p:pic>
      <p:sp>
        <p:nvSpPr>
          <p:cNvPr id="35" name="Text 24"/>
          <p:cNvSpPr txBox="1"/>
          <p:nvPr/>
        </p:nvSpPr>
        <p:spPr>
          <a:xfrm>
            <a:off x="5486400" y="3840480"/>
            <a:ext cx="3017520" cy="411480"/>
          </a:xfrm>
          <a:prstGeom prst="rect">
            <a:avLst/>
          </a:prstGeom>
          <a:noFill/>
          <a:ln/>
        </p:spPr>
        <p:txBody>
          <a:bodyPr wrap="square" lIns="0" tIns="0" rIns="0" bIns="0" rtlCol="0" anchor="ctr"/>
          <a:lstStyle/>
          <a:p>
            <a:pPr indent="0" marL="0">
              <a:buNone/>
            </a:pPr>
            <a:r>
              <a:rPr lang="en-US" sz="1500" dirty="0">
                <a:solidFill>
                  <a:srgbClr val="F6F7F2"/>
                </a:solidFill>
              </a:rPr>
              <a:t>Family profiles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About $8 a month to launch</a:t>
            </a:r>
            <a:endParaRPr lang="en-US" sz="3000" dirty="0"/>
          </a:p>
        </p:txBody>
      </p:sp>
      <p:graphicFrame>
        <p:nvGraphicFramePr>
          <p:cNvPr id="4" name="running-cost-chart" descr=""/>
          <p:cNvGraphicFramePr/>
          <p:nvPr/>
        </p:nvGraphicFramePr>
        <p:xfrm>
          <a:off x="457200" y="109728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6126480" y="1234440"/>
            <a:ext cx="2560320" cy="548640"/>
          </a:xfrm>
          <a:prstGeom prst="rect">
            <a:avLst/>
          </a:prstGeom>
          <a:noFill/>
          <a:ln/>
        </p:spPr>
        <p:txBody>
          <a:bodyPr wrap="square" lIns="0" tIns="0" rIns="0" bIns="0" rtlCol="0" anchor="t"/>
          <a:lstStyle/>
          <a:p>
            <a:pPr indent="0" marL="0">
              <a:buNone/>
            </a:pPr>
            <a:r>
              <a:rPr lang="en-US" sz="3200" b="1" dirty="0">
                <a:solidFill>
                  <a:srgbClr val="14302A"/>
                </a:solidFill>
                <a:latin typeface="Cambria" pitchFamily="34" charset="0"/>
                <a:ea typeface="Cambria" pitchFamily="34" charset="-122"/>
                <a:cs typeface="Cambria" pitchFamily="34" charset="-120"/>
              </a:rPr>
              <a:t>~$8</a:t>
            </a:r>
            <a:endParaRPr lang="en-US" sz="3200" dirty="0"/>
          </a:p>
        </p:txBody>
      </p:sp>
      <p:sp>
        <p:nvSpPr>
          <p:cNvPr id="6" name="Text 2"/>
          <p:cNvSpPr txBox="1"/>
          <p:nvPr/>
        </p:nvSpPr>
        <p:spPr>
          <a:xfrm>
            <a:off x="6126480" y="1783080"/>
            <a:ext cx="2560320" cy="320040"/>
          </a:xfrm>
          <a:prstGeom prst="rect">
            <a:avLst/>
          </a:prstGeom>
          <a:noFill/>
          <a:ln/>
        </p:spPr>
        <p:txBody>
          <a:bodyPr wrap="square" lIns="0" tIns="0" rIns="0" bIns="0" rtlCol="0" anchor="t"/>
          <a:lstStyle/>
          <a:p>
            <a:pPr indent="0" marL="0">
              <a:buNone/>
            </a:pPr>
            <a:r>
              <a:rPr lang="en-US" sz="1300" dirty="0">
                <a:solidFill>
                  <a:srgbClr val="4A5A52"/>
                </a:solidFill>
              </a:rPr>
              <a:t>per month to launch</a:t>
            </a:r>
            <a:endParaRPr lang="en-US" sz="1300" dirty="0"/>
          </a:p>
        </p:txBody>
      </p:sp>
      <p:sp>
        <p:nvSpPr>
          <p:cNvPr id="7" name="Text 3"/>
          <p:cNvSpPr txBox="1"/>
          <p:nvPr/>
        </p:nvSpPr>
        <p:spPr>
          <a:xfrm>
            <a:off x="6126480" y="2331720"/>
            <a:ext cx="2560320" cy="548640"/>
          </a:xfrm>
          <a:prstGeom prst="rect">
            <a:avLst/>
          </a:prstGeom>
          <a:noFill/>
          <a:ln/>
        </p:spPr>
        <p:txBody>
          <a:bodyPr wrap="square" lIns="0" tIns="0" rIns="0" bIns="0" rtlCol="0" anchor="t"/>
          <a:lstStyle/>
          <a:p>
            <a:pPr indent="0" marL="0">
              <a:buNone/>
            </a:pPr>
            <a:r>
              <a:rPr lang="en-US" sz="3200" b="1" dirty="0">
                <a:solidFill>
                  <a:srgbClr val="14302A"/>
                </a:solidFill>
                <a:latin typeface="Cambria" pitchFamily="34" charset="0"/>
                <a:ea typeface="Cambria" pitchFamily="34" charset="-122"/>
                <a:cs typeface="Cambria" pitchFamily="34" charset="-120"/>
              </a:rPr>
              <a:t>~$28</a:t>
            </a:r>
            <a:endParaRPr lang="en-US" sz="3200" dirty="0"/>
          </a:p>
        </p:txBody>
      </p:sp>
      <p:sp>
        <p:nvSpPr>
          <p:cNvPr id="8" name="Text 4"/>
          <p:cNvSpPr txBox="1"/>
          <p:nvPr/>
        </p:nvSpPr>
        <p:spPr>
          <a:xfrm>
            <a:off x="6126480" y="2880360"/>
            <a:ext cx="2560320" cy="320040"/>
          </a:xfrm>
          <a:prstGeom prst="rect">
            <a:avLst/>
          </a:prstGeom>
          <a:noFill/>
          <a:ln/>
        </p:spPr>
        <p:txBody>
          <a:bodyPr wrap="square" lIns="0" tIns="0" rIns="0" bIns="0" rtlCol="0" anchor="t"/>
          <a:lstStyle/>
          <a:p>
            <a:pPr indent="0" marL="0">
              <a:buNone/>
            </a:pPr>
            <a:r>
              <a:rPr lang="en-US" sz="1300" dirty="0">
                <a:solidFill>
                  <a:srgbClr val="4A5A52"/>
                </a:solidFill>
              </a:rPr>
              <a:t>with 1,000 AI questions</a:t>
            </a:r>
            <a:endParaRPr lang="en-US" sz="1300" dirty="0"/>
          </a:p>
        </p:txBody>
      </p:sp>
      <p:sp>
        <p:nvSpPr>
          <p:cNvPr id="9" name="Text 5"/>
          <p:cNvSpPr txBox="1"/>
          <p:nvPr/>
        </p:nvSpPr>
        <p:spPr>
          <a:xfrm>
            <a:off x="6126480" y="3429000"/>
            <a:ext cx="2560320" cy="548640"/>
          </a:xfrm>
          <a:prstGeom prst="rect">
            <a:avLst/>
          </a:prstGeom>
          <a:noFill/>
          <a:ln/>
        </p:spPr>
        <p:txBody>
          <a:bodyPr wrap="square" lIns="0" tIns="0" rIns="0" bIns="0" rtlCol="0" anchor="t"/>
          <a:lstStyle/>
          <a:p>
            <a:pPr indent="0" marL="0">
              <a:buNone/>
            </a:pPr>
            <a:r>
              <a:rPr lang="en-US" sz="3200" b="1" dirty="0">
                <a:solidFill>
                  <a:srgbClr val="1F7A4D"/>
                </a:solidFill>
                <a:latin typeface="Cambria" pitchFamily="34" charset="0"/>
                <a:ea typeface="Cambria" pitchFamily="34" charset="-122"/>
                <a:cs typeface="Cambria" pitchFamily="34" charset="-120"/>
              </a:rPr>
              <a:t>Free</a:t>
            </a:r>
            <a:endParaRPr lang="en-US" sz="3200" dirty="0"/>
          </a:p>
        </p:txBody>
      </p:sp>
      <p:sp>
        <p:nvSpPr>
          <p:cNvPr id="10" name="Text 6"/>
          <p:cNvSpPr txBox="1"/>
          <p:nvPr/>
        </p:nvSpPr>
        <p:spPr>
          <a:xfrm>
            <a:off x="6126480" y="3977640"/>
            <a:ext cx="2560320" cy="320040"/>
          </a:xfrm>
          <a:prstGeom prst="rect">
            <a:avLst/>
          </a:prstGeom>
          <a:noFill/>
          <a:ln/>
        </p:spPr>
        <p:txBody>
          <a:bodyPr wrap="square" lIns="0" tIns="0" rIns="0" bIns="0" rtlCol="0" anchor="t"/>
          <a:lstStyle/>
          <a:p>
            <a:pPr indent="0" marL="0">
              <a:buNone/>
            </a:pPr>
            <a:r>
              <a:rPr lang="en-US" sz="1300" dirty="0">
                <a:solidFill>
                  <a:srgbClr val="4A5A52"/>
                </a:solidFill>
              </a:rPr>
              <a:t>Open Food Facts · OpenStreetMap</a:t>
            </a:r>
            <a:endParaRPr lang="en-US" sz="1300" dirty="0"/>
          </a:p>
        </p:txBody>
      </p:sp>
      <p:sp>
        <p:nvSpPr>
          <p:cNvPr id="11" name="Text 7"/>
          <p:cNvSpPr txBox="1"/>
          <p:nvPr/>
        </p:nvSpPr>
        <p:spPr>
          <a:xfrm>
            <a:off x="6126480" y="4343400"/>
            <a:ext cx="2560320" cy="274320"/>
          </a:xfrm>
          <a:prstGeom prst="rect">
            <a:avLst/>
          </a:prstGeom>
          <a:noFill/>
          <a:ln/>
        </p:spPr>
        <p:txBody>
          <a:bodyPr wrap="square" lIns="0" tIns="0" rIns="0" bIns="0" rtlCol="0" anchor="t"/>
          <a:lstStyle/>
          <a:p>
            <a:pPr indent="0" marL="0">
              <a:buNone/>
            </a:pPr>
            <a:r>
              <a:rPr lang="en-US" sz="1000" i="1" dirty="0">
                <a:solidFill>
                  <a:srgbClr val="6B7A72"/>
                </a:solidFill>
              </a:rPr>
              <a:t>USD, October 2026 prices. Estimates; check before launch.</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rgbClr val="14302A"/>
                </a:solidFill>
                <a:latin typeface="Cambria" pitchFamily="34" charset="0"/>
                <a:ea typeface="Cambria" pitchFamily="34" charset="-122"/>
                <a:cs typeface="Cambria" pitchFamily="34" charset="-120"/>
              </a:rPr>
              <a:t>What’s next</a:t>
            </a:r>
            <a:endParaRPr lang="en-US" sz="3000" dirty="0"/>
          </a:p>
        </p:txBody>
      </p:sp>
      <p:sp>
        <p:nvSpPr>
          <p:cNvPr id="4" name="next-1-circle"/>
          <p:cNvSpPr/>
          <p:nvPr/>
        </p:nvSpPr>
        <p:spPr>
          <a:xfrm>
            <a:off x="868680" y="1600200"/>
            <a:ext cx="1097280" cy="1097280"/>
          </a:xfrm>
          <a:prstGeom prst="ellipse">
            <a:avLst/>
          </a:prstGeom>
          <a:solidFill>
            <a:srgbClr val="1F7A4D"/>
          </a:solidFill>
          <a:ln w="12700">
            <a:solidFill>
              <a:srgbClr val="1F7A4D"/>
            </a:solidFill>
            <a:prstDash val="solid"/>
          </a:ln>
        </p:spPr>
      </p:sp>
      <p:pic>
        <p:nvPicPr>
          <p:cNvPr id="5" name="next-1-icon" descr="preencoded.png">    </p:cNvPr>
          <p:cNvPicPr>
            <a:picLocks noChangeAspect="1"/>
          </p:cNvPicPr>
          <p:nvPr/>
        </p:nvPicPr>
        <p:blipFill>
          <a:blip r:embed="rId1"/>
          <a:stretch>
            <a:fillRect/>
          </a:stretch>
        </p:blipFill>
        <p:spPr>
          <a:xfrm>
            <a:off x="1132027" y="1863547"/>
            <a:ext cx="570586" cy="570586"/>
          </a:xfrm>
          <a:prstGeom prst="rect">
            <a:avLst/>
          </a:prstGeom>
        </p:spPr>
      </p:pic>
      <p:sp>
        <p:nvSpPr>
          <p:cNvPr id="6" name="Text 2"/>
          <p:cNvSpPr txBox="1"/>
          <p:nvPr/>
        </p:nvSpPr>
        <p:spPr>
          <a:xfrm>
            <a:off x="457200" y="2880360"/>
            <a:ext cx="1920240" cy="640080"/>
          </a:xfrm>
          <a:prstGeom prst="rect">
            <a:avLst/>
          </a:prstGeom>
          <a:noFill/>
          <a:ln/>
        </p:spPr>
        <p:txBody>
          <a:bodyPr wrap="square" lIns="0" tIns="0" rIns="0" bIns="0" rtlCol="0" anchor="t"/>
          <a:lstStyle/>
          <a:p>
            <a:pPr algn="ctr" indent="0" marL="0">
              <a:buNone/>
            </a:pPr>
            <a:r>
              <a:rPr lang="en-US" sz="1700" b="1" dirty="0">
                <a:solidFill>
                  <a:srgbClr val="14302A"/>
                </a:solidFill>
              </a:rPr>
              <a:t>Real Regina labels</a:t>
            </a:r>
            <a:endParaRPr lang="en-US" sz="1700" dirty="0"/>
          </a:p>
        </p:txBody>
      </p:sp>
      <p:sp>
        <p:nvSpPr>
          <p:cNvPr id="7" name="next-2-circle"/>
          <p:cNvSpPr/>
          <p:nvPr/>
        </p:nvSpPr>
        <p:spPr>
          <a:xfrm>
            <a:off x="2971800" y="1600200"/>
            <a:ext cx="1097280" cy="1097280"/>
          </a:xfrm>
          <a:prstGeom prst="ellipse">
            <a:avLst/>
          </a:prstGeom>
          <a:solidFill>
            <a:srgbClr val="1F7A4D"/>
          </a:solidFill>
          <a:ln w="12700">
            <a:solidFill>
              <a:srgbClr val="1F7A4D"/>
            </a:solidFill>
            <a:prstDash val="solid"/>
          </a:ln>
        </p:spPr>
      </p:sp>
      <p:pic>
        <p:nvPicPr>
          <p:cNvPr id="8" name="next-2-icon" descr="preencoded.png">    </p:cNvPr>
          <p:cNvPicPr>
            <a:picLocks noChangeAspect="1"/>
          </p:cNvPicPr>
          <p:nvPr/>
        </p:nvPicPr>
        <p:blipFill>
          <a:blip r:embed="rId2"/>
          <a:stretch>
            <a:fillRect/>
          </a:stretch>
        </p:blipFill>
        <p:spPr>
          <a:xfrm>
            <a:off x="3235147" y="1863547"/>
            <a:ext cx="570586" cy="570586"/>
          </a:xfrm>
          <a:prstGeom prst="rect">
            <a:avLst/>
          </a:prstGeom>
        </p:spPr>
      </p:pic>
      <p:sp>
        <p:nvSpPr>
          <p:cNvPr id="9" name="Text 4"/>
          <p:cNvSpPr txBox="1"/>
          <p:nvPr/>
        </p:nvSpPr>
        <p:spPr>
          <a:xfrm>
            <a:off x="2560320" y="2880360"/>
            <a:ext cx="1920240" cy="640080"/>
          </a:xfrm>
          <a:prstGeom prst="rect">
            <a:avLst/>
          </a:prstGeom>
          <a:noFill/>
          <a:ln/>
        </p:spPr>
        <p:txBody>
          <a:bodyPr wrap="square" lIns="0" tIns="0" rIns="0" bIns="0" rtlCol="0" anchor="t"/>
          <a:lstStyle/>
          <a:p>
            <a:pPr algn="ctr" indent="0" marL="0">
              <a:buNone/>
            </a:pPr>
            <a:r>
              <a:rPr lang="en-US" sz="1700" b="1" dirty="0">
                <a:solidFill>
                  <a:srgbClr val="14302A"/>
                </a:solidFill>
              </a:rPr>
              <a:t>Verified certifications</a:t>
            </a:r>
            <a:endParaRPr lang="en-US" sz="1700" dirty="0"/>
          </a:p>
        </p:txBody>
      </p:sp>
      <p:sp>
        <p:nvSpPr>
          <p:cNvPr id="10" name="next-3-circle"/>
          <p:cNvSpPr/>
          <p:nvPr/>
        </p:nvSpPr>
        <p:spPr>
          <a:xfrm>
            <a:off x="5074920" y="1600200"/>
            <a:ext cx="1097280" cy="1097280"/>
          </a:xfrm>
          <a:prstGeom prst="ellipse">
            <a:avLst/>
          </a:prstGeom>
          <a:solidFill>
            <a:srgbClr val="1F7A4D"/>
          </a:solidFill>
          <a:ln w="12700">
            <a:solidFill>
              <a:srgbClr val="1F7A4D"/>
            </a:solidFill>
            <a:prstDash val="solid"/>
          </a:ln>
        </p:spPr>
      </p:sp>
      <p:pic>
        <p:nvPicPr>
          <p:cNvPr id="11" name="next-3-icon" descr="preencoded.png">    </p:cNvPr>
          <p:cNvPicPr>
            <a:picLocks noChangeAspect="1"/>
          </p:cNvPicPr>
          <p:nvPr/>
        </p:nvPicPr>
        <p:blipFill>
          <a:blip r:embed="rId3"/>
          <a:stretch>
            <a:fillRect/>
          </a:stretch>
        </p:blipFill>
        <p:spPr>
          <a:xfrm>
            <a:off x="5338267" y="1863547"/>
            <a:ext cx="570586" cy="570586"/>
          </a:xfrm>
          <a:prstGeom prst="rect">
            <a:avLst/>
          </a:prstGeom>
        </p:spPr>
      </p:pic>
      <p:sp>
        <p:nvSpPr>
          <p:cNvPr id="12" name="Text 6"/>
          <p:cNvSpPr txBox="1"/>
          <p:nvPr/>
        </p:nvSpPr>
        <p:spPr>
          <a:xfrm>
            <a:off x="4663440" y="2880360"/>
            <a:ext cx="1920240" cy="640080"/>
          </a:xfrm>
          <a:prstGeom prst="rect">
            <a:avLst/>
          </a:prstGeom>
          <a:noFill/>
          <a:ln/>
        </p:spPr>
        <p:txBody>
          <a:bodyPr wrap="square" lIns="0" tIns="0" rIns="0" bIns="0" rtlCol="0" anchor="t"/>
          <a:lstStyle/>
          <a:p>
            <a:pPr algn="ctr" indent="0" marL="0">
              <a:buNone/>
            </a:pPr>
            <a:r>
              <a:rPr lang="en-US" sz="1700" b="1" dirty="0">
                <a:solidFill>
                  <a:srgbClr val="14302A"/>
                </a:solidFill>
              </a:rPr>
              <a:t>Flyer prices</a:t>
            </a:r>
            <a:endParaRPr lang="en-US" sz="1700" dirty="0"/>
          </a:p>
        </p:txBody>
      </p:sp>
      <p:sp>
        <p:nvSpPr>
          <p:cNvPr id="13" name="next-4-circle"/>
          <p:cNvSpPr/>
          <p:nvPr/>
        </p:nvSpPr>
        <p:spPr>
          <a:xfrm>
            <a:off x="7178040" y="1600200"/>
            <a:ext cx="1097280" cy="1097280"/>
          </a:xfrm>
          <a:prstGeom prst="ellipse">
            <a:avLst/>
          </a:prstGeom>
          <a:solidFill>
            <a:srgbClr val="1F7A4D"/>
          </a:solidFill>
          <a:ln w="12700">
            <a:solidFill>
              <a:srgbClr val="1F7A4D"/>
            </a:solidFill>
            <a:prstDash val="solid"/>
          </a:ln>
        </p:spPr>
      </p:sp>
      <p:pic>
        <p:nvPicPr>
          <p:cNvPr id="14" name="next-4-icon" descr="preencoded.png">    </p:cNvPr>
          <p:cNvPicPr>
            <a:picLocks noChangeAspect="1"/>
          </p:cNvPicPr>
          <p:nvPr/>
        </p:nvPicPr>
        <p:blipFill>
          <a:blip r:embed="rId4"/>
          <a:stretch>
            <a:fillRect/>
          </a:stretch>
        </p:blipFill>
        <p:spPr>
          <a:xfrm>
            <a:off x="7441387" y="1863547"/>
            <a:ext cx="570586" cy="570586"/>
          </a:xfrm>
          <a:prstGeom prst="rect">
            <a:avLst/>
          </a:prstGeom>
        </p:spPr>
      </p:pic>
      <p:sp>
        <p:nvSpPr>
          <p:cNvPr id="15" name="Text 8"/>
          <p:cNvSpPr txBox="1"/>
          <p:nvPr/>
        </p:nvSpPr>
        <p:spPr>
          <a:xfrm>
            <a:off x="6766560" y="2880360"/>
            <a:ext cx="1920240" cy="640080"/>
          </a:xfrm>
          <a:prstGeom prst="rect">
            <a:avLst/>
          </a:prstGeom>
          <a:noFill/>
          <a:ln/>
        </p:spPr>
        <p:txBody>
          <a:bodyPr wrap="square" lIns="0" tIns="0" rIns="0" bIns="0" rtlCol="0" anchor="t"/>
          <a:lstStyle/>
          <a:p>
            <a:pPr algn="ctr" indent="0" marL="0">
              <a:buNone/>
            </a:pPr>
            <a:r>
              <a:rPr lang="en-US" sz="1700" b="1" dirty="0">
                <a:solidFill>
                  <a:srgbClr val="14302A"/>
                </a:solidFill>
              </a:rPr>
              <a:t>More languages</a:t>
            </a:r>
            <a:endParaRPr lang="en-US" sz="17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234440"/>
            <a:ext cx="8046720" cy="1005840"/>
          </a:xfrm>
          <a:prstGeom prst="rect">
            <a:avLst/>
          </a:prstGeom>
          <a:noFill/>
          <a:ln/>
        </p:spPr>
        <p:txBody>
          <a:bodyPr wrap="square" lIns="0" tIns="0" rIns="0" bIns="0" rtlCol="0" anchor="t"/>
          <a:lstStyle/>
          <a:p>
            <a:pPr indent="0" marL="0">
              <a:buNone/>
            </a:pPr>
            <a:r>
              <a:rPr lang="en-US" sz="6000" b="1" dirty="0">
                <a:solidFill>
                  <a:srgbClr val="F6F7F2"/>
                </a:solidFill>
                <a:latin typeface="Cambria" pitchFamily="34" charset="0"/>
                <a:ea typeface="Cambria" pitchFamily="34" charset="-122"/>
                <a:cs typeface="Cambria" pitchFamily="34" charset="-120"/>
              </a:rPr>
              <a:t>Thank you</a:t>
            </a:r>
            <a:endParaRPr lang="en-US" sz="6000" dirty="0"/>
          </a:p>
        </p:txBody>
      </p:sp>
      <p:sp>
        <p:nvSpPr>
          <p:cNvPr id="3" name="Text 1"/>
          <p:cNvSpPr txBox="1"/>
          <p:nvPr/>
        </p:nvSpPr>
        <p:spPr>
          <a:xfrm>
            <a:off x="548640" y="2286000"/>
            <a:ext cx="8046720" cy="548640"/>
          </a:xfrm>
          <a:prstGeom prst="rect">
            <a:avLst/>
          </a:prstGeom>
          <a:noFill/>
          <a:ln/>
        </p:spPr>
        <p:txBody>
          <a:bodyPr wrap="square" lIns="0" tIns="0" rIns="0" bIns="0" rtlCol="0" anchor="t"/>
          <a:lstStyle/>
          <a:p>
            <a:pPr indent="0" marL="0">
              <a:buNone/>
            </a:pPr>
            <a:r>
              <a:rPr lang="en-US" sz="2600" dirty="0">
                <a:solidFill>
                  <a:srgbClr val="C9DDD2"/>
                </a:solidFill>
              </a:rPr>
              <a:t>Questions?</a:t>
            </a:r>
            <a:endParaRPr lang="en-US" sz="2600" dirty="0"/>
          </a:p>
        </p:txBody>
      </p:sp>
      <p:pic>
        <p:nvPicPr>
          <p:cNvPr id="4" name="github-icon" descr="GitHub">    </p:cNvPr>
          <p:cNvPicPr>
            <a:picLocks noChangeAspect="1"/>
          </p:cNvPicPr>
          <p:nvPr/>
        </p:nvPicPr>
        <p:blipFill>
          <a:blip r:embed="rId1"/>
          <a:stretch>
            <a:fillRect/>
          </a:stretch>
        </p:blipFill>
        <p:spPr>
          <a:xfrm>
            <a:off x="548640" y="3429000"/>
            <a:ext cx="411480" cy="411480"/>
          </a:xfrm>
          <a:prstGeom prst="rect">
            <a:avLst/>
          </a:prstGeom>
        </p:spPr>
      </p:pic>
      <p:sp>
        <p:nvSpPr>
          <p:cNvPr id="5" name="Text 2"/>
          <p:cNvSpPr txBox="1"/>
          <p:nvPr/>
        </p:nvSpPr>
        <p:spPr>
          <a:xfrm>
            <a:off x="1097280" y="3429000"/>
            <a:ext cx="5486400" cy="411480"/>
          </a:xfrm>
          <a:prstGeom prst="rect">
            <a:avLst/>
          </a:prstGeom>
          <a:noFill/>
          <a:ln/>
        </p:spPr>
        <p:txBody>
          <a:bodyPr wrap="square" lIns="0" tIns="0" rIns="0" bIns="0" rtlCol="0" anchor="ctr"/>
          <a:lstStyle/>
          <a:p>
            <a:pPr indent="0" marL="0">
              <a:buNone/>
            </a:pPr>
            <a:r>
              <a:rPr lang="en-US" sz="1800" u="sng" dirty="0">
                <a:solidFill>
                  <a:srgbClr val="8FD4AE"/>
                </a:solidFill>
                <a:hlinkClick r:id="rId2" invalidUrl="" action="" tgtFrame="" tooltip="" history="1" highlightClick="0" endSnd="0">
                  <a:extLst>
                    <a:ext uri="{A12FA001-AC4F-418D-AE19-62706E023703}">
                      <ahyp:hlinkClr xmlns:ahyp="http://schemas.microsoft.com/office/drawing/2018/hyperlinkcolor" val="tx"/>
                    </a:ext>
                  </a:extLst>
                </a:hlinkClick>
              </a:rPr>
              <a:t>github.com/Nachiket-96/truthshift</a:t>
            </a:r>
            <a:endParaRPr lang="en-US" sz="1800" dirty="0"/>
          </a:p>
        </p:txBody>
      </p:sp>
    </p:spTree>
  </p:cSld>
  <p:clrMapOvr>
    <a:masterClrMapping/>
  </p:clrMapOvr>
</p:sld>
</file>

<file path=ppt/theme/theme1.xml><?xml version="1.0" encoding="utf-8"?>
<a:theme xmlns:a="http://schemas.openxmlformats.org/drawingml/2006/main" name="TruthShift">
  <a:themeElements>
    <a:clrScheme name="TruthShift">
      <a:dk1>
        <a:srgbClr val="14302A"/>
      </a:dk1>
      <a:lt1>
        <a:srgbClr val="FFFFFF"/>
      </a:lt1>
      <a:dk2>
        <a:srgbClr val="4A5A52"/>
      </a:dk2>
      <a:lt2>
        <a:srgbClr val="E7EFE9"/>
      </a:lt2>
      <a:accent1>
        <a:srgbClr val="1F7A4D"/>
      </a:accent1>
      <a:accent2>
        <a:srgbClr val="D9822B"/>
      </a:accent2>
      <a:accent3>
        <a:srgbClr val="8FD4AE"/>
      </a:accent3>
      <a:accent4>
        <a:srgbClr val="C9DDD2"/>
      </a:accent4>
      <a:accent5>
        <a:srgbClr val="1D4038"/>
      </a:accent5>
      <a:accent6>
        <a:srgbClr val="F6F7F2"/>
      </a:accent6>
      <a:hlink>
        <a:srgbClr val="1F7A4D"/>
      </a:hlink>
      <a:folHlink>
        <a:srgbClr val="4A5A52"/>
      </a:folHlink>
    </a:clrScheme>
    <a:fontScheme name="TruthShif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TruthShift</dc:title>
  <dc:subject>PptxGenJS Presentation</dc:subject>
  <dc:creator>[Team name]</dc:creator>
  <cp:lastModifiedBy>[Team name]</cp:lastModifiedBy>
  <cp:revision>1</cp:revision>
  <dcterms:created xsi:type="dcterms:W3CDTF">2026-10-15T19:07:38Z</dcterms:created>
  <dcterms:modified xsi:type="dcterms:W3CDTF">2026-10-15T19:07:38Z</dcterms:modified>
</cp:coreProperties>
</file>